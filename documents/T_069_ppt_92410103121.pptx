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4"/>
  </p:notesMasterIdLst>
  <p:sldIdLst>
    <p:sldId id="256" r:id="rId2"/>
    <p:sldId id="257" r:id="rId3"/>
    <p:sldId id="258" r:id="rId4"/>
    <p:sldId id="279" r:id="rId5"/>
    <p:sldId id="294" r:id="rId6"/>
    <p:sldId id="295" r:id="rId7"/>
    <p:sldId id="278" r:id="rId8"/>
    <p:sldId id="274" r:id="rId9"/>
    <p:sldId id="289" r:id="rId10"/>
    <p:sldId id="277" r:id="rId11"/>
    <p:sldId id="273" r:id="rId12"/>
    <p:sldId id="276" r:id="rId13"/>
    <p:sldId id="290" r:id="rId14"/>
    <p:sldId id="293" r:id="rId15"/>
    <p:sldId id="287" r:id="rId16"/>
    <p:sldId id="280" r:id="rId17"/>
    <p:sldId id="275" r:id="rId18"/>
    <p:sldId id="281" r:id="rId19"/>
    <p:sldId id="282" r:id="rId20"/>
    <p:sldId id="286" r:id="rId21"/>
    <p:sldId id="285" r:id="rId22"/>
    <p:sldId id="284" r:id="rId23"/>
    <p:sldId id="283" r:id="rId24"/>
    <p:sldId id="288" r:id="rId25"/>
    <p:sldId id="292" r:id="rId26"/>
    <p:sldId id="297" r:id="rId27"/>
    <p:sldId id="307" r:id="rId28"/>
    <p:sldId id="309" r:id="rId29"/>
    <p:sldId id="301" r:id="rId30"/>
    <p:sldId id="304" r:id="rId31"/>
    <p:sldId id="305" r:id="rId32"/>
    <p:sldId id="298" r:id="rId33"/>
    <p:sldId id="302" r:id="rId34"/>
    <p:sldId id="303" r:id="rId35"/>
    <p:sldId id="300" r:id="rId36"/>
    <p:sldId id="299" r:id="rId37"/>
    <p:sldId id="306" r:id="rId38"/>
    <p:sldId id="308" r:id="rId39"/>
    <p:sldId id="261" r:id="rId40"/>
    <p:sldId id="291" r:id="rId41"/>
    <p:sldId id="262" r:id="rId42"/>
    <p:sldId id="260" r:id="rId43"/>
  </p:sldIdLst>
  <p:sldSz cx="12192000" cy="6858000"/>
  <p:notesSz cx="6858000" cy="9144000"/>
  <p:embeddedFontLst>
    <p:embeddedFont>
      <p:font typeface="Proxima Nova" panose="020B0604020202020204" charset="0"/>
      <p:regular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85" userDrawn="1">
          <p15:clr>
            <a:srgbClr val="A4A3A4"/>
          </p15:clr>
        </p15:guide>
        <p15:guide id="2" pos="38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AABF"/>
    <a:srgbClr val="76CC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44" autoAdjust="0"/>
    <p:restoredTop sz="94660"/>
  </p:normalViewPr>
  <p:slideViewPr>
    <p:cSldViewPr snapToGrid="0" showGuides="1">
      <p:cViewPr varScale="1">
        <p:scale>
          <a:sx n="78" d="100"/>
          <a:sy n="78" d="100"/>
        </p:scale>
        <p:origin x="826" y="62"/>
      </p:cViewPr>
      <p:guideLst>
        <p:guide orient="horz" pos="2185"/>
        <p:guide pos="384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FBAFFCA-D100-AB73-2386-831FDBFA7B2C}"/>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FFE39651-239D-E218-C7C2-E7D13EF626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258E9C24-BB1D-8D95-8779-9D3AFF585E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210436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6E5183D-9B28-7D1B-1D38-7A4D365F2456}"/>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A14407E0-30ED-ED11-3B37-ED71525234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3B0C3D41-9CB8-F1CD-9D64-F17C51F3D7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580891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FEF929F-4BB4-8D87-13AE-D9F46B3DC49F}"/>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85C24FCA-6A97-973F-282B-2CC5F241F6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96C1E926-4953-071D-3A5A-EAA80D57BA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184353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56E4A47-41CD-8403-AB36-B5B803C18D86}"/>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DAF3A9C0-9805-436C-A1BE-08CFACD792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CBBCCBF3-2AF9-1E16-F93B-7FC96CAE81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1141952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0806DD3-64E3-0A8E-B48A-4DC3C97EBFBA}"/>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772AA85D-2823-3DE2-DE0A-B4279ED780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BAA77C72-7341-6105-D955-1F9018D6B8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3828886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64E1843-D184-3F12-6F1B-8BE65B6D66B2}"/>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655BBAB1-780C-A9B7-167F-BDECE2785E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F92AA537-9600-7205-9E19-B2341560AF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809870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3653D75-042B-07FA-60B7-DD9D97815D6C}"/>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4BB784FA-B4A8-C09F-EA6D-0F8F409271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32365B1A-B78C-FC7E-853E-E8AA659995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917268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E394743-7040-696F-1467-E2ED6820FD31}"/>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4A5EB595-C4A2-A41A-CD5E-145DE1C552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EA512BED-6974-BE6B-94B2-EA82E56071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186122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8F0C16D-0169-9BB1-0103-1865E43FBF2C}"/>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E31756F2-3B70-DE91-54E4-2D390C42A5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D6D56AF8-EC27-6CB0-B6CB-DA5464BB0A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6909754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8A46087-84AE-8C48-EF6C-F962E41DBB8C}"/>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8579AD0F-F5A6-A643-180C-61D8508DA9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18FE88A2-E8E1-0221-4789-2703F82C35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4809336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9271363-B601-D355-6C0C-E5804EA22F04}"/>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F59A73C9-046B-D402-B0C2-4003670B9C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595F24D1-3BD0-F479-D488-5D254F551D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9272705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87798F8-D1B3-B253-B828-42DEC90CA83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03566DDA-E2FD-04B3-5A3D-FC4C4EB21E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EE86F9C3-C991-2F6B-4DAC-52ABB7E702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8675739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5B8407C-36BC-2D4B-4757-353BCAA2A6D0}"/>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D6C69F60-0E58-B8A4-7FA8-DDF594C6CA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2D4B5DE3-181B-CEDF-3871-6239F40646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6066682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D0B31EF-A121-D923-F934-91127AE77134}"/>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C400B22F-206D-06EC-5E6A-BA89B0E12C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68100D19-1DC5-CD7C-F754-09F0B86CC9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7568330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8D212E0-2291-84EB-8F4D-8B7F3BC3F801}"/>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FB1C26A0-10A0-CB43-F324-9E84FC08C5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2D050732-8958-3D03-A695-3EBBEEBBE1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9905326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75183EE-1B2D-755D-AA29-6F4D4B5CF864}"/>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1DF8AD67-0865-8E0E-37B4-AC3D5CB39A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97A3CAC4-C56C-DAD5-9915-17DCEC2F1A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9093495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76D341B-D83B-F605-F12B-C70B75C0E7EB}"/>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804A7888-5239-6E03-99A2-C1029B85EC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3DE5D8C6-247E-1128-7E0B-AD45EC4429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1531843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7CF7EB8-0249-CEB1-7717-70B660D3BCAC}"/>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549830BC-D2BA-D776-70B7-F07E09DEFF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A97E11E5-6472-C674-A8D0-1AF4A4A036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5678573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08708BF-F54B-E351-D895-445B497B65B5}"/>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0D9C4FB5-13AA-0B60-83DA-56D2D1D691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D7A31DE2-F93C-DA9A-E567-8AD11FF080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9641987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28E6A95-4F86-9D15-04D0-EE9DD52D5ED8}"/>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9B14679B-1751-5A39-3D66-53F950D16D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84EC1838-E560-F76A-AC9D-6E2229FC7D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7712017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616B295-01BE-6163-172A-E1F7D49C1191}"/>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12F0271B-88C6-8320-FB40-10B8525CED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9B7ED231-C24E-C297-6CCF-D37931D460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3558119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A456407-52E0-F6DD-9CE0-BA39B00FC4DA}"/>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428770CB-F342-9797-7181-907FDE277F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17CBBE61-69EE-B31E-9A14-D77667BD05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4264024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7EF435A-C290-7127-A9FB-6DFB46A4ED8A}"/>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CEE76650-8038-9C1C-89AE-D6FC200B91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34D2768E-5B9E-C9B2-A29F-21C2890EFA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1538728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B48BDDE-8DEA-634D-5E87-F682B11BB69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661F3FFA-8A56-3835-A593-BB152C60FD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B5C373AD-E15F-5AF3-8C2D-E09CD3ECFE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2872246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D7DF2BE-EE36-A5FC-7520-25ED67A773FB}"/>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2FE4F771-DB15-A95D-9B91-328E564D39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B0B6EB09-88A1-B85F-6914-9791159549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3722128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152A275-EDFB-43B2-8A76-DD2CABDCE232}"/>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08FB2140-3FD0-0212-92E2-7289C7FD6F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BA083C12-79C6-7603-48DA-677097D35F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2784456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1661911-B9E7-4DAB-2F5A-B4A1A0C74323}"/>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F1B93CFD-D3FB-B9BF-5CFE-849FF082C4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F212FAD4-13E3-9026-E576-30BE11D15D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9506300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5C02B09-988E-A5A1-F45D-5ADA13CDDC6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E5D87BE9-A68D-5489-8648-60992EAB68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D5F086DD-9403-E110-1D8A-B61621E0C0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6218979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B68BDE9-DBBC-DF52-7D46-07F308C96588}"/>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60678DFD-E2E1-1B52-579F-1BE6BD4F90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459F773E-5694-A0F5-8D6D-F0D909B728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7225119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106A839-85D6-E015-032C-7A2B79605B7A}"/>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B27B2294-3DD0-15A6-4373-CDEE55A6C7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A8678320-461F-04C3-D4E7-E46EBC13A6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7363393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D6F0BE4-25F6-1DB4-F057-D0A88D9BCF2C}"/>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50C80886-648D-2CEA-769C-A3C25E6E5B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A31E06FA-AB59-F68F-2F87-A95EF2868E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2256717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549A577-42FD-CD89-557B-C1807EE5200A}"/>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13877E48-3FDF-7640-92A9-932C56F859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9F457504-1F44-08D6-B263-918BDF8C0F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0230049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2E089A2-1CB1-B271-AC68-8E941DD62E8D}"/>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C0DD6DA0-78B3-E873-E97E-83DE4CA1F2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E848AAEA-30A3-1BDF-430F-23CA202A94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6360025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3ADDC87-1932-CEDA-E1D6-3935E2E4DE43}"/>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40C195C1-8E6C-1199-977E-34A84B4DAF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4F859872-F305-07C4-3DED-A2300B5A34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8991380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0CC871C-EDF4-C1D1-2A3A-005696E682A0}"/>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28A987A4-D162-E3E7-5913-57736BD9CF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C3045A52-D019-95BC-0476-CCCC27F52E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5633372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9D6D7C2-8F4F-9127-9292-B9F903FAAA65}"/>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78EA0730-734C-60D5-B0B8-09DFE41DD1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647888EE-7673-B58E-3974-322990EDD2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8179268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5"/>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64" name="Google Shape;64;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slide" Target="slide39.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slide" Target="slide40.xml"/><Relationship Id="rId4" Type="http://schemas.openxmlformats.org/officeDocument/2006/relationships/slide" Target="slide39.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hyperlink" Target="https://ijetms.in/Vol-7-issue-5/Vol-7-Issue-5-32.html" TargetMode="External"/><Relationship Id="rId3" Type="http://schemas.openxmlformats.org/officeDocument/2006/relationships/image" Target="../media/image2.jpeg"/><Relationship Id="rId7" Type="http://schemas.openxmlformats.org/officeDocument/2006/relationships/hyperlink" Target="https://arxiv.org/abs/1909.07444" TargetMode="External"/><Relationship Id="rId12" Type="http://schemas.openxmlformats.org/officeDocument/2006/relationships/hyperlink" Target="https://www.sciencedirect.com/science/article/pii/S0360131509002688"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hyperlink" Target="https://www.mecs-press.org/ijisa/ijisa-v11-n12/v11n12-4.html" TargetMode="External"/><Relationship Id="rId11" Type="http://schemas.openxmlformats.org/officeDocument/2006/relationships/hyperlink" Target="https://archive.ics.uci.edu/ml/datasets/student+performance" TargetMode="External"/><Relationship Id="rId5" Type="http://schemas.openxmlformats.org/officeDocument/2006/relationships/hyperlink" Target="https://www.francis-press.com/index.php/papers/16850" TargetMode="External"/><Relationship Id="rId10" Type="http://schemas.openxmlformats.org/officeDocument/2006/relationships/slide" Target="slide9.xml"/><Relationship Id="rId4" Type="http://schemas.openxmlformats.org/officeDocument/2006/relationships/slide" Target="slide8.xml"/><Relationship Id="rId9" Type="http://schemas.openxmlformats.org/officeDocument/2006/relationships/hyperlink" Target="https://www.atlantis-press.com/proceedings/iciaai-23/125994553"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hyperlink" Target="https://www.researchgate.net/publication/307987164"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hyperlink" Target="https://doi.org/10.1016/j.aci.2018.05.001" TargetMode="External"/><Relationship Id="rId5" Type="http://schemas.openxmlformats.org/officeDocument/2006/relationships/hyperlink" Target="https://ieeexplore.ieee.org/document/5942358" TargetMode="External"/><Relationship Id="rId4" Type="http://schemas.openxmlformats.org/officeDocument/2006/relationships/slide" Target="slide9.xml"/></Relationships>
</file>

<file path=ppt/slides/_rels/slide4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8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87"/>
        <p:cNvGrpSpPr/>
        <p:nvPr/>
      </p:nvGrpSpPr>
      <p:grpSpPr>
        <a:xfrm>
          <a:off x="0" y="0"/>
          <a:ext cx="0" cy="0"/>
          <a:chOff x="0" y="0"/>
          <a:chExt cx="0" cy="0"/>
        </a:xfrm>
      </p:grpSpPr>
      <p:sp>
        <p:nvSpPr>
          <p:cNvPr id="88" name="Google Shape;88;p2"/>
          <p:cNvSpPr txBox="1"/>
          <p:nvPr/>
        </p:nvSpPr>
        <p:spPr>
          <a:xfrm>
            <a:off x="3102949" y="3526681"/>
            <a:ext cx="6678000" cy="1015632"/>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US" sz="1800" b="0" i="0" u="none" strike="noStrike" cap="none" dirty="0">
                <a:solidFill>
                  <a:schemeClr val="dk1"/>
                </a:solidFill>
                <a:latin typeface="+mj-lt"/>
                <a:ea typeface="Proxima Nova" panose="02000506030000020004"/>
                <a:cs typeface="Proxima Nova" panose="02000506030000020004"/>
                <a:sym typeface="Proxima Nova" panose="02000506030000020004"/>
              </a:rPr>
              <a:t>Team Member 1: </a:t>
            </a:r>
            <a:r>
              <a:rPr lang="en-US" sz="1800" b="0" i="0" u="none" strike="noStrike" cap="none" dirty="0">
                <a:solidFill>
                  <a:schemeClr val="tx1"/>
                </a:solidFill>
                <a:latin typeface="+mj-lt"/>
                <a:ea typeface="Proxima Nova" panose="02000506030000020004"/>
                <a:cs typeface="Proxima Nova" panose="02000506030000020004"/>
                <a:sym typeface="Proxima Nova" panose="02000506030000020004"/>
              </a:rPr>
              <a:t>Harsh Vadgama (92410103123) (EC3)</a:t>
            </a:r>
            <a:endParaRPr dirty="0">
              <a:solidFill>
                <a:schemeClr val="tx1"/>
              </a:solidFill>
              <a:latin typeface="+mj-lt"/>
            </a:endParaRPr>
          </a:p>
          <a:p>
            <a:pPr marL="0" marR="0" lvl="0" indent="0" algn="l" rtl="0">
              <a:spcBef>
                <a:spcPts val="0"/>
              </a:spcBef>
              <a:spcAft>
                <a:spcPts val="0"/>
              </a:spcAft>
              <a:buNone/>
            </a:pPr>
            <a:r>
              <a:rPr lang="en-US" sz="1800" b="0" i="0" u="none" strike="noStrike" cap="none" dirty="0">
                <a:solidFill>
                  <a:schemeClr val="dk1"/>
                </a:solidFill>
                <a:latin typeface="+mj-lt"/>
                <a:ea typeface="Proxima Nova" panose="02000506030000020004"/>
                <a:cs typeface="Proxima Nova" panose="02000506030000020004"/>
                <a:sym typeface="Proxima Nova" panose="02000506030000020004"/>
              </a:rPr>
              <a:t>Team Member 2: </a:t>
            </a:r>
            <a:r>
              <a:rPr lang="en-US" sz="1800" dirty="0">
                <a:solidFill>
                  <a:schemeClr val="tx1"/>
                </a:solidFill>
                <a:latin typeface="+mj-lt"/>
                <a:ea typeface="Proxima Nova" panose="02000506030000020004"/>
                <a:cs typeface="Proxima Nova" panose="02000506030000020004"/>
                <a:sym typeface="Proxima Nova" panose="02000506030000020004"/>
              </a:rPr>
              <a:t>Mayank Shukla (92410103121) (EC3)</a:t>
            </a:r>
            <a:endParaRPr dirty="0">
              <a:solidFill>
                <a:schemeClr val="tx1"/>
              </a:solidFill>
              <a:latin typeface="+mj-lt"/>
            </a:endParaRPr>
          </a:p>
          <a:p>
            <a:pPr marL="0" marR="0" lvl="0" indent="0" algn="l" rtl="0">
              <a:spcBef>
                <a:spcPts val="0"/>
              </a:spcBef>
              <a:spcAft>
                <a:spcPts val="0"/>
              </a:spcAft>
              <a:buNone/>
            </a:pPr>
            <a:endParaRPr sz="1800" b="0" i="0" u="none" strike="noStrike" cap="none" dirty="0">
              <a:solidFill>
                <a:schemeClr val="dk1"/>
              </a:solidFill>
              <a:latin typeface="+mj-lt"/>
              <a:ea typeface="Proxima Nova" panose="02000506030000020004"/>
              <a:cs typeface="Proxima Nova" panose="02000506030000020004"/>
              <a:sym typeface="Proxima Nova" panose="02000506030000020004"/>
            </a:endParaRPr>
          </a:p>
        </p:txBody>
      </p:sp>
      <p:sp>
        <p:nvSpPr>
          <p:cNvPr id="89" name="Google Shape;89;p2"/>
          <p:cNvSpPr txBox="1"/>
          <p:nvPr/>
        </p:nvSpPr>
        <p:spPr>
          <a:xfrm>
            <a:off x="2844024" y="2745350"/>
            <a:ext cx="7195800" cy="782265"/>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800"/>
              <a:buFont typeface="Proxima Nova" panose="02000506030000020004"/>
              <a:buNone/>
            </a:pPr>
            <a:r>
              <a:rPr lang="en-US" sz="2800" b="0" i="0" u="none" strike="noStrike" cap="none" dirty="0">
                <a:solidFill>
                  <a:srgbClr val="1AAABF"/>
                </a:solidFill>
                <a:latin typeface="+mj-lt"/>
                <a:ea typeface="Proxima Nova" panose="02000506030000020004"/>
                <a:cs typeface="Proxima Nova" panose="02000506030000020004"/>
                <a:sym typeface="Proxima Nova" panose="02000506030000020004"/>
              </a:rPr>
              <a:t>Student</a:t>
            </a:r>
            <a:r>
              <a:rPr lang="en-US" sz="2800" b="0" i="0" u="none" strike="noStrike" cap="none" dirty="0">
                <a:solidFill>
                  <a:schemeClr val="accent1"/>
                </a:solidFill>
                <a:latin typeface="+mj-lt"/>
                <a:ea typeface="Proxima Nova" panose="02000506030000020004"/>
                <a:cs typeface="Proxima Nova" panose="02000506030000020004"/>
                <a:sym typeface="Proxima Nova" panose="02000506030000020004"/>
              </a:rPr>
              <a:t> </a:t>
            </a:r>
            <a:r>
              <a:rPr lang="en-US" sz="2800" b="0" i="0" u="none" strike="noStrike" cap="none" dirty="0">
                <a:solidFill>
                  <a:srgbClr val="1AAABF"/>
                </a:solidFill>
                <a:latin typeface="+mj-lt"/>
                <a:ea typeface="Proxima Nova" panose="02000506030000020004"/>
                <a:cs typeface="Proxima Nova" panose="02000506030000020004"/>
                <a:sym typeface="Proxima Nova" panose="02000506030000020004"/>
              </a:rPr>
              <a:t>Performance Prediction</a:t>
            </a:r>
            <a:r>
              <a:rPr lang="en-US" sz="2800" dirty="0">
                <a:solidFill>
                  <a:srgbClr val="1AAABF"/>
                </a:solidFill>
                <a:latin typeface="+mj-lt"/>
                <a:ea typeface="Proxima Nova" panose="02000506030000020004"/>
                <a:cs typeface="Proxima Nova" panose="02000506030000020004"/>
                <a:sym typeface="Proxima Nova" panose="02000506030000020004"/>
              </a:rPr>
              <a:t> </a:t>
            </a:r>
            <a:r>
              <a:rPr lang="en-US" sz="2800" b="0" i="0" u="none" strike="noStrike" cap="none" dirty="0">
                <a:solidFill>
                  <a:srgbClr val="1AAABF"/>
                </a:solidFill>
                <a:latin typeface="+mj-lt"/>
                <a:ea typeface="Proxima Nova" panose="02000506030000020004"/>
                <a:cs typeface="Proxima Nova" panose="02000506030000020004"/>
                <a:sym typeface="Proxima Nova" panose="02000506030000020004"/>
              </a:rPr>
              <a:t>Using </a:t>
            </a:r>
            <a:r>
              <a:rPr lang="en-US" sz="2800" b="0" i="0" u="none" strike="noStrike" cap="none" dirty="0" err="1">
                <a:solidFill>
                  <a:srgbClr val="1AAABF"/>
                </a:solidFill>
                <a:latin typeface="+mj-lt"/>
                <a:ea typeface="Proxima Nova" panose="02000506030000020004"/>
                <a:cs typeface="Proxima Nova" panose="02000506030000020004"/>
                <a:sym typeface="Proxima Nova" panose="02000506030000020004"/>
              </a:rPr>
              <a:t>Ml</a:t>
            </a:r>
            <a:endParaRPr lang="en-US" dirty="0">
              <a:solidFill>
                <a:srgbClr val="1AAABF"/>
              </a:solidFill>
              <a:latin typeface="+mj-lt"/>
              <a:ea typeface="Proxima Nova" panose="02000506030000020004"/>
            </a:endParaRPr>
          </a:p>
          <a:p>
            <a:pPr marL="12700" marR="0" lvl="0" indent="0" algn="ctr" rtl="0">
              <a:lnSpc>
                <a:spcPct val="100000"/>
              </a:lnSpc>
              <a:spcBef>
                <a:spcPts val="0"/>
              </a:spcBef>
              <a:spcAft>
                <a:spcPts val="0"/>
              </a:spcAft>
              <a:buClr>
                <a:srgbClr val="04A2B9"/>
              </a:buClr>
              <a:buSzPts val="2800"/>
              <a:buFont typeface="Proxima Nova" panose="02000506030000020004"/>
              <a:buNone/>
            </a:pPr>
            <a:r>
              <a:rPr lang="en-US" sz="2200" b="0" i="0" u="none" strike="noStrike" cap="none" dirty="0">
                <a:solidFill>
                  <a:srgbClr val="1AAABF"/>
                </a:solidFill>
                <a:latin typeface="Proxima Nova" panose="02000506030000020004"/>
                <a:ea typeface="Proxima Nova" panose="02000506030000020004"/>
                <a:cs typeface="Proxima Nova" panose="02000506030000020004"/>
                <a:sym typeface="Proxima Nova" panose="02000506030000020004"/>
              </a:rPr>
              <a:t>Team ID: </a:t>
            </a:r>
            <a:r>
              <a:rPr lang="en-US" sz="2200" dirty="0">
                <a:solidFill>
                  <a:srgbClr val="1AAABF"/>
                </a:solidFill>
                <a:latin typeface="+mj-lt"/>
                <a:ea typeface="Proxima Nova" panose="02000506030000020004"/>
                <a:cs typeface="Proxima Nova" panose="02000506030000020004"/>
                <a:sym typeface="Proxima Nova" panose="02000506030000020004"/>
              </a:rPr>
              <a:t>T_069</a:t>
            </a:r>
            <a:endParaRPr sz="2200" b="0" i="0" u="none" strike="noStrike" cap="none" dirty="0">
              <a:solidFill>
                <a:srgbClr val="1AAABF"/>
              </a:solidFill>
              <a:latin typeface="Proxima Nova" panose="02000506030000020004"/>
              <a:ea typeface="Proxima Nova" panose="02000506030000020004"/>
              <a:cs typeface="Proxima Nova" panose="02000506030000020004"/>
              <a:sym typeface="Proxima Nova" panose="02000506030000020004"/>
            </a:endParaRPr>
          </a:p>
        </p:txBody>
      </p:sp>
      <p:sp>
        <p:nvSpPr>
          <p:cNvPr id="90" name="Google Shape;90;p2"/>
          <p:cNvSpPr txBox="1"/>
          <p:nvPr/>
        </p:nvSpPr>
        <p:spPr>
          <a:xfrm>
            <a:off x="5459831" y="4489367"/>
            <a:ext cx="1272300" cy="4617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US" sz="1800" b="0" i="0" u="none" strike="noStrike" cap="none">
                <a:solidFill>
                  <a:srgbClr val="595959"/>
                </a:solidFill>
                <a:latin typeface="Proxima Nova" panose="02000506030000020004"/>
                <a:ea typeface="Proxima Nova" panose="02000506030000020004"/>
                <a:cs typeface="Proxima Nova" panose="02000506030000020004"/>
                <a:sym typeface="Proxima Nova" panose="02000506030000020004"/>
              </a:rPr>
              <a:t>Guided By</a:t>
            </a:r>
          </a:p>
        </p:txBody>
      </p:sp>
      <p:sp>
        <p:nvSpPr>
          <p:cNvPr id="91" name="Google Shape;91;p2"/>
          <p:cNvSpPr txBox="1"/>
          <p:nvPr/>
        </p:nvSpPr>
        <p:spPr>
          <a:xfrm>
            <a:off x="3193926" y="4859866"/>
            <a:ext cx="5742683" cy="800189"/>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None/>
            </a:pPr>
            <a:r>
              <a:rPr lang="en-US" sz="20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rPr>
              <a:t>Internal Guide</a:t>
            </a:r>
          </a:p>
          <a:p>
            <a:pPr marL="0" marR="0" lvl="0" indent="0" algn="ctr" rtl="0">
              <a:spcBef>
                <a:spcPts val="0"/>
              </a:spcBef>
              <a:spcAft>
                <a:spcPts val="0"/>
              </a:spcAft>
              <a:buNone/>
            </a:pPr>
            <a:r>
              <a:rPr lang="en-US" sz="2000" dirty="0">
                <a:latin typeface="+mj-lt"/>
              </a:rPr>
              <a:t>Dr. Dhara Joshi</a:t>
            </a:r>
          </a:p>
        </p:txBody>
      </p:sp>
      <p:sp>
        <p:nvSpPr>
          <p:cNvPr id="92" name="Google Shape;92;p2"/>
          <p:cNvSpPr txBox="1"/>
          <p:nvPr/>
        </p:nvSpPr>
        <p:spPr>
          <a:xfrm>
            <a:off x="3193926" y="5441197"/>
            <a:ext cx="3023400" cy="4002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endParaRPr dirty="0"/>
          </a:p>
        </p:txBody>
      </p:sp>
      <p:sp>
        <p:nvSpPr>
          <p:cNvPr id="93" name="Google Shape;93;p2"/>
          <p:cNvSpPr txBox="1"/>
          <p:nvPr/>
        </p:nvSpPr>
        <p:spPr>
          <a:xfrm>
            <a:off x="2550795" y="1056005"/>
            <a:ext cx="7095490" cy="2025650"/>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200"/>
              <a:buFont typeface="Proxima Nova" panose="02000506030000020004"/>
              <a:buNone/>
            </a:pPr>
            <a:r>
              <a:rPr lang="en-US" sz="3200" i="0" u="none" strike="noStrike" cap="none" dirty="0">
                <a:solidFill>
                  <a:srgbClr val="04A2B9"/>
                </a:solidFill>
                <a:latin typeface="+mj-lt"/>
                <a:ea typeface="Proxima Nova" panose="02000506030000020004"/>
                <a:cs typeface="Proxima Nova" panose="02000506030000020004"/>
                <a:sym typeface="Proxima Nova" panose="02000506030000020004"/>
              </a:rPr>
              <a:t>M</a:t>
            </a:r>
            <a:r>
              <a:rPr lang="en-IN" altLang="en-US" sz="3200" i="0" u="none" strike="noStrike" cap="none" dirty="0">
                <a:solidFill>
                  <a:srgbClr val="04A2B9"/>
                </a:solidFill>
                <a:latin typeface="+mj-lt"/>
                <a:ea typeface="Proxima Nova" panose="02000506030000020004"/>
                <a:cs typeface="Proxima Nova" panose="02000506030000020004"/>
                <a:sym typeface="Proxima Nova" panose="02000506030000020004"/>
              </a:rPr>
              <a:t>ini</a:t>
            </a:r>
            <a:r>
              <a:rPr lang="en-US" sz="3200" i="0" u="none" strike="noStrike" cap="none" dirty="0">
                <a:solidFill>
                  <a:srgbClr val="04A2B9"/>
                </a:solidFill>
                <a:latin typeface="+mj-lt"/>
                <a:ea typeface="Proxima Nova" panose="02000506030000020004"/>
                <a:cs typeface="Proxima Nova" panose="02000506030000020004"/>
                <a:sym typeface="Proxima Nova" panose="02000506030000020004"/>
              </a:rPr>
              <a:t> Project (01CE0</a:t>
            </a:r>
            <a:r>
              <a:rPr lang="en-IN" altLang="en-US" sz="3200" i="0" u="none" strike="noStrike" cap="none" dirty="0">
                <a:solidFill>
                  <a:srgbClr val="04A2B9"/>
                </a:solidFill>
                <a:latin typeface="+mj-lt"/>
                <a:ea typeface="Proxima Nova" panose="02000506030000020004"/>
                <a:cs typeface="Proxima Nova" panose="02000506030000020004"/>
                <a:sym typeface="Proxima Nova" panose="02000506030000020004"/>
              </a:rPr>
              <a:t>609</a:t>
            </a:r>
            <a:r>
              <a:rPr lang="en-US" sz="3200" b="1" i="0" u="none" strike="noStrike" cap="none" dirty="0">
                <a:solidFill>
                  <a:srgbClr val="04A2B9"/>
                </a:solidFill>
                <a:latin typeface="+mj-lt"/>
                <a:ea typeface="Proxima Nova" panose="02000506030000020004"/>
                <a:cs typeface="Proxima Nova" panose="02000506030000020004"/>
                <a:sym typeface="Proxima Nova" panose="02000506030000020004"/>
              </a:rPr>
              <a:t>)</a:t>
            </a:r>
          </a:p>
          <a:p>
            <a:pPr marL="12700" marR="0" lvl="0" indent="0" algn="ctr" rtl="0">
              <a:lnSpc>
                <a:spcPct val="100000"/>
              </a:lnSpc>
              <a:spcBef>
                <a:spcPts val="0"/>
              </a:spcBef>
              <a:spcAft>
                <a:spcPts val="0"/>
              </a:spcAft>
              <a:buClr>
                <a:srgbClr val="04A2B9"/>
              </a:buClr>
              <a:buSzPts val="2200"/>
              <a:buFont typeface="Proxima Nova" panose="02000506030000020004"/>
              <a:buNone/>
            </a:pPr>
            <a:r>
              <a:rPr lang="en-IN" altLang="en-US" sz="3200" i="0" u="none" strike="noStrike" cap="none" dirty="0">
                <a:solidFill>
                  <a:srgbClr val="04A2B9"/>
                </a:solidFill>
                <a:latin typeface="+mj-lt"/>
                <a:ea typeface="Proxima Nova" panose="02000506030000020004"/>
                <a:cs typeface="Proxima Nova" panose="02000506030000020004"/>
                <a:sym typeface="Proxima Nova" panose="02000506030000020004"/>
              </a:rPr>
              <a:t>Semester 6</a:t>
            </a:r>
            <a:endParaRPr sz="3200" dirty="0">
              <a:latin typeface="+mj-lt"/>
            </a:endParaRPr>
          </a:p>
          <a:p>
            <a:pPr marL="12700" marR="0" lvl="0" indent="0" algn="ctr" rtl="0">
              <a:lnSpc>
                <a:spcPct val="100000"/>
              </a:lnSpc>
              <a:spcBef>
                <a:spcPts val="100"/>
              </a:spcBef>
              <a:spcAft>
                <a:spcPts val="0"/>
              </a:spcAft>
              <a:buClr>
                <a:srgbClr val="04A2B9"/>
              </a:buClr>
              <a:buSzPts val="2200"/>
              <a:buFont typeface="Proxima Nova" panose="02000506030000020004"/>
              <a:buNone/>
            </a:pPr>
            <a:r>
              <a:rPr lang="en-US"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Review 1 </a:t>
            </a:r>
            <a:br>
              <a:rPr lang="en-US"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br>
            <a:r>
              <a:rPr lang="en-US" sz="2200" b="0" i="0" u="none" strike="noStrike" cap="none" dirty="0">
                <a:solidFill>
                  <a:schemeClr val="accent1"/>
                </a:solidFill>
                <a:latin typeface="+mj-lt"/>
                <a:ea typeface="Proxima Nova" panose="02000506030000020004"/>
                <a:cs typeface="Proxima Nova" panose="02000506030000020004"/>
                <a:sym typeface="Proxima Nova" panose="02000506030000020004"/>
              </a:rPr>
              <a:t>(</a:t>
            </a:r>
            <a:r>
              <a:rPr lang="en-US" sz="2200" b="0" i="0" u="none" strike="noStrike" cap="none" dirty="0">
                <a:solidFill>
                  <a:schemeClr val="tx1"/>
                </a:solidFill>
                <a:latin typeface="+mj-lt"/>
                <a:ea typeface="Proxima Nova" panose="02000506030000020004"/>
                <a:cs typeface="Proxima Nova" panose="02000506030000020004"/>
                <a:sym typeface="Proxima Nova" panose="02000506030000020004"/>
              </a:rPr>
              <a:t>0</a:t>
            </a:r>
            <a:r>
              <a:rPr lang="en-US" sz="2200" dirty="0">
                <a:solidFill>
                  <a:schemeClr val="tx2">
                    <a:lumMod val="10000"/>
                  </a:schemeClr>
                </a:solidFill>
                <a:latin typeface="+mj-lt"/>
                <a:ea typeface="Proxima Nova" panose="02000506030000020004"/>
                <a:cs typeface="Proxima Nova" panose="02000506030000020004"/>
                <a:sym typeface="Proxima Nova" panose="02000506030000020004"/>
              </a:rPr>
              <a:t>7</a:t>
            </a:r>
            <a:r>
              <a:rPr lang="en-US" sz="2200" b="0" i="0" u="none" strike="noStrike" cap="none" dirty="0">
                <a:solidFill>
                  <a:schemeClr val="tx2">
                    <a:lumMod val="10000"/>
                  </a:schemeClr>
                </a:solidFill>
                <a:latin typeface="+mj-lt"/>
                <a:ea typeface="Proxima Nova" panose="02000506030000020004"/>
                <a:cs typeface="Proxima Nova" panose="02000506030000020004"/>
                <a:sym typeface="Proxima Nova" panose="02000506030000020004"/>
              </a:rPr>
              <a:t>/</a:t>
            </a:r>
            <a:r>
              <a:rPr lang="en-US" sz="2200" b="0" i="0" u="none" strike="noStrike" cap="none" dirty="0">
                <a:solidFill>
                  <a:schemeClr val="tx2">
                    <a:lumMod val="10000"/>
                  </a:schemeClr>
                </a:solidFill>
                <a:latin typeface="+mj-lt"/>
                <a:ea typeface="Calibri" panose="020F0502020204030204" pitchFamily="34" charset="0"/>
                <a:cs typeface="Calibri" panose="020F0502020204030204" pitchFamily="34" charset="0"/>
                <a:sym typeface="Proxima Nova" panose="02000506030000020004"/>
              </a:rPr>
              <a:t>03/2026</a:t>
            </a:r>
            <a:r>
              <a:rPr lang="en-US" sz="2200" b="0" i="0" u="none" strike="noStrike" cap="none" dirty="0">
                <a:solidFill>
                  <a:schemeClr val="accent1"/>
                </a:solidFill>
                <a:latin typeface="Calibri" panose="020F0502020204030204" pitchFamily="34" charset="0"/>
                <a:ea typeface="Calibri" panose="020F0502020204030204" pitchFamily="34" charset="0"/>
                <a:cs typeface="Calibri" panose="020F0502020204030204" pitchFamily="34" charset="0"/>
                <a:sym typeface="Proxima Nova" panose="02000506030000020004"/>
              </a:rPr>
              <a:t>)</a:t>
            </a:r>
            <a:br>
              <a:rPr lang="en-US"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br>
            <a:endParaRPr sz="22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endParaRPr>
          </a:p>
        </p:txBody>
      </p:sp>
      <p:sp>
        <p:nvSpPr>
          <p:cNvPr id="94" name="Google Shape;94;p2"/>
          <p:cNvSpPr txBox="1"/>
          <p:nvPr/>
        </p:nvSpPr>
        <p:spPr>
          <a:xfrm>
            <a:off x="2293191" y="5643518"/>
            <a:ext cx="8297381" cy="936154"/>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400"/>
              <a:buFont typeface="Proxima Nova" panose="02000506030000020004"/>
              <a:buNone/>
            </a:pPr>
            <a:r>
              <a:rPr lang="en-US" sz="24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Department of Computer Engineering,</a:t>
            </a:r>
            <a:br>
              <a:rPr lang="en-US" sz="24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br>
            <a:r>
              <a:rPr lang="en-US" sz="24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Faculty of Engineering &amp; Technology</a:t>
            </a:r>
            <a:r>
              <a:rPr lang="en-US" sz="36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 </a:t>
            </a:r>
            <a:endParaRPr sz="36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Outline</a:t>
            </a:r>
            <a:endParaRPr sz="2400" b="1" dirty="0">
              <a:latin typeface="Proxima Nova" panose="02000506030000020004"/>
              <a:ea typeface="Proxima Nova" panose="02000506030000020004"/>
              <a:cs typeface="Proxima Nova" panose="02000506030000020004"/>
              <a:sym typeface="Proxima Nova" panose="02000506030000020004"/>
            </a:endParaRPr>
          </a:p>
        </p:txBody>
      </p:sp>
      <p:sp>
        <p:nvSpPr>
          <p:cNvPr id="100" name="Google Shape;100;p3"/>
          <p:cNvSpPr txBox="1"/>
          <p:nvPr/>
        </p:nvSpPr>
        <p:spPr>
          <a:xfrm>
            <a:off x="646113" y="966117"/>
            <a:ext cx="8591100" cy="3616344"/>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endParaRPr dirty="0"/>
          </a:p>
          <a:p>
            <a:pPr marL="285750" marR="0" lvl="0" indent="-285750" algn="l" rtl="0">
              <a:spcBef>
                <a:spcPts val="0"/>
              </a:spcBef>
              <a:spcAft>
                <a:spcPts val="0"/>
              </a:spcAft>
              <a:buClr>
                <a:srgbClr val="000000"/>
              </a:buClr>
              <a:buSzPts val="1700"/>
              <a:buFont typeface="Arial" panose="020B0604020202020204"/>
              <a:buChar char="•"/>
            </a:pPr>
            <a:r>
              <a:rPr lang="en-US" sz="2400" dirty="0">
                <a:solidFill>
                  <a:schemeClr val="tx1"/>
                </a:solidFill>
                <a:latin typeface="Proxima Nova" panose="02000506030000020004"/>
                <a:sym typeface="Proxima Nova" panose="02000506030000020004"/>
              </a:rPr>
              <a:t>Introduction</a:t>
            </a:r>
          </a:p>
          <a:p>
            <a:pPr marL="285750" marR="0" lvl="0" indent="-285750" algn="l" rtl="0">
              <a:spcBef>
                <a:spcPts val="0"/>
              </a:spcBef>
              <a:spcAft>
                <a:spcPts val="0"/>
              </a:spcAft>
              <a:buClr>
                <a:srgbClr val="000000"/>
              </a:buClr>
              <a:buSzPts val="1700"/>
              <a:buFont typeface="Arial" panose="020B0604020202020204"/>
              <a:buChar char="•"/>
            </a:pPr>
            <a:r>
              <a:rPr lang="en-US" sz="2400" dirty="0">
                <a:solidFill>
                  <a:schemeClr val="tx1"/>
                </a:solidFill>
                <a:latin typeface="Proxima Nova" panose="02000506030000020004"/>
                <a:sym typeface="Proxima Nova" panose="02000506030000020004"/>
              </a:rPr>
              <a:t>Problem Statement </a:t>
            </a:r>
            <a:endParaRPr lang="en-US" sz="2400" dirty="0">
              <a:solidFill>
                <a:schemeClr val="tx1"/>
              </a:solidFill>
            </a:endParaRPr>
          </a:p>
          <a:p>
            <a:pPr marL="285750" marR="0" lvl="0" indent="-285750" algn="l" rtl="0">
              <a:spcBef>
                <a:spcPts val="0"/>
              </a:spcBef>
              <a:spcAft>
                <a:spcPts val="0"/>
              </a:spcAft>
              <a:buClr>
                <a:srgbClr val="000000"/>
              </a:buClr>
              <a:buSzPts val="1700"/>
              <a:buFont typeface="Arial" panose="020B0604020202020204"/>
              <a:buChar char="•"/>
            </a:pPr>
            <a:r>
              <a:rPr lang="en-US" sz="24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Literat</a:t>
            </a:r>
            <a:r>
              <a:rPr lang="en-US" sz="2400" dirty="0">
                <a:solidFill>
                  <a:schemeClr val="tx1"/>
                </a:solidFill>
                <a:latin typeface="Proxima Nova" panose="02000506030000020004"/>
                <a:ea typeface="Proxima Nova" panose="02000506030000020004"/>
                <a:cs typeface="Proxima Nova" panose="02000506030000020004"/>
                <a:sym typeface="Proxima Nova" panose="02000506030000020004"/>
              </a:rPr>
              <a:t>ure review by students </a:t>
            </a:r>
          </a:p>
          <a:p>
            <a:pPr marL="285750" marR="0" lvl="0" indent="-285750" algn="l" rtl="0">
              <a:spcBef>
                <a:spcPts val="0"/>
              </a:spcBef>
              <a:spcAft>
                <a:spcPts val="0"/>
              </a:spcAft>
              <a:buClr>
                <a:srgbClr val="000000"/>
              </a:buClr>
              <a:buSzPts val="1700"/>
              <a:buFont typeface="Arial" panose="020B0604020202020204"/>
              <a:buChar char="•"/>
            </a:pPr>
            <a:r>
              <a:rPr lang="en-US" sz="24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Project Objectiv</a:t>
            </a:r>
            <a:r>
              <a:rPr lang="en-US" sz="2400" dirty="0">
                <a:solidFill>
                  <a:schemeClr val="tx1"/>
                </a:solidFill>
                <a:latin typeface="Proxima Nova" panose="02000506030000020004"/>
                <a:ea typeface="Proxima Nova" panose="02000506030000020004"/>
                <a:cs typeface="Proxima Nova" panose="02000506030000020004"/>
                <a:sym typeface="Proxima Nova" panose="02000506030000020004"/>
              </a:rPr>
              <a:t>e</a:t>
            </a:r>
          </a:p>
          <a:p>
            <a:pPr marL="285750" marR="0" lvl="0" indent="-285750" algn="l" rtl="0">
              <a:spcBef>
                <a:spcPts val="0"/>
              </a:spcBef>
              <a:spcAft>
                <a:spcPts val="0"/>
              </a:spcAft>
              <a:buClr>
                <a:srgbClr val="000000"/>
              </a:buClr>
              <a:buSzPts val="1700"/>
              <a:buFont typeface="Arial" panose="020B0604020202020204"/>
              <a:buChar char="•"/>
            </a:pPr>
            <a:r>
              <a:rPr lang="en-US" sz="24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Project Methodology</a:t>
            </a:r>
          </a:p>
          <a:p>
            <a:pPr marL="285750" marR="0" lvl="0" indent="-285750" algn="l" rtl="0">
              <a:spcBef>
                <a:spcPts val="0"/>
              </a:spcBef>
              <a:spcAft>
                <a:spcPts val="0"/>
              </a:spcAft>
              <a:buClr>
                <a:srgbClr val="000000"/>
              </a:buClr>
              <a:buSzPts val="1700"/>
              <a:buFont typeface="Arial" panose="020B0604020202020204"/>
              <a:buChar char="•"/>
            </a:pPr>
            <a:r>
              <a:rPr lang="en-US" sz="2400" dirty="0">
                <a:solidFill>
                  <a:schemeClr val="tx1"/>
                </a:solidFill>
                <a:latin typeface="Proxima Nova" panose="02000506030000020004"/>
                <a:ea typeface="Proxima Nova" panose="02000506030000020004"/>
                <a:cs typeface="Proxima Nova" panose="02000506030000020004"/>
                <a:sym typeface="Proxima Nova" panose="02000506030000020004"/>
              </a:rPr>
              <a:t>Dataset Description</a:t>
            </a:r>
          </a:p>
          <a:p>
            <a:pPr marL="285750" marR="0" lvl="0" indent="-285750" algn="l" rtl="0">
              <a:spcBef>
                <a:spcPts val="0"/>
              </a:spcBef>
              <a:spcAft>
                <a:spcPts val="0"/>
              </a:spcAft>
              <a:buClr>
                <a:srgbClr val="000000"/>
              </a:buClr>
              <a:buSzPts val="1700"/>
              <a:buFont typeface="Arial" panose="020B0604020202020204"/>
              <a:buChar char="•"/>
            </a:pPr>
            <a:r>
              <a:rPr lang="en-US" sz="24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EDA(Explorat</a:t>
            </a:r>
            <a:r>
              <a:rPr lang="en-US" sz="2400" dirty="0">
                <a:solidFill>
                  <a:schemeClr val="tx1"/>
                </a:solidFill>
                <a:latin typeface="Proxima Nova" panose="02000506030000020004"/>
                <a:ea typeface="Proxima Nova" panose="02000506030000020004"/>
                <a:cs typeface="Proxima Nova" panose="02000506030000020004"/>
                <a:sym typeface="Proxima Nova" panose="02000506030000020004"/>
              </a:rPr>
              <a:t>ory Data Analysis </a:t>
            </a:r>
          </a:p>
          <a:p>
            <a:pPr marL="285750" marR="0" lvl="0" indent="-285750" algn="l" rtl="0">
              <a:spcBef>
                <a:spcPts val="0"/>
              </a:spcBef>
              <a:spcAft>
                <a:spcPts val="0"/>
              </a:spcAft>
              <a:buClr>
                <a:srgbClr val="000000"/>
              </a:buClr>
              <a:buSzPts val="1700"/>
              <a:buFont typeface="Arial" panose="020B0604020202020204"/>
              <a:buChar char="•"/>
            </a:pPr>
            <a:r>
              <a:rPr lang="en-US" sz="2400" dirty="0">
                <a:solidFill>
                  <a:schemeClr val="tx1"/>
                </a:solidFill>
                <a:latin typeface="Proxima Nova" panose="02000506030000020004"/>
                <a:ea typeface="Proxima Nova" panose="02000506030000020004"/>
                <a:cs typeface="Proxima Nova" panose="02000506030000020004"/>
                <a:sym typeface="Proxima Nova" panose="02000506030000020004"/>
              </a:rPr>
              <a:t>Expected Outcome </a:t>
            </a:r>
          </a:p>
          <a:p>
            <a:pPr marR="0" lvl="0" algn="l" rtl="0">
              <a:spcBef>
                <a:spcPts val="0"/>
              </a:spcBef>
              <a:spcAft>
                <a:spcPts val="0"/>
              </a:spcAft>
              <a:buClr>
                <a:srgbClr val="000000"/>
              </a:buClr>
              <a:buSzPts val="1700"/>
            </a:pPr>
            <a:endParaRPr lang="en-US" sz="1700" dirty="0">
              <a:solidFill>
                <a:srgbClr val="FF0000"/>
              </a:solidFill>
              <a:latin typeface="Proxima Nova" panose="02000506030000020004"/>
              <a:sym typeface="Proxima Nova" panose="020005060300000200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09FC4A94-E34D-0674-A75B-9A6628009A0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0C4406E-0388-20C6-0689-E32D5159DA6C}"/>
              </a:ext>
            </a:extLst>
          </p:cNvPr>
          <p:cNvSpPr txBox="1"/>
          <p:nvPr/>
        </p:nvSpPr>
        <p:spPr>
          <a:xfrm>
            <a:off x="1139422" y="125578"/>
            <a:ext cx="3970117" cy="769441"/>
          </a:xfrm>
          <a:prstGeom prst="rect">
            <a:avLst/>
          </a:prstGeom>
          <a:noFill/>
        </p:spPr>
        <p:txBody>
          <a:bodyPr wrap="square" rtlCol="0">
            <a:spAutoFit/>
          </a:bodyPr>
          <a:lstStyle/>
          <a:p>
            <a:r>
              <a:rPr kumimoji="0" lang="en-US" sz="4400" b="0" i="0" u="none" strike="noStrike" kern="0" cap="none" spc="0" normalizeH="0" baseline="0" noProof="0" dirty="0">
                <a:ln>
                  <a:noFill/>
                </a:ln>
                <a:solidFill>
                  <a:schemeClr val="tx1"/>
                </a:solidFill>
                <a:effectLst/>
                <a:uLnTx/>
                <a:uFillTx/>
                <a:latin typeface="Calibri" panose="020F0502020204030204"/>
                <a:ea typeface="Calibri" panose="020F0502020204030204"/>
                <a:cs typeface="Calibri" panose="020F0502020204030204"/>
                <a:sym typeface="Calibri" panose="020F0502020204030204"/>
              </a:rPr>
              <a:t>Introduction</a:t>
            </a:r>
            <a:endParaRPr lang="en-US" dirty="0">
              <a:solidFill>
                <a:schemeClr val="tx1"/>
              </a:solidFill>
            </a:endParaRPr>
          </a:p>
        </p:txBody>
      </p:sp>
      <p:sp>
        <p:nvSpPr>
          <p:cNvPr id="5" name="TextBox 4">
            <a:extLst>
              <a:ext uri="{FF2B5EF4-FFF2-40B4-BE49-F238E27FC236}">
                <a16:creationId xmlns:a16="http://schemas.microsoft.com/office/drawing/2014/main" id="{E36BEEDE-CE67-6EB4-F336-6C3837D99481}"/>
              </a:ext>
            </a:extLst>
          </p:cNvPr>
          <p:cNvSpPr txBox="1"/>
          <p:nvPr/>
        </p:nvSpPr>
        <p:spPr>
          <a:xfrm>
            <a:off x="706056" y="1620456"/>
            <a:ext cx="10532962" cy="1858970"/>
          </a:xfrm>
          <a:prstGeom prst="rect">
            <a:avLst/>
          </a:prstGeom>
          <a:noFill/>
        </p:spPr>
        <p:txBody>
          <a:bodyPr wrap="square" rtlCol="0">
            <a:spAutoFit/>
          </a:bodyPr>
          <a:lstStyle/>
          <a:p>
            <a:pPr marL="457200" marR="0" lvl="0" indent="-342900" algn="l" defTabSz="914400" rtl="0" eaLnBrk="1" fontAlgn="auto" latinLnBrk="0" hangingPunct="1">
              <a:lnSpc>
                <a:spcPct val="90000"/>
              </a:lnSpc>
              <a:spcBef>
                <a:spcPts val="1000"/>
              </a:spcBef>
              <a:spcAft>
                <a:spcPts val="0"/>
              </a:spcAft>
              <a:buClr>
                <a:srgbClr val="000000"/>
              </a:buClr>
              <a:buSzPts val="1800"/>
              <a:buFont typeface="Arial" panose="020B0604020202020204"/>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Student performance prediction uses Machine Learning techniques to analyze academic and behavioral data of students. The objective is to identify patterns that influence student success and build predictive models that can estimate academic outcomes.</a:t>
            </a:r>
          </a:p>
          <a:p>
            <a:endParaRPr lang="en-US" dirty="0"/>
          </a:p>
        </p:txBody>
      </p:sp>
    </p:spTree>
    <p:extLst>
      <p:ext uri="{BB962C8B-B14F-4D97-AF65-F5344CB8AC3E}">
        <p14:creationId xmlns:p14="http://schemas.microsoft.com/office/powerpoint/2010/main" val="3676822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AF8F5C58-3252-4CD5-4384-B43FA3250E9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0F951E2-3F9F-2281-2FDA-9C758A30CDE8}"/>
              </a:ext>
            </a:extLst>
          </p:cNvPr>
          <p:cNvSpPr txBox="1"/>
          <p:nvPr/>
        </p:nvSpPr>
        <p:spPr>
          <a:xfrm>
            <a:off x="1139422" y="125578"/>
            <a:ext cx="3970117" cy="769441"/>
          </a:xfrm>
          <a:prstGeom prst="rect">
            <a:avLst/>
          </a:prstGeom>
          <a:noFill/>
        </p:spPr>
        <p:txBody>
          <a:bodyPr wrap="square" rtlCol="0">
            <a:spAutoFit/>
          </a:bodyPr>
          <a:lstStyle/>
          <a:p>
            <a:r>
              <a:rPr kumimoji="0" lang="en-US" sz="4400" b="0" i="0" u="none" strike="noStrike" kern="0" cap="none" spc="0" normalizeH="0" baseline="0" noProof="0" dirty="0">
                <a:ln>
                  <a:noFill/>
                </a:ln>
                <a:solidFill>
                  <a:schemeClr val="tx1"/>
                </a:solidFill>
                <a:effectLst/>
                <a:uLnTx/>
                <a:uFillTx/>
                <a:latin typeface="Calibri" panose="020F0502020204030204"/>
                <a:ea typeface="Calibri" panose="020F0502020204030204"/>
                <a:cs typeface="Calibri" panose="020F0502020204030204"/>
                <a:sym typeface="Calibri" panose="020F0502020204030204"/>
              </a:rPr>
              <a:t>Abstract</a:t>
            </a:r>
            <a:endParaRPr lang="en-US" dirty="0">
              <a:solidFill>
                <a:schemeClr val="tx1"/>
              </a:solidFill>
            </a:endParaRPr>
          </a:p>
        </p:txBody>
      </p:sp>
      <p:sp>
        <p:nvSpPr>
          <p:cNvPr id="5" name="TextBox 4">
            <a:extLst>
              <a:ext uri="{FF2B5EF4-FFF2-40B4-BE49-F238E27FC236}">
                <a16:creationId xmlns:a16="http://schemas.microsoft.com/office/drawing/2014/main" id="{A891826C-0DAF-3EAC-785E-B7FBCAD9E625}"/>
              </a:ext>
            </a:extLst>
          </p:cNvPr>
          <p:cNvSpPr txBox="1"/>
          <p:nvPr/>
        </p:nvSpPr>
        <p:spPr>
          <a:xfrm>
            <a:off x="706056" y="1620456"/>
            <a:ext cx="10532962" cy="3970318"/>
          </a:xfrm>
          <a:prstGeom prst="rect">
            <a:avLst/>
          </a:prstGeom>
          <a:noFill/>
        </p:spPr>
        <p:txBody>
          <a:bodyPr wrap="square" rtlCol="0">
            <a:spAutoFit/>
          </a:bodyPr>
          <a:lstStyle/>
          <a:p>
            <a:pPr marL="457200" lvl="0" indent="-342900">
              <a:lnSpc>
                <a:spcPct val="90000"/>
              </a:lnSpc>
              <a:spcBef>
                <a:spcPts val="1000"/>
              </a:spcBef>
              <a:buSzPts val="1800"/>
              <a:buFont typeface="Arial" panose="020B0604020202020204"/>
              <a:buChar char="•"/>
              <a:defRPr/>
            </a:pPr>
            <a:r>
              <a:rPr lang="en-US" sz="2800" dirty="0"/>
              <a:t>This project focuses on predicting student academic performance using machine learning. Features such as study time, attendance, parental support, extracurricular activities, and past grades are used to train regression models. The data is preprocessed with normalization and encoding for better performance. Models are evaluated using MSE, MAE, RMSE, and R², showing high accuracy in predicting GPA. The results demonstrate that machine learning can help identify students needing support and assist educators in making informed decisions</a:t>
            </a:r>
            <a:endParaRPr lang="en-US" dirty="0"/>
          </a:p>
        </p:txBody>
      </p:sp>
    </p:spTree>
    <p:extLst>
      <p:ext uri="{BB962C8B-B14F-4D97-AF65-F5344CB8AC3E}">
        <p14:creationId xmlns:p14="http://schemas.microsoft.com/office/powerpoint/2010/main" val="992592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68A750B5-A296-D5D1-8256-9BC71386B02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3F8EE58-1B26-06B1-ED13-28946313051C}"/>
              </a:ext>
            </a:extLst>
          </p:cNvPr>
          <p:cNvSpPr txBox="1"/>
          <p:nvPr/>
        </p:nvSpPr>
        <p:spPr>
          <a:xfrm>
            <a:off x="1139422" y="125578"/>
            <a:ext cx="4848423" cy="769441"/>
          </a:xfrm>
          <a:prstGeom prst="rect">
            <a:avLst/>
          </a:prstGeom>
          <a:noFill/>
        </p:spPr>
        <p:txBody>
          <a:bodyPr wrap="square" rtlCol="0">
            <a:spAutoFit/>
          </a:bodyPr>
          <a:lstStyle/>
          <a:p>
            <a:r>
              <a:rPr kumimoji="0" lang="en-US" sz="4400" b="0" i="0" u="none" strike="noStrike" kern="0" cap="none" spc="0" normalizeH="0" baseline="0" noProof="0" dirty="0">
                <a:ln>
                  <a:noFill/>
                </a:ln>
                <a:solidFill>
                  <a:schemeClr val="tx1"/>
                </a:solidFill>
                <a:effectLst/>
                <a:uLnTx/>
                <a:uFillTx/>
                <a:latin typeface="Calibri" panose="020F0502020204030204"/>
                <a:ea typeface="Calibri" panose="020F0502020204030204"/>
                <a:cs typeface="Calibri" panose="020F0502020204030204"/>
                <a:sym typeface="Calibri" panose="020F0502020204030204"/>
              </a:rPr>
              <a:t>Technology Used</a:t>
            </a:r>
            <a:endParaRPr lang="en-US" dirty="0">
              <a:solidFill>
                <a:schemeClr val="tx1"/>
              </a:solidFill>
            </a:endParaRPr>
          </a:p>
        </p:txBody>
      </p:sp>
      <p:sp>
        <p:nvSpPr>
          <p:cNvPr id="5" name="TextBox 4">
            <a:extLst>
              <a:ext uri="{FF2B5EF4-FFF2-40B4-BE49-F238E27FC236}">
                <a16:creationId xmlns:a16="http://schemas.microsoft.com/office/drawing/2014/main" id="{7E5ED431-BD41-3FA5-01DA-810437AAA0EA}"/>
              </a:ext>
            </a:extLst>
          </p:cNvPr>
          <p:cNvSpPr txBox="1"/>
          <p:nvPr/>
        </p:nvSpPr>
        <p:spPr>
          <a:xfrm>
            <a:off x="706056" y="1620456"/>
            <a:ext cx="10532962" cy="1179810"/>
          </a:xfrm>
          <a:prstGeom prst="rect">
            <a:avLst/>
          </a:prstGeom>
          <a:noFill/>
        </p:spPr>
        <p:txBody>
          <a:bodyPr wrap="square" rtlCol="0">
            <a:spAutoFit/>
          </a:bodyPr>
          <a:lstStyle/>
          <a:p>
            <a:pPr marL="457200" lvl="0" indent="-342900">
              <a:lnSpc>
                <a:spcPct val="90000"/>
              </a:lnSpc>
              <a:spcBef>
                <a:spcPts val="1000"/>
              </a:spcBef>
              <a:buSzPts val="1800"/>
              <a:buFont typeface="Arial" panose="020B0604020202020204"/>
              <a:buChar char="•"/>
              <a:defRPr/>
            </a:pPr>
            <a:r>
              <a:rPr lang="en-US" sz="2000" dirty="0"/>
              <a:t>Python</a:t>
            </a:r>
          </a:p>
          <a:p>
            <a:pPr marL="457200" lvl="0" indent="-342900">
              <a:lnSpc>
                <a:spcPct val="90000"/>
              </a:lnSpc>
              <a:spcBef>
                <a:spcPts val="1000"/>
              </a:spcBef>
              <a:buSzPts val="1800"/>
              <a:buFont typeface="Arial" panose="020B0604020202020204"/>
              <a:buChar char="•"/>
              <a:defRPr/>
            </a:pPr>
            <a:r>
              <a:rPr lang="en-US" sz="2000" dirty="0"/>
              <a:t>Python libraries such as numpy, pandas, sklearn, seaborn, matplotlib</a:t>
            </a:r>
          </a:p>
          <a:p>
            <a:pPr marL="457200" lvl="0" indent="-342900">
              <a:lnSpc>
                <a:spcPct val="90000"/>
              </a:lnSpc>
              <a:spcBef>
                <a:spcPts val="1000"/>
              </a:spcBef>
              <a:buSzPts val="1800"/>
              <a:buFont typeface="Arial" panose="020B0604020202020204"/>
              <a:buChar char="•"/>
              <a:defRPr/>
            </a:pPr>
            <a:r>
              <a:rPr lang="en-US" sz="2000" dirty="0"/>
              <a:t>Platform used – Google </a:t>
            </a:r>
            <a:r>
              <a:rPr lang="en-US" sz="2000" dirty="0" err="1"/>
              <a:t>colab</a:t>
            </a:r>
            <a:endParaRPr lang="en-US" sz="2000" dirty="0"/>
          </a:p>
        </p:txBody>
      </p:sp>
    </p:spTree>
    <p:extLst>
      <p:ext uri="{BB962C8B-B14F-4D97-AF65-F5344CB8AC3E}">
        <p14:creationId xmlns:p14="http://schemas.microsoft.com/office/powerpoint/2010/main" val="3320468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E1371B3A-6F43-EB23-0DF7-2975C850155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7EB3BF9-410F-0FC1-AF2C-DD724869B623}"/>
              </a:ext>
            </a:extLst>
          </p:cNvPr>
          <p:cNvSpPr txBox="1"/>
          <p:nvPr/>
        </p:nvSpPr>
        <p:spPr>
          <a:xfrm>
            <a:off x="810228" y="196770"/>
            <a:ext cx="5660020" cy="769441"/>
          </a:xfrm>
          <a:prstGeom prst="rect">
            <a:avLst/>
          </a:prstGeom>
          <a:noFill/>
        </p:spPr>
        <p:txBody>
          <a:bodyPr wrap="square" rtlCol="0">
            <a:spAutoFit/>
          </a:bodyPr>
          <a:lstStyle/>
          <a:p>
            <a:r>
              <a:rPr kumimoji="0" lang="en-US" sz="44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Problem Statement</a:t>
            </a:r>
            <a:endParaRPr lang="en-US" dirty="0"/>
          </a:p>
        </p:txBody>
      </p:sp>
      <p:sp>
        <p:nvSpPr>
          <p:cNvPr id="5" name="TextBox 4">
            <a:extLst>
              <a:ext uri="{FF2B5EF4-FFF2-40B4-BE49-F238E27FC236}">
                <a16:creationId xmlns:a16="http://schemas.microsoft.com/office/drawing/2014/main" id="{F2CAE65D-7885-B8E9-DEC7-F0CC23F150CE}"/>
              </a:ext>
            </a:extLst>
          </p:cNvPr>
          <p:cNvSpPr txBox="1"/>
          <p:nvPr/>
        </p:nvSpPr>
        <p:spPr>
          <a:xfrm>
            <a:off x="509286" y="1713053"/>
            <a:ext cx="10857053" cy="1255728"/>
          </a:xfrm>
          <a:prstGeom prst="rect">
            <a:avLst/>
          </a:prstGeom>
          <a:noFill/>
        </p:spPr>
        <p:txBody>
          <a:bodyPr wrap="square" rtlCol="0">
            <a:spAutoFit/>
          </a:bodyPr>
          <a:lstStyle/>
          <a:p>
            <a:pPr marL="457200" marR="0" lvl="0" indent="-342900" algn="l" defTabSz="914400" rtl="0" eaLnBrk="1" fontAlgn="auto" latinLnBrk="0" hangingPunct="1">
              <a:lnSpc>
                <a:spcPct val="90000"/>
              </a:lnSpc>
              <a:spcBef>
                <a:spcPts val="1000"/>
              </a:spcBef>
              <a:spcAft>
                <a:spcPts val="0"/>
              </a:spcAft>
              <a:buClr>
                <a:srgbClr val="000000"/>
              </a:buClr>
              <a:buSzPts val="1800"/>
              <a:buFont typeface="Arial" panose="020B0604020202020204"/>
              <a:buChar char="•"/>
              <a:tabLst/>
              <a:defRPr/>
            </a:pPr>
            <a:r>
              <a:rPr kumimoji="0" lang="en-US" sz="2800" b="0" i="0" u="none" strike="noStrike" kern="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Educational institutions need effective methods to analyze large student datasets to identify factors affecting academic performance and predict student results early.</a:t>
            </a:r>
            <a:endParaRPr kumimoji="0" lang="en-US" sz="28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1040634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FBD81F4D-8F13-2C8E-0AE0-4A123BE9691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F4FDE47-07C8-ECA7-C378-B33D003FADC6}"/>
              </a:ext>
            </a:extLst>
          </p:cNvPr>
          <p:cNvSpPr txBox="1"/>
          <p:nvPr/>
        </p:nvSpPr>
        <p:spPr>
          <a:xfrm>
            <a:off x="838200" y="185195"/>
            <a:ext cx="6720068" cy="569387"/>
          </a:xfrm>
          <a:prstGeom prst="rect">
            <a:avLst/>
          </a:prstGeom>
          <a:noFill/>
        </p:spPr>
        <p:txBody>
          <a:bodyPr wrap="square" rtlCol="0">
            <a:spAutoFit/>
          </a:bodyPr>
          <a:lstStyle/>
          <a:p>
            <a:r>
              <a:rPr lang="en-US" sz="3100" b="1" dirty="0"/>
              <a:t>Literature Review</a:t>
            </a:r>
          </a:p>
        </p:txBody>
      </p:sp>
      <p:graphicFrame>
        <p:nvGraphicFramePr>
          <p:cNvPr id="2" name="Table 1">
            <a:extLst>
              <a:ext uri="{FF2B5EF4-FFF2-40B4-BE49-F238E27FC236}">
                <a16:creationId xmlns:a16="http://schemas.microsoft.com/office/drawing/2014/main" id="{132D50D9-0103-EED8-C634-61FC4E18BA5D}"/>
              </a:ext>
            </a:extLst>
          </p:cNvPr>
          <p:cNvGraphicFramePr>
            <a:graphicFrameLocks noGrp="1"/>
          </p:cNvGraphicFramePr>
          <p:nvPr>
            <p:extLst>
              <p:ext uri="{D42A27DB-BD31-4B8C-83A1-F6EECF244321}">
                <p14:modId xmlns:p14="http://schemas.microsoft.com/office/powerpoint/2010/main" val="1759258202"/>
              </p:ext>
            </p:extLst>
          </p:nvPr>
        </p:nvGraphicFramePr>
        <p:xfrm>
          <a:off x="550606" y="1179873"/>
          <a:ext cx="9753602" cy="5338913"/>
        </p:xfrm>
        <a:graphic>
          <a:graphicData uri="http://schemas.openxmlformats.org/drawingml/2006/table">
            <a:tbl>
              <a:tblPr firstRow="1" bandRow="1">
                <a:tableStyleId>{5940675A-B579-460E-94D1-54222C63F5DA}</a:tableStyleId>
              </a:tblPr>
              <a:tblGrid>
                <a:gridCol w="826022">
                  <a:extLst>
                    <a:ext uri="{9D8B030D-6E8A-4147-A177-3AD203B41FA5}">
                      <a16:colId xmlns:a16="http://schemas.microsoft.com/office/drawing/2014/main" val="2881586608"/>
                    </a:ext>
                  </a:extLst>
                </a:gridCol>
                <a:gridCol w="1785516">
                  <a:extLst>
                    <a:ext uri="{9D8B030D-6E8A-4147-A177-3AD203B41FA5}">
                      <a16:colId xmlns:a16="http://schemas.microsoft.com/office/drawing/2014/main" val="20000"/>
                    </a:ext>
                  </a:extLst>
                </a:gridCol>
                <a:gridCol w="1785516">
                  <a:extLst>
                    <a:ext uri="{9D8B030D-6E8A-4147-A177-3AD203B41FA5}">
                      <a16:colId xmlns:a16="http://schemas.microsoft.com/office/drawing/2014/main" val="20001"/>
                    </a:ext>
                  </a:extLst>
                </a:gridCol>
                <a:gridCol w="1785516">
                  <a:extLst>
                    <a:ext uri="{9D8B030D-6E8A-4147-A177-3AD203B41FA5}">
                      <a16:colId xmlns:a16="http://schemas.microsoft.com/office/drawing/2014/main" val="20002"/>
                    </a:ext>
                  </a:extLst>
                </a:gridCol>
                <a:gridCol w="1785516">
                  <a:extLst>
                    <a:ext uri="{9D8B030D-6E8A-4147-A177-3AD203B41FA5}">
                      <a16:colId xmlns:a16="http://schemas.microsoft.com/office/drawing/2014/main" val="20003"/>
                    </a:ext>
                  </a:extLst>
                </a:gridCol>
                <a:gridCol w="1785516">
                  <a:extLst>
                    <a:ext uri="{9D8B030D-6E8A-4147-A177-3AD203B41FA5}">
                      <a16:colId xmlns:a16="http://schemas.microsoft.com/office/drawing/2014/main" val="20004"/>
                    </a:ext>
                  </a:extLst>
                </a:gridCol>
              </a:tblGrid>
              <a:tr h="340169">
                <a:tc>
                  <a:txBody>
                    <a:bodyPr/>
                    <a:lstStyle/>
                    <a:p>
                      <a:r>
                        <a:rPr lang="en-US" sz="1350" dirty="0"/>
                        <a:t>Ref no.</a:t>
                      </a:r>
                      <a:endParaRPr sz="1350" dirty="0"/>
                    </a:p>
                  </a:txBody>
                  <a:tcPr/>
                </a:tc>
                <a:tc>
                  <a:txBody>
                    <a:bodyPr/>
                    <a:lstStyle/>
                    <a:p>
                      <a:r>
                        <a:rPr sz="1350" dirty="0"/>
                        <a:t>Author/Year</a:t>
                      </a:r>
                    </a:p>
                  </a:txBody>
                  <a:tcPr/>
                </a:tc>
                <a:tc>
                  <a:txBody>
                    <a:bodyPr/>
                    <a:lstStyle/>
                    <a:p>
                      <a:r>
                        <a:rPr sz="1350"/>
                        <a:t>Title</a:t>
                      </a:r>
                    </a:p>
                  </a:txBody>
                  <a:tcPr/>
                </a:tc>
                <a:tc>
                  <a:txBody>
                    <a:bodyPr/>
                    <a:lstStyle/>
                    <a:p>
                      <a:r>
                        <a:rPr sz="1350" dirty="0"/>
                        <a:t>Method</a:t>
                      </a:r>
                    </a:p>
                  </a:txBody>
                  <a:tcPr/>
                </a:tc>
                <a:tc>
                  <a:txBody>
                    <a:bodyPr/>
                    <a:lstStyle/>
                    <a:p>
                      <a:r>
                        <a:rPr sz="1350"/>
                        <a:t>Dataset</a:t>
                      </a:r>
                    </a:p>
                  </a:txBody>
                  <a:tcPr/>
                </a:tc>
                <a:tc>
                  <a:txBody>
                    <a:bodyPr/>
                    <a:lstStyle/>
                    <a:p>
                      <a:r>
                        <a:rPr sz="1350"/>
                        <a:t>Key Finding</a:t>
                      </a:r>
                    </a:p>
                  </a:txBody>
                  <a:tcPr/>
                </a:tc>
                <a:extLst>
                  <a:ext uri="{0D108BD9-81ED-4DB2-BD59-A6C34878D82A}">
                    <a16:rowId xmlns:a16="http://schemas.microsoft.com/office/drawing/2014/main" val="10000"/>
                  </a:ext>
                </a:extLst>
              </a:tr>
              <a:tr h="1355461">
                <a:tc>
                  <a:txBody>
                    <a:bodyPr/>
                    <a:lstStyle/>
                    <a:p>
                      <a:r>
                        <a:rPr lang="en-US" sz="1350" dirty="0">
                          <a:hlinkClick r:id="rId4" action="ppaction://hlinksldjump"/>
                        </a:rPr>
                        <a:t>[1]</a:t>
                      </a:r>
                      <a:endParaRPr sz="1350" dirty="0"/>
                    </a:p>
                  </a:txBody>
                  <a:tcPr/>
                </a:tc>
                <a:tc>
                  <a:txBody>
                    <a:bodyPr/>
                    <a:lstStyle/>
                    <a:p>
                      <a:r>
                        <a:rPr sz="1350" dirty="0"/>
                        <a:t>Zhu (2024)</a:t>
                      </a:r>
                    </a:p>
                  </a:txBody>
                  <a:tcPr/>
                </a:tc>
                <a:tc>
                  <a:txBody>
                    <a:bodyPr/>
                    <a:lstStyle/>
                    <a:p>
                      <a:r>
                        <a:rPr sz="1350" dirty="0"/>
                        <a:t>Prediction and Analysis of University Student Performance Based on ML</a:t>
                      </a:r>
                    </a:p>
                  </a:txBody>
                  <a:tcPr/>
                </a:tc>
                <a:tc>
                  <a:txBody>
                    <a:bodyPr/>
                    <a:lstStyle/>
                    <a:p>
                      <a:r>
                        <a:rPr sz="1350" dirty="0"/>
                        <a:t>Random Forest</a:t>
                      </a:r>
                    </a:p>
                  </a:txBody>
                  <a:tcPr/>
                </a:tc>
                <a:tc>
                  <a:txBody>
                    <a:bodyPr/>
                    <a:lstStyle/>
                    <a:p>
                      <a:r>
                        <a:rPr sz="1350"/>
                        <a:t>Academic records, tests, homework</a:t>
                      </a:r>
                    </a:p>
                  </a:txBody>
                  <a:tcPr/>
                </a:tc>
                <a:tc>
                  <a:txBody>
                    <a:bodyPr/>
                    <a:lstStyle/>
                    <a:p>
                      <a:r>
                        <a:rPr sz="1350" dirty="0"/>
                        <a:t>RF predicted performance effectively; key factors were test scores and homework.</a:t>
                      </a:r>
                    </a:p>
                  </a:txBody>
                  <a:tcPr/>
                </a:tc>
                <a:extLst>
                  <a:ext uri="{0D108BD9-81ED-4DB2-BD59-A6C34878D82A}">
                    <a16:rowId xmlns:a16="http://schemas.microsoft.com/office/drawing/2014/main" val="10001"/>
                  </a:ext>
                </a:extLst>
              </a:tr>
              <a:tr h="933762">
                <a:tc>
                  <a:txBody>
                    <a:bodyPr/>
                    <a:lstStyle/>
                    <a:p>
                      <a:r>
                        <a:rPr lang="en-US" sz="1350" dirty="0">
                          <a:hlinkClick r:id="rId4" action="ppaction://hlinksldjump"/>
                        </a:rPr>
                        <a:t>[2]</a:t>
                      </a:r>
                      <a:endParaRPr sz="1350" dirty="0"/>
                    </a:p>
                  </a:txBody>
                  <a:tcPr/>
                </a:tc>
                <a:tc>
                  <a:txBody>
                    <a:bodyPr/>
                    <a:lstStyle/>
                    <a:p>
                      <a:r>
                        <a:rPr sz="1350" dirty="0"/>
                        <a:t>Vijayalakshmi &amp; </a:t>
                      </a:r>
                      <a:r>
                        <a:rPr sz="1350" dirty="0" err="1"/>
                        <a:t>Venkatachalapathy</a:t>
                      </a:r>
                      <a:r>
                        <a:rPr sz="1350" dirty="0"/>
                        <a:t> (2019)</a:t>
                      </a:r>
                    </a:p>
                  </a:txBody>
                  <a:tcPr/>
                </a:tc>
                <a:tc>
                  <a:txBody>
                    <a:bodyPr/>
                    <a:lstStyle/>
                    <a:p>
                      <a:r>
                        <a:rPr sz="1350" dirty="0"/>
                        <a:t>Predicting Student Performance using ML Algorithms</a:t>
                      </a:r>
                    </a:p>
                  </a:txBody>
                  <a:tcPr/>
                </a:tc>
                <a:tc>
                  <a:txBody>
                    <a:bodyPr/>
                    <a:lstStyle/>
                    <a:p>
                      <a:r>
                        <a:rPr sz="1350" dirty="0"/>
                        <a:t>DNN, SVM, RF, KNN</a:t>
                      </a:r>
                    </a:p>
                  </a:txBody>
                  <a:tcPr/>
                </a:tc>
                <a:tc>
                  <a:txBody>
                    <a:bodyPr/>
                    <a:lstStyle/>
                    <a:p>
                      <a:r>
                        <a:rPr sz="1350" dirty="0"/>
                        <a:t>Kaggle student dataset</a:t>
                      </a:r>
                    </a:p>
                  </a:txBody>
                  <a:tcPr/>
                </a:tc>
                <a:tc>
                  <a:txBody>
                    <a:bodyPr/>
                    <a:lstStyle/>
                    <a:p>
                      <a:r>
                        <a:rPr sz="1350"/>
                        <a:t>Deep Neural Networks achieved highest accuracy (~84%).</a:t>
                      </a:r>
                    </a:p>
                  </a:txBody>
                  <a:tcPr/>
                </a:tc>
                <a:extLst>
                  <a:ext uri="{0D108BD9-81ED-4DB2-BD59-A6C34878D82A}">
                    <a16:rowId xmlns:a16="http://schemas.microsoft.com/office/drawing/2014/main" val="10002"/>
                  </a:ext>
                </a:extLst>
              </a:tr>
              <a:tr h="993304">
                <a:tc>
                  <a:txBody>
                    <a:bodyPr/>
                    <a:lstStyle/>
                    <a:p>
                      <a:r>
                        <a:rPr lang="en-US" sz="1350" dirty="0">
                          <a:hlinkClick r:id="rId4" action="ppaction://hlinksldjump"/>
                        </a:rPr>
                        <a:t>[3]</a:t>
                      </a:r>
                      <a:endParaRPr sz="1350" dirty="0"/>
                    </a:p>
                  </a:txBody>
                  <a:tcPr/>
                </a:tc>
                <a:tc>
                  <a:txBody>
                    <a:bodyPr/>
                    <a:lstStyle/>
                    <a:p>
                      <a:r>
                        <a:rPr sz="1350" dirty="0" err="1"/>
                        <a:t>Yekun</a:t>
                      </a:r>
                      <a:r>
                        <a:rPr sz="1350" dirty="0"/>
                        <a:t> &amp; Teklay (2019)</a:t>
                      </a:r>
                    </a:p>
                  </a:txBody>
                  <a:tcPr/>
                </a:tc>
                <a:tc>
                  <a:txBody>
                    <a:bodyPr/>
                    <a:lstStyle/>
                    <a:p>
                      <a:r>
                        <a:rPr sz="1350"/>
                        <a:t>Student Performance Prediction with Multilabel Ensemble</a:t>
                      </a:r>
                    </a:p>
                  </a:txBody>
                  <a:tcPr/>
                </a:tc>
                <a:tc>
                  <a:txBody>
                    <a:bodyPr/>
                    <a:lstStyle/>
                    <a:p>
                      <a:r>
                        <a:rPr sz="1350" dirty="0"/>
                        <a:t>SVM, RF, KNN, MLP</a:t>
                      </a:r>
                    </a:p>
                  </a:txBody>
                  <a:tcPr/>
                </a:tc>
                <a:tc>
                  <a:txBody>
                    <a:bodyPr/>
                    <a:lstStyle/>
                    <a:p>
                      <a:r>
                        <a:rPr sz="1350" dirty="0"/>
                        <a:t>High school academic dataset</a:t>
                      </a:r>
                    </a:p>
                  </a:txBody>
                  <a:tcPr/>
                </a:tc>
                <a:tc>
                  <a:txBody>
                    <a:bodyPr/>
                    <a:lstStyle/>
                    <a:p>
                      <a:r>
                        <a:rPr sz="1350"/>
                        <a:t>Ensemble models improved prediction accuracy.</a:t>
                      </a:r>
                    </a:p>
                  </a:txBody>
                  <a:tcPr/>
                </a:tc>
                <a:extLst>
                  <a:ext uri="{0D108BD9-81ED-4DB2-BD59-A6C34878D82A}">
                    <a16:rowId xmlns:a16="http://schemas.microsoft.com/office/drawing/2014/main" val="10003"/>
                  </a:ext>
                </a:extLst>
              </a:tr>
              <a:tr h="722913">
                <a:tc>
                  <a:txBody>
                    <a:bodyPr/>
                    <a:lstStyle/>
                    <a:p>
                      <a:r>
                        <a:rPr lang="en-US" sz="1350" dirty="0">
                          <a:hlinkClick r:id="rId4" action="ppaction://hlinksldjump"/>
                        </a:rPr>
                        <a:t>[4]</a:t>
                      </a:r>
                      <a:endParaRPr sz="1350" dirty="0"/>
                    </a:p>
                  </a:txBody>
                  <a:tcPr/>
                </a:tc>
                <a:tc>
                  <a:txBody>
                    <a:bodyPr/>
                    <a:lstStyle/>
                    <a:p>
                      <a:r>
                        <a:rPr sz="1350" dirty="0"/>
                        <a:t>Sukanya &amp; Albert (2023)</a:t>
                      </a:r>
                    </a:p>
                  </a:txBody>
                  <a:tcPr/>
                </a:tc>
                <a:tc>
                  <a:txBody>
                    <a:bodyPr/>
                    <a:lstStyle/>
                    <a:p>
                      <a:r>
                        <a:rPr sz="1350" dirty="0"/>
                        <a:t>Predict Students Performance through ML</a:t>
                      </a:r>
                    </a:p>
                  </a:txBody>
                  <a:tcPr/>
                </a:tc>
                <a:tc>
                  <a:txBody>
                    <a:bodyPr/>
                    <a:lstStyle/>
                    <a:p>
                      <a:r>
                        <a:rPr sz="1350" dirty="0"/>
                        <a:t>Supervised ML models</a:t>
                      </a:r>
                    </a:p>
                  </a:txBody>
                  <a:tcPr/>
                </a:tc>
                <a:tc>
                  <a:txBody>
                    <a:bodyPr/>
                    <a:lstStyle/>
                    <a:p>
                      <a:r>
                        <a:rPr sz="1350" dirty="0"/>
                        <a:t>Demographic and academic attributes</a:t>
                      </a:r>
                    </a:p>
                  </a:txBody>
                  <a:tcPr/>
                </a:tc>
                <a:tc>
                  <a:txBody>
                    <a:bodyPr/>
                    <a:lstStyle/>
                    <a:p>
                      <a:r>
                        <a:rPr sz="1350" dirty="0"/>
                        <a:t>ML helps identify at‑risk students.</a:t>
                      </a:r>
                    </a:p>
                  </a:txBody>
                  <a:tcPr/>
                </a:tc>
                <a:extLst>
                  <a:ext uri="{0D108BD9-81ED-4DB2-BD59-A6C34878D82A}">
                    <a16:rowId xmlns:a16="http://schemas.microsoft.com/office/drawing/2014/main" val="10004"/>
                  </a:ext>
                </a:extLst>
              </a:tr>
              <a:tr h="993304">
                <a:tc>
                  <a:txBody>
                    <a:bodyPr/>
                    <a:lstStyle/>
                    <a:p>
                      <a:r>
                        <a:rPr lang="en-US" sz="1350" dirty="0">
                          <a:hlinkClick r:id="rId4" action="ppaction://hlinksldjump"/>
                        </a:rPr>
                        <a:t>[5]</a:t>
                      </a:r>
                      <a:endParaRPr sz="1350" dirty="0"/>
                    </a:p>
                  </a:txBody>
                  <a:tcPr/>
                </a:tc>
                <a:tc>
                  <a:txBody>
                    <a:bodyPr/>
                    <a:lstStyle/>
                    <a:p>
                      <a:r>
                        <a:rPr sz="1350" dirty="0"/>
                        <a:t>Lyu (2023)</a:t>
                      </a:r>
                    </a:p>
                  </a:txBody>
                  <a:tcPr/>
                </a:tc>
                <a:tc>
                  <a:txBody>
                    <a:bodyPr/>
                    <a:lstStyle/>
                    <a:p>
                      <a:r>
                        <a:rPr sz="1350" dirty="0"/>
                        <a:t>Academic Performance Prediction using Regression Models</a:t>
                      </a:r>
                    </a:p>
                  </a:txBody>
                  <a:tcPr/>
                </a:tc>
                <a:tc>
                  <a:txBody>
                    <a:bodyPr/>
                    <a:lstStyle/>
                    <a:p>
                      <a:r>
                        <a:rPr sz="1350" dirty="0"/>
                        <a:t>Random Forest Regression</a:t>
                      </a:r>
                    </a:p>
                  </a:txBody>
                  <a:tcPr/>
                </a:tc>
                <a:tc>
                  <a:txBody>
                    <a:bodyPr/>
                    <a:lstStyle/>
                    <a:p>
                      <a:r>
                        <a:rPr sz="1350" dirty="0"/>
                        <a:t>Student grades dataset</a:t>
                      </a:r>
                    </a:p>
                  </a:txBody>
                  <a:tcPr/>
                </a:tc>
                <a:tc>
                  <a:txBody>
                    <a:bodyPr/>
                    <a:lstStyle/>
                    <a:p>
                      <a:r>
                        <a:rPr sz="1350" dirty="0"/>
                        <a:t>Regression models effectively predict grades.</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71997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53977920-D9A8-01A8-5ECF-16688017282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6E6C4D3-1C0C-E013-C112-FF4DD2E156A4}"/>
              </a:ext>
            </a:extLst>
          </p:cNvPr>
          <p:cNvSpPr txBox="1"/>
          <p:nvPr/>
        </p:nvSpPr>
        <p:spPr>
          <a:xfrm>
            <a:off x="838200" y="185195"/>
            <a:ext cx="6720068" cy="569387"/>
          </a:xfrm>
          <a:prstGeom prst="rect">
            <a:avLst/>
          </a:prstGeom>
          <a:noFill/>
        </p:spPr>
        <p:txBody>
          <a:bodyPr wrap="square" rtlCol="0">
            <a:spAutoFit/>
          </a:bodyPr>
          <a:lstStyle/>
          <a:p>
            <a:r>
              <a:rPr lang="en-US" sz="3100" b="1" dirty="0"/>
              <a:t>Literature Review</a:t>
            </a:r>
          </a:p>
        </p:txBody>
      </p:sp>
      <p:graphicFrame>
        <p:nvGraphicFramePr>
          <p:cNvPr id="2" name="Table 1">
            <a:extLst>
              <a:ext uri="{FF2B5EF4-FFF2-40B4-BE49-F238E27FC236}">
                <a16:creationId xmlns:a16="http://schemas.microsoft.com/office/drawing/2014/main" id="{4D3E6182-8AFC-FD2A-2320-EA99AE27049C}"/>
              </a:ext>
            </a:extLst>
          </p:cNvPr>
          <p:cNvGraphicFramePr>
            <a:graphicFrameLocks noGrp="1"/>
          </p:cNvGraphicFramePr>
          <p:nvPr>
            <p:extLst>
              <p:ext uri="{D42A27DB-BD31-4B8C-83A1-F6EECF244321}">
                <p14:modId xmlns:p14="http://schemas.microsoft.com/office/powerpoint/2010/main" val="1648674512"/>
              </p:ext>
            </p:extLst>
          </p:nvPr>
        </p:nvGraphicFramePr>
        <p:xfrm>
          <a:off x="639097" y="1077352"/>
          <a:ext cx="10363199" cy="5651114"/>
        </p:xfrm>
        <a:graphic>
          <a:graphicData uri="http://schemas.openxmlformats.org/drawingml/2006/table">
            <a:tbl>
              <a:tblPr firstRow="1" bandRow="1">
                <a:tableStyleId>{5940675A-B579-460E-94D1-54222C63F5DA}</a:tableStyleId>
              </a:tblPr>
              <a:tblGrid>
                <a:gridCol w="793976">
                  <a:extLst>
                    <a:ext uri="{9D8B030D-6E8A-4147-A177-3AD203B41FA5}">
                      <a16:colId xmlns:a16="http://schemas.microsoft.com/office/drawing/2014/main" val="1143985094"/>
                    </a:ext>
                  </a:extLst>
                </a:gridCol>
                <a:gridCol w="1349976">
                  <a:extLst>
                    <a:ext uri="{9D8B030D-6E8A-4147-A177-3AD203B41FA5}">
                      <a16:colId xmlns:a16="http://schemas.microsoft.com/office/drawing/2014/main" val="20000"/>
                    </a:ext>
                  </a:extLst>
                </a:gridCol>
                <a:gridCol w="1956089">
                  <a:extLst>
                    <a:ext uri="{9D8B030D-6E8A-4147-A177-3AD203B41FA5}">
                      <a16:colId xmlns:a16="http://schemas.microsoft.com/office/drawing/2014/main" val="20001"/>
                    </a:ext>
                  </a:extLst>
                </a:gridCol>
                <a:gridCol w="1864253">
                  <a:extLst>
                    <a:ext uri="{9D8B030D-6E8A-4147-A177-3AD203B41FA5}">
                      <a16:colId xmlns:a16="http://schemas.microsoft.com/office/drawing/2014/main" val="20002"/>
                    </a:ext>
                  </a:extLst>
                </a:gridCol>
                <a:gridCol w="1992823">
                  <a:extLst>
                    <a:ext uri="{9D8B030D-6E8A-4147-A177-3AD203B41FA5}">
                      <a16:colId xmlns:a16="http://schemas.microsoft.com/office/drawing/2014/main" val="20003"/>
                    </a:ext>
                  </a:extLst>
                </a:gridCol>
                <a:gridCol w="2406082">
                  <a:extLst>
                    <a:ext uri="{9D8B030D-6E8A-4147-A177-3AD203B41FA5}">
                      <a16:colId xmlns:a16="http://schemas.microsoft.com/office/drawing/2014/main" val="20004"/>
                    </a:ext>
                  </a:extLst>
                </a:gridCol>
              </a:tblGrid>
              <a:tr h="283978">
                <a:tc>
                  <a:txBody>
                    <a:bodyPr/>
                    <a:lstStyle/>
                    <a:p>
                      <a:r>
                        <a:rPr lang="en-US" sz="1350" dirty="0"/>
                        <a:t>Ref no.</a:t>
                      </a:r>
                      <a:endParaRPr sz="1350" dirty="0"/>
                    </a:p>
                  </a:txBody>
                  <a:tcPr/>
                </a:tc>
                <a:tc>
                  <a:txBody>
                    <a:bodyPr/>
                    <a:lstStyle/>
                    <a:p>
                      <a:r>
                        <a:rPr sz="1350" dirty="0"/>
                        <a:t>Author/Year</a:t>
                      </a:r>
                    </a:p>
                  </a:txBody>
                  <a:tcPr/>
                </a:tc>
                <a:tc>
                  <a:txBody>
                    <a:bodyPr/>
                    <a:lstStyle/>
                    <a:p>
                      <a:r>
                        <a:rPr sz="1350"/>
                        <a:t>Title</a:t>
                      </a:r>
                    </a:p>
                  </a:txBody>
                  <a:tcPr/>
                </a:tc>
                <a:tc>
                  <a:txBody>
                    <a:bodyPr/>
                    <a:lstStyle/>
                    <a:p>
                      <a:r>
                        <a:rPr sz="1350" dirty="0"/>
                        <a:t>Method</a:t>
                      </a:r>
                    </a:p>
                  </a:txBody>
                  <a:tcPr/>
                </a:tc>
                <a:tc>
                  <a:txBody>
                    <a:bodyPr/>
                    <a:lstStyle/>
                    <a:p>
                      <a:r>
                        <a:rPr sz="1350" dirty="0"/>
                        <a:t>Dataset</a:t>
                      </a:r>
                    </a:p>
                  </a:txBody>
                  <a:tcPr/>
                </a:tc>
                <a:tc>
                  <a:txBody>
                    <a:bodyPr/>
                    <a:lstStyle/>
                    <a:p>
                      <a:r>
                        <a:rPr sz="1350"/>
                        <a:t>Key Finding</a:t>
                      </a:r>
                    </a:p>
                  </a:txBody>
                  <a:tcPr/>
                </a:tc>
                <a:extLst>
                  <a:ext uri="{0D108BD9-81ED-4DB2-BD59-A6C34878D82A}">
                    <a16:rowId xmlns:a16="http://schemas.microsoft.com/office/drawing/2014/main" val="10000"/>
                  </a:ext>
                </a:extLst>
              </a:tr>
              <a:tr h="1079114">
                <a:tc>
                  <a:txBody>
                    <a:bodyPr/>
                    <a:lstStyle/>
                    <a:p>
                      <a:r>
                        <a:rPr lang="en-US" sz="1350" dirty="0">
                          <a:hlinkClick r:id="rId4" action="ppaction://hlinksldjump"/>
                        </a:rPr>
                        <a:t>[6]</a:t>
                      </a:r>
                      <a:endParaRPr sz="1350" dirty="0"/>
                    </a:p>
                  </a:txBody>
                  <a:tcPr/>
                </a:tc>
                <a:tc>
                  <a:txBody>
                    <a:bodyPr/>
                    <a:lstStyle/>
                    <a:p>
                      <a:r>
                        <a:rPr lang="en-US" sz="1350" dirty="0"/>
                        <a:t>Cortez &amp; Silva(2008)</a:t>
                      </a:r>
                      <a:endParaRPr sz="1350" dirty="0"/>
                    </a:p>
                  </a:txBody>
                  <a:tcPr/>
                </a:tc>
                <a:tc>
                  <a:txBody>
                    <a:bodyPr/>
                    <a:lstStyle/>
                    <a:p>
                      <a:r>
                        <a:rPr lang="en-US" sz="1350" dirty="0"/>
                        <a:t>Using Data Mining to Predict Secondary School Student Performance</a:t>
                      </a:r>
                      <a:endParaRPr sz="1350" dirty="0"/>
                    </a:p>
                  </a:txBody>
                  <a:tcPr/>
                </a:tc>
                <a:tc>
                  <a:txBody>
                    <a:bodyPr/>
                    <a:lstStyle/>
                    <a:p>
                      <a:r>
                        <a:rPr lang="en-US" sz="1350" dirty="0"/>
                        <a:t>Decision Tree, Random Forest, Naïve Bayes</a:t>
                      </a:r>
                      <a:endParaRPr sz="1350" dirty="0"/>
                    </a:p>
                  </a:txBody>
                  <a:tcPr/>
                </a:tc>
                <a:tc>
                  <a:txBody>
                    <a:bodyPr/>
                    <a:lstStyle/>
                    <a:p>
                      <a:r>
                        <a:rPr lang="en-US" sz="1350" dirty="0"/>
                        <a:t>Portuguese secondary school dataset including grades, family background, and lifestyle attributes</a:t>
                      </a:r>
                      <a:endParaRPr sz="1350" dirty="0"/>
                    </a:p>
                  </a:txBody>
                  <a:tcPr/>
                </a:tc>
                <a:tc>
                  <a:txBody>
                    <a:bodyPr/>
                    <a:lstStyle/>
                    <a:p>
                      <a:r>
                        <a:rPr lang="en-US" sz="1350" dirty="0"/>
                        <a:t>Study showed that student grades, study time, and failures were the most important predictors of academic performance.</a:t>
                      </a:r>
                      <a:endParaRPr sz="1350" dirty="0"/>
                    </a:p>
                  </a:txBody>
                  <a:tcPr/>
                </a:tc>
                <a:extLst>
                  <a:ext uri="{0D108BD9-81ED-4DB2-BD59-A6C34878D82A}">
                    <a16:rowId xmlns:a16="http://schemas.microsoft.com/office/drawing/2014/main" val="10001"/>
                  </a:ext>
                </a:extLst>
              </a:tr>
              <a:tr h="1079114">
                <a:tc>
                  <a:txBody>
                    <a:bodyPr/>
                    <a:lstStyle/>
                    <a:p>
                      <a:r>
                        <a:rPr lang="en-US" sz="1350" dirty="0">
                          <a:hlinkClick r:id="rId4" action="ppaction://hlinksldjump"/>
                        </a:rPr>
                        <a:t>[7]</a:t>
                      </a:r>
                      <a:endParaRPr sz="1350" dirty="0"/>
                    </a:p>
                  </a:txBody>
                  <a:tcPr/>
                </a:tc>
                <a:tc>
                  <a:txBody>
                    <a:bodyPr/>
                    <a:lstStyle/>
                    <a:p>
                      <a:r>
                        <a:rPr lang="en-US" sz="1350" dirty="0"/>
                        <a:t>Romero &amp; Ventura(2010)</a:t>
                      </a:r>
                      <a:endParaRPr sz="1350" dirty="0"/>
                    </a:p>
                  </a:txBody>
                  <a:tcPr/>
                </a:tc>
                <a:tc>
                  <a:txBody>
                    <a:bodyPr/>
                    <a:lstStyle/>
                    <a:p>
                      <a:r>
                        <a:rPr lang="en-US" sz="1350" dirty="0"/>
                        <a:t>Educational Data Mining: A Review of the State of the Art</a:t>
                      </a:r>
                      <a:endParaRPr sz="1350" dirty="0"/>
                    </a:p>
                  </a:txBody>
                  <a:tcPr/>
                </a:tc>
                <a:tc>
                  <a:txBody>
                    <a:bodyPr/>
                    <a:lstStyle/>
                    <a:p>
                      <a:r>
                        <a:rPr lang="en-US" sz="1350" dirty="0"/>
                        <a:t>Various data mining and ML techniques</a:t>
                      </a:r>
                      <a:endParaRPr sz="1350" dirty="0"/>
                    </a:p>
                  </a:txBody>
                  <a:tcPr/>
                </a:tc>
                <a:tc>
                  <a:txBody>
                    <a:bodyPr/>
                    <a:lstStyle/>
                    <a:p>
                      <a:r>
                        <a:rPr lang="en-US" sz="1350" dirty="0"/>
                        <a:t>Multiple educational datasets including student activity logs and academic records</a:t>
                      </a:r>
                      <a:endParaRPr sz="1350" dirty="0"/>
                    </a:p>
                  </a:txBody>
                  <a:tcPr/>
                </a:tc>
                <a:tc>
                  <a:txBody>
                    <a:bodyPr/>
                    <a:lstStyle/>
                    <a:p>
                      <a:r>
                        <a:rPr lang="en-US" sz="1350" dirty="0"/>
                        <a:t>how data mining techniques can improve academic decision-making and student performance monitoring.</a:t>
                      </a:r>
                      <a:endParaRPr sz="1350" dirty="0"/>
                    </a:p>
                  </a:txBody>
                  <a:tcPr/>
                </a:tc>
                <a:extLst>
                  <a:ext uri="{0D108BD9-81ED-4DB2-BD59-A6C34878D82A}">
                    <a16:rowId xmlns:a16="http://schemas.microsoft.com/office/drawing/2014/main" val="10002"/>
                  </a:ext>
                </a:extLst>
              </a:tr>
              <a:tr h="880331">
                <a:tc>
                  <a:txBody>
                    <a:bodyPr/>
                    <a:lstStyle/>
                    <a:p>
                      <a:r>
                        <a:rPr lang="en-US" sz="1350" dirty="0">
                          <a:hlinkClick r:id="rId5" action="ppaction://hlinksldjump"/>
                        </a:rPr>
                        <a:t>[8]</a:t>
                      </a:r>
                      <a:endParaRPr sz="1350" dirty="0"/>
                    </a:p>
                  </a:txBody>
                  <a:tcPr/>
                </a:tc>
                <a:tc>
                  <a:txBody>
                    <a:bodyPr/>
                    <a:lstStyle/>
                    <a:p>
                      <a:r>
                        <a:rPr lang="en-US" sz="1350" dirty="0"/>
                        <a:t>Pandey &amp; Pal(2011)</a:t>
                      </a:r>
                      <a:endParaRPr sz="1350" dirty="0"/>
                    </a:p>
                  </a:txBody>
                  <a:tcPr/>
                </a:tc>
                <a:tc>
                  <a:txBody>
                    <a:bodyPr/>
                    <a:lstStyle/>
                    <a:p>
                      <a:r>
                        <a:rPr lang="en-US" sz="1350" dirty="0"/>
                        <a:t>A Data Mining View on Class Room Teaching Language</a:t>
                      </a:r>
                      <a:endParaRPr sz="1350" dirty="0"/>
                    </a:p>
                  </a:txBody>
                  <a:tcPr/>
                </a:tc>
                <a:tc>
                  <a:txBody>
                    <a:bodyPr/>
                    <a:lstStyle/>
                    <a:p>
                      <a:r>
                        <a:rPr lang="en-US" sz="1350" dirty="0"/>
                        <a:t>Naïve Bayes Classification</a:t>
                      </a:r>
                      <a:endParaRPr sz="1350" dirty="0"/>
                    </a:p>
                  </a:txBody>
                  <a:tcPr/>
                </a:tc>
                <a:tc>
                  <a:txBody>
                    <a:bodyPr/>
                    <a:lstStyle/>
                    <a:p>
                      <a:r>
                        <a:rPr lang="en-US" sz="1350" dirty="0"/>
                        <a:t>Student academic performance dataset</a:t>
                      </a:r>
                      <a:endParaRPr sz="1350" dirty="0"/>
                    </a:p>
                  </a:txBody>
                  <a:tcPr/>
                </a:tc>
                <a:tc>
                  <a:txBody>
                    <a:bodyPr/>
                    <a:lstStyle/>
                    <a:p>
                      <a:r>
                        <a:rPr lang="en-US" sz="1350" dirty="0"/>
                        <a:t>teaching language and classroom environment significantly influence student performance.</a:t>
                      </a:r>
                      <a:endParaRPr sz="1350" dirty="0"/>
                    </a:p>
                  </a:txBody>
                  <a:tcPr/>
                </a:tc>
                <a:extLst>
                  <a:ext uri="{0D108BD9-81ED-4DB2-BD59-A6C34878D82A}">
                    <a16:rowId xmlns:a16="http://schemas.microsoft.com/office/drawing/2014/main" val="10003"/>
                  </a:ext>
                </a:extLst>
              </a:tr>
              <a:tr h="1079114">
                <a:tc>
                  <a:txBody>
                    <a:bodyPr/>
                    <a:lstStyle/>
                    <a:p>
                      <a:r>
                        <a:rPr lang="en-US" sz="1350" dirty="0">
                          <a:hlinkClick r:id="rId5" action="ppaction://hlinksldjump"/>
                        </a:rPr>
                        <a:t>[9]</a:t>
                      </a:r>
                      <a:endParaRPr sz="1350" dirty="0"/>
                    </a:p>
                  </a:txBody>
                  <a:tcPr/>
                </a:tc>
                <a:tc>
                  <a:txBody>
                    <a:bodyPr/>
                    <a:lstStyle/>
                    <a:p>
                      <a:r>
                        <a:rPr lang="en-US" sz="1350" dirty="0"/>
                        <a:t>Hussain, Zhu, Zhang &amp; Abid(2018)</a:t>
                      </a:r>
                      <a:endParaRPr sz="1350" dirty="0"/>
                    </a:p>
                  </a:txBody>
                  <a:tcPr/>
                </a:tc>
                <a:tc>
                  <a:txBody>
                    <a:bodyPr/>
                    <a:lstStyle/>
                    <a:p>
                      <a:r>
                        <a:rPr lang="en-US" sz="1350" dirty="0"/>
                        <a:t>Student Academic Performance Prediction Using Supervised Machine Learning</a:t>
                      </a:r>
                      <a:endParaRPr sz="1350" dirty="0"/>
                    </a:p>
                  </a:txBody>
                  <a:tcPr/>
                </a:tc>
                <a:tc>
                  <a:txBody>
                    <a:bodyPr/>
                    <a:lstStyle/>
                    <a:p>
                      <a:r>
                        <a:rPr lang="en-US" sz="1350" dirty="0"/>
                        <a:t>Logistic Regression, Decision Tree, Random Forest</a:t>
                      </a:r>
                      <a:endParaRPr sz="1350" dirty="0"/>
                    </a:p>
                  </a:txBody>
                  <a:tcPr/>
                </a:tc>
                <a:tc>
                  <a:txBody>
                    <a:bodyPr/>
                    <a:lstStyle/>
                    <a:p>
                      <a:r>
                        <a:rPr lang="en-US" sz="1350" dirty="0"/>
                        <a:t>University student academic dataset including attendance, quizzes, and assignments</a:t>
                      </a:r>
                      <a:endParaRPr sz="1350" dirty="0"/>
                    </a:p>
                  </a:txBody>
                  <a:tcPr/>
                </a:tc>
                <a:tc>
                  <a:txBody>
                    <a:bodyPr/>
                    <a:lstStyle/>
                    <a:p>
                      <a:r>
                        <a:rPr lang="en-US" sz="1350" dirty="0"/>
                        <a:t>Random Forest achieved the highest accuracy in predicting student academic outcomes.</a:t>
                      </a:r>
                      <a:endParaRPr sz="1350" dirty="0"/>
                    </a:p>
                  </a:txBody>
                  <a:tcPr/>
                </a:tc>
                <a:extLst>
                  <a:ext uri="{0D108BD9-81ED-4DB2-BD59-A6C34878D82A}">
                    <a16:rowId xmlns:a16="http://schemas.microsoft.com/office/drawing/2014/main" val="10004"/>
                  </a:ext>
                </a:extLst>
              </a:tr>
              <a:tr h="1079114">
                <a:tc>
                  <a:txBody>
                    <a:bodyPr/>
                    <a:lstStyle/>
                    <a:p>
                      <a:r>
                        <a:rPr lang="en-US" sz="1350" dirty="0">
                          <a:hlinkClick r:id="rId5" action="ppaction://hlinksldjump"/>
                        </a:rPr>
                        <a:t>[10]</a:t>
                      </a:r>
                      <a:endParaRPr sz="1350" dirty="0"/>
                    </a:p>
                  </a:txBody>
                  <a:tcPr/>
                </a:tc>
                <a:tc>
                  <a:txBody>
                    <a:bodyPr/>
                    <a:lstStyle/>
                    <a:p>
                      <a:r>
                        <a:rPr lang="en-US" sz="1350" dirty="0"/>
                        <a:t>Abu Saa(2016)</a:t>
                      </a:r>
                      <a:endParaRPr sz="1350" dirty="0"/>
                    </a:p>
                  </a:txBody>
                  <a:tcPr/>
                </a:tc>
                <a:tc>
                  <a:txBody>
                    <a:bodyPr/>
                    <a:lstStyle/>
                    <a:p>
                      <a:r>
                        <a:rPr lang="en-US" sz="1350" dirty="0"/>
                        <a:t>Educational Data Mining &amp; Students Performance Prediction</a:t>
                      </a:r>
                      <a:endParaRPr sz="1350" dirty="0"/>
                    </a:p>
                  </a:txBody>
                  <a:tcPr/>
                </a:tc>
                <a:tc>
                  <a:txBody>
                    <a:bodyPr/>
                    <a:lstStyle/>
                    <a:p>
                      <a:r>
                        <a:rPr lang="en-US" sz="1350" dirty="0"/>
                        <a:t>Artificial Neural Networks</a:t>
                      </a:r>
                      <a:endParaRPr sz="1350" dirty="0"/>
                    </a:p>
                  </a:txBody>
                  <a:tcPr/>
                </a:tc>
                <a:tc>
                  <a:txBody>
                    <a:bodyPr/>
                    <a:lstStyle/>
                    <a:p>
                      <a:r>
                        <a:rPr lang="en-US" sz="1350" dirty="0"/>
                        <a:t>Student academic dataset with demographic and academic attributes</a:t>
                      </a:r>
                      <a:endParaRPr sz="1350" dirty="0"/>
                    </a:p>
                  </a:txBody>
                  <a:tcPr/>
                </a:tc>
                <a:tc>
                  <a:txBody>
                    <a:bodyPr/>
                    <a:lstStyle/>
                    <a:p>
                      <a:r>
                        <a:rPr lang="en-US" sz="1350" dirty="0"/>
                        <a:t>Neural networks were effective in identifying patterns that influence student performance and dropout risk.</a:t>
                      </a:r>
                      <a:endParaRPr sz="135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18551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8378DE46-5E13-D3F0-41CD-FEB23842553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F02416-A3E9-6B7C-535A-6F0C015C6D9A}"/>
              </a:ext>
            </a:extLst>
          </p:cNvPr>
          <p:cNvSpPr txBox="1"/>
          <p:nvPr/>
        </p:nvSpPr>
        <p:spPr>
          <a:xfrm>
            <a:off x="416690" y="127322"/>
            <a:ext cx="6690168" cy="769441"/>
          </a:xfrm>
          <a:prstGeom prst="rect">
            <a:avLst/>
          </a:prstGeom>
          <a:noFill/>
        </p:spPr>
        <p:txBody>
          <a:bodyPr wrap="square" rtlCol="0">
            <a:spAutoFit/>
          </a:bodyPr>
          <a:lstStyle/>
          <a:p>
            <a:r>
              <a:rPr kumimoji="0" lang="en-US" sz="44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Project Objectives</a:t>
            </a:r>
            <a:endParaRPr lang="en-US" dirty="0"/>
          </a:p>
        </p:txBody>
      </p:sp>
      <p:sp>
        <p:nvSpPr>
          <p:cNvPr id="3" name="TextBox 2">
            <a:extLst>
              <a:ext uri="{FF2B5EF4-FFF2-40B4-BE49-F238E27FC236}">
                <a16:creationId xmlns:a16="http://schemas.microsoft.com/office/drawing/2014/main" id="{26BF84B8-03A2-0A50-1742-5FBA9F6E3216}"/>
              </a:ext>
            </a:extLst>
          </p:cNvPr>
          <p:cNvSpPr txBox="1"/>
          <p:nvPr/>
        </p:nvSpPr>
        <p:spPr>
          <a:xfrm>
            <a:off x="416690" y="1643605"/>
            <a:ext cx="11088545" cy="2028248"/>
          </a:xfrm>
          <a:prstGeom prst="rect">
            <a:avLst/>
          </a:prstGeom>
          <a:noFill/>
        </p:spPr>
        <p:txBody>
          <a:bodyPr wrap="square" rtlCol="0">
            <a:spAutoFit/>
          </a:bodyPr>
          <a:lstStyle/>
          <a:p>
            <a:pPr marL="114300" marR="0" lvl="0" algn="l" defTabSz="914400" rtl="0" eaLnBrk="1" fontAlgn="auto" latinLnBrk="0" hangingPunct="1">
              <a:lnSpc>
                <a:spcPct val="90000"/>
              </a:lnSpc>
              <a:spcBef>
                <a:spcPts val="1000"/>
              </a:spcBef>
              <a:spcAft>
                <a:spcPts val="0"/>
              </a:spcAft>
              <a:buClr>
                <a:srgbClr val="000000"/>
              </a:buClr>
              <a:buSzPts val="1800"/>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 Analyze student dataset</a:t>
            </a:r>
          </a:p>
          <a:p>
            <a:pPr marL="114300" marR="0" lvl="0" algn="l" defTabSz="914400" rtl="0" eaLnBrk="1" fontAlgn="auto" latinLnBrk="0" hangingPunct="1">
              <a:lnSpc>
                <a:spcPct val="90000"/>
              </a:lnSpc>
              <a:spcBef>
                <a:spcPts val="1000"/>
              </a:spcBef>
              <a:spcAft>
                <a:spcPts val="0"/>
              </a:spcAft>
              <a:buClr>
                <a:srgbClr val="000000"/>
              </a:buClr>
              <a:buSzPts val="1800"/>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 Identify important factors affecting student performance</a:t>
            </a:r>
          </a:p>
          <a:p>
            <a:pPr marL="114300" marR="0" lvl="0" algn="l" defTabSz="914400" rtl="0" eaLnBrk="1" fontAlgn="auto" latinLnBrk="0" hangingPunct="1">
              <a:lnSpc>
                <a:spcPct val="90000"/>
              </a:lnSpc>
              <a:spcBef>
                <a:spcPts val="1000"/>
              </a:spcBef>
              <a:spcAft>
                <a:spcPts val="0"/>
              </a:spcAft>
              <a:buClr>
                <a:srgbClr val="000000"/>
              </a:buClr>
              <a:buSzPts val="1800"/>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 Apply Machine Learning algorithms</a:t>
            </a:r>
          </a:p>
          <a:p>
            <a:pPr marL="114300" marR="0" lvl="0" algn="l" defTabSz="914400" rtl="0" eaLnBrk="1" fontAlgn="auto" latinLnBrk="0" hangingPunct="1">
              <a:lnSpc>
                <a:spcPct val="90000"/>
              </a:lnSpc>
              <a:spcBef>
                <a:spcPts val="1000"/>
              </a:spcBef>
              <a:spcAft>
                <a:spcPts val="0"/>
              </a:spcAft>
              <a:buClr>
                <a:srgbClr val="000000"/>
              </a:buClr>
              <a:buSzPts val="1800"/>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 Predict student GradeClass or GPA</a:t>
            </a:r>
          </a:p>
        </p:txBody>
      </p:sp>
    </p:spTree>
    <p:extLst>
      <p:ext uri="{BB962C8B-B14F-4D97-AF65-F5344CB8AC3E}">
        <p14:creationId xmlns:p14="http://schemas.microsoft.com/office/powerpoint/2010/main" val="1893336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88FC7D89-0828-2378-73F8-5DD897DEA4FF}"/>
            </a:ext>
          </a:extLst>
        </p:cNvPr>
        <p:cNvGrpSpPr/>
        <p:nvPr/>
      </p:nvGrpSpPr>
      <p:grpSpPr>
        <a:xfrm>
          <a:off x="0" y="0"/>
          <a:ext cx="0" cy="0"/>
          <a:chOff x="0" y="0"/>
          <a:chExt cx="0" cy="0"/>
        </a:xfrm>
      </p:grpSpPr>
      <p:sp>
        <p:nvSpPr>
          <p:cNvPr id="4" name="Text Placeholder 2">
            <a:extLst>
              <a:ext uri="{FF2B5EF4-FFF2-40B4-BE49-F238E27FC236}">
                <a16:creationId xmlns:a16="http://schemas.microsoft.com/office/drawing/2014/main" id="{B4A85D82-1654-CA9A-C2FD-813B3BB42A99}"/>
              </a:ext>
            </a:extLst>
          </p:cNvPr>
          <p:cNvSpPr>
            <a:spLocks noGrp="1"/>
          </p:cNvSpPr>
          <p:nvPr>
            <p:ph type="body" idx="1"/>
          </p:nvPr>
        </p:nvSpPr>
        <p:spPr>
          <a:xfrm>
            <a:off x="838200" y="1652748"/>
            <a:ext cx="10515600" cy="4351338"/>
          </a:xfrm>
        </p:spPr>
        <p:txBody>
          <a:bodyPr/>
          <a:lstStyle/>
          <a:p>
            <a:pPr marL="114300" indent="0">
              <a:buNone/>
            </a:pPr>
            <a:r>
              <a:rPr dirty="0"/>
              <a:t>1. Data Collection</a:t>
            </a:r>
          </a:p>
          <a:p>
            <a:pPr marL="114300" indent="0">
              <a:buNone/>
            </a:pPr>
            <a:r>
              <a:rPr dirty="0"/>
              <a:t>2. Data Preprocessing</a:t>
            </a:r>
          </a:p>
          <a:p>
            <a:pPr marL="114300" indent="0">
              <a:buNone/>
            </a:pPr>
            <a:r>
              <a:rPr dirty="0"/>
              <a:t>3. Exploratory Data Analysis</a:t>
            </a:r>
          </a:p>
          <a:p>
            <a:pPr marL="114300" indent="0">
              <a:buNone/>
            </a:pPr>
            <a:r>
              <a:rPr dirty="0"/>
              <a:t>4. Feature Selection</a:t>
            </a:r>
          </a:p>
          <a:p>
            <a:pPr marL="114300" indent="0">
              <a:buNone/>
            </a:pPr>
            <a:r>
              <a:rPr dirty="0"/>
              <a:t>5. Model Training </a:t>
            </a:r>
            <a:r>
              <a:rPr lang="en-US" dirty="0"/>
              <a:t>(Using Linear Regression</a:t>
            </a:r>
            <a:r>
              <a:rPr dirty="0"/>
              <a:t>)</a:t>
            </a:r>
          </a:p>
          <a:p>
            <a:pPr marL="114300" indent="0">
              <a:buNone/>
            </a:pPr>
            <a:r>
              <a:rPr dirty="0"/>
              <a:t>6. Model Evaluation</a:t>
            </a:r>
          </a:p>
        </p:txBody>
      </p:sp>
      <p:sp>
        <p:nvSpPr>
          <p:cNvPr id="6" name="TextBox 5">
            <a:extLst>
              <a:ext uri="{FF2B5EF4-FFF2-40B4-BE49-F238E27FC236}">
                <a16:creationId xmlns:a16="http://schemas.microsoft.com/office/drawing/2014/main" id="{6319E7A0-387E-CE13-7C4E-19D54AB59447}"/>
              </a:ext>
            </a:extLst>
          </p:cNvPr>
          <p:cNvSpPr txBox="1"/>
          <p:nvPr/>
        </p:nvSpPr>
        <p:spPr>
          <a:xfrm>
            <a:off x="838200" y="185195"/>
            <a:ext cx="4983866" cy="615553"/>
          </a:xfrm>
          <a:prstGeom prst="rect">
            <a:avLst/>
          </a:prstGeom>
          <a:noFill/>
        </p:spPr>
        <p:txBody>
          <a:bodyPr wrap="square" rtlCol="0">
            <a:spAutoFit/>
          </a:bodyPr>
          <a:lstStyle/>
          <a:p>
            <a:r>
              <a:rPr lang="en-US" sz="3400" dirty="0"/>
              <a:t>Proposed</a:t>
            </a:r>
            <a:r>
              <a:rPr lang="en-US" sz="3400" b="1" dirty="0"/>
              <a:t> </a:t>
            </a:r>
            <a:r>
              <a:rPr lang="en-US" sz="3400" dirty="0"/>
              <a:t>Methodology</a:t>
            </a:r>
          </a:p>
        </p:txBody>
      </p:sp>
    </p:spTree>
    <p:extLst>
      <p:ext uri="{BB962C8B-B14F-4D97-AF65-F5344CB8AC3E}">
        <p14:creationId xmlns:p14="http://schemas.microsoft.com/office/powerpoint/2010/main" val="2068113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894298CB-6604-6C96-61F8-26C4E25BA69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2EC5703-035E-76BD-24DF-3D5DA428A1CD}"/>
              </a:ext>
            </a:extLst>
          </p:cNvPr>
          <p:cNvSpPr txBox="1"/>
          <p:nvPr/>
        </p:nvSpPr>
        <p:spPr>
          <a:xfrm>
            <a:off x="428263" y="138897"/>
            <a:ext cx="7106856" cy="769441"/>
          </a:xfrm>
          <a:prstGeom prst="rect">
            <a:avLst/>
          </a:prstGeom>
          <a:noFill/>
        </p:spPr>
        <p:txBody>
          <a:bodyPr wrap="square" rtlCol="0">
            <a:spAutoFit/>
          </a:bodyPr>
          <a:lstStyle/>
          <a:p>
            <a:r>
              <a:rPr kumimoji="0" lang="en-US" sz="4400" b="0" i="0" u="none" strike="noStrike" kern="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Dataset Description</a:t>
            </a:r>
            <a:endParaRPr lang="en-US" dirty="0"/>
          </a:p>
        </p:txBody>
      </p:sp>
      <p:sp>
        <p:nvSpPr>
          <p:cNvPr id="3" name="TextBox 2">
            <a:extLst>
              <a:ext uri="{FF2B5EF4-FFF2-40B4-BE49-F238E27FC236}">
                <a16:creationId xmlns:a16="http://schemas.microsoft.com/office/drawing/2014/main" id="{2180022D-5BDF-2A1C-5DD2-F8E5CF9EC4EC}"/>
              </a:ext>
            </a:extLst>
          </p:cNvPr>
          <p:cNvSpPr txBox="1"/>
          <p:nvPr/>
        </p:nvSpPr>
        <p:spPr>
          <a:xfrm>
            <a:off x="644387" y="1170892"/>
            <a:ext cx="8902736" cy="5052927"/>
          </a:xfrm>
          <a:prstGeom prst="rect">
            <a:avLst/>
          </a:prstGeom>
          <a:noFill/>
        </p:spPr>
        <p:txBody>
          <a:bodyPr wrap="square" numCol="2" rtlCol="0">
            <a:spAutoFit/>
          </a:bodyPr>
          <a:lstStyle/>
          <a:p>
            <a:pPr marL="457200" marR="0" lvl="0" indent="-342900" defTabSz="914400" rtl="0" eaLnBrk="1" fontAlgn="auto" latinLnBrk="0" hangingPunct="1">
              <a:lnSpc>
                <a:spcPct val="90000"/>
              </a:lnSpc>
              <a:spcBef>
                <a:spcPts val="1000"/>
              </a:spcBef>
              <a:spcAft>
                <a:spcPts val="0"/>
              </a:spcAft>
              <a:buClr>
                <a:srgbClr val="000000"/>
              </a:buClr>
              <a:buSzPts val="1800"/>
              <a:buFont typeface="Arial" panose="020B0604020202020204"/>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Dataset includes features such as</a:t>
            </a:r>
          </a:p>
          <a:p>
            <a:pPr marL="571500" marR="0" lvl="0" indent="-457200" defTabSz="914400" rtl="0" eaLnBrk="1" fontAlgn="auto" latinLnBrk="0" hangingPunct="1">
              <a:lnSpc>
                <a:spcPct val="90000"/>
              </a:lnSpc>
              <a:spcBef>
                <a:spcPts val="1000"/>
              </a:spcBef>
              <a:spcAft>
                <a:spcPts val="0"/>
              </a:spcAft>
              <a:buClr>
                <a:srgbClr val="000000"/>
              </a:buClr>
              <a:buSzPts val="1800"/>
              <a:buFont typeface="+mj-lt"/>
              <a:buAutoNum type="arabicPeriod"/>
              <a:tabLst/>
              <a:defRPr/>
            </a:pPr>
            <a:r>
              <a:rPr lang="en-US" sz="2000" dirty="0">
                <a:latin typeface="Calibri" panose="020F0502020204030204"/>
                <a:ea typeface="Calibri" panose="020F0502020204030204"/>
                <a:cs typeface="Calibri" panose="020F0502020204030204"/>
                <a:sym typeface="Calibri" panose="020F0502020204030204"/>
              </a:rPr>
              <a:t>Age</a:t>
            </a:r>
          </a:p>
          <a:p>
            <a:pPr marL="571500" marR="0" lvl="0" indent="-457200" defTabSz="914400" rtl="0" eaLnBrk="1" fontAlgn="auto" latinLnBrk="0" hangingPunct="1">
              <a:lnSpc>
                <a:spcPct val="90000"/>
              </a:lnSpc>
              <a:spcBef>
                <a:spcPts val="1000"/>
              </a:spcBef>
              <a:spcAft>
                <a:spcPts val="0"/>
              </a:spcAft>
              <a:buClr>
                <a:srgbClr val="000000"/>
              </a:buClr>
              <a:buSzPts val="1800"/>
              <a:buFont typeface="+mj-lt"/>
              <a:buAutoNum type="arabicPeriod"/>
              <a:tabLst/>
              <a:defRPr/>
            </a:pPr>
            <a:r>
              <a:rPr lang="en-US" sz="2000" dirty="0">
                <a:latin typeface="Calibri" panose="020F0502020204030204"/>
                <a:ea typeface="Calibri" panose="020F0502020204030204"/>
                <a:cs typeface="Calibri" panose="020F0502020204030204"/>
                <a:sym typeface="Calibri" panose="020F0502020204030204"/>
              </a:rPr>
              <a:t>Student ID</a:t>
            </a:r>
          </a:p>
          <a:p>
            <a:pPr marL="571500" marR="0" lvl="0" indent="-457200" defTabSz="914400" rtl="0" eaLnBrk="1" fontAlgn="auto" latinLnBrk="0" hangingPunct="1">
              <a:lnSpc>
                <a:spcPct val="90000"/>
              </a:lnSpc>
              <a:spcBef>
                <a:spcPts val="1000"/>
              </a:spcBef>
              <a:spcAft>
                <a:spcPts val="0"/>
              </a:spcAft>
              <a:buClr>
                <a:srgbClr val="000000"/>
              </a:buClr>
              <a:buSzPts val="1800"/>
              <a:buFont typeface="+mj-lt"/>
              <a:buAutoNum type="arabicPeriod"/>
              <a:tabLst/>
              <a:defRPr/>
            </a:pPr>
            <a:r>
              <a:rPr lang="en-US" sz="2000" dirty="0">
                <a:latin typeface="Calibri" panose="020F0502020204030204"/>
                <a:ea typeface="Calibri" panose="020F0502020204030204"/>
                <a:cs typeface="Calibri" panose="020F0502020204030204"/>
                <a:sym typeface="Calibri" panose="020F0502020204030204"/>
              </a:rPr>
              <a:t>Gender </a:t>
            </a:r>
          </a:p>
          <a:p>
            <a:pPr marL="571500" lvl="0" indent="-457200">
              <a:lnSpc>
                <a:spcPct val="90000"/>
              </a:lnSpc>
              <a:spcBef>
                <a:spcPts val="1000"/>
              </a:spcBef>
              <a:buSzPts val="1800"/>
              <a:buFont typeface="+mj-lt"/>
              <a:buAutoNum type="arabicPeriod"/>
              <a:defRPr/>
            </a:pPr>
            <a:r>
              <a:rPr lang="en-US" sz="2000" dirty="0">
                <a:latin typeface="Calibri" panose="020F0502020204030204" pitchFamily="34" charset="0"/>
                <a:ea typeface="Calibri" panose="020F0502020204030204" pitchFamily="34" charset="0"/>
                <a:cs typeface="Calibri" panose="020F0502020204030204" pitchFamily="34" charset="0"/>
              </a:rPr>
              <a:t>Ethnicity</a:t>
            </a:r>
          </a:p>
          <a:p>
            <a:pPr marL="571500" indent="-457200">
              <a:lnSpc>
                <a:spcPct val="90000"/>
              </a:lnSpc>
              <a:spcBef>
                <a:spcPts val="1000"/>
              </a:spcBef>
              <a:buSzPts val="1800"/>
              <a:buFont typeface="+mj-lt"/>
              <a:buAutoNum type="arabicPeriod"/>
              <a:defRPr/>
            </a:pPr>
            <a:r>
              <a:rPr lang="en-US" sz="2000" dirty="0">
                <a:latin typeface="Calibri" panose="020F0502020204030204"/>
                <a:ea typeface="Calibri" panose="020F0502020204030204"/>
                <a:cs typeface="Calibri" panose="020F0502020204030204"/>
                <a:sym typeface="Calibri" panose="020F0502020204030204"/>
              </a:rPr>
              <a:t>Parental Education</a:t>
            </a:r>
            <a:endParaRPr lang="en-US" sz="2000" dirty="0">
              <a:latin typeface="Calibri" panose="020F0502020204030204" pitchFamily="34" charset="0"/>
              <a:ea typeface="Calibri" panose="020F0502020204030204" pitchFamily="34" charset="0"/>
              <a:cs typeface="Calibri" panose="020F0502020204030204" pitchFamily="34" charset="0"/>
              <a:sym typeface="Calibri" panose="020F0502020204030204"/>
            </a:endParaRPr>
          </a:p>
          <a:p>
            <a:pPr marL="571500" marR="0" lvl="0" indent="-457200" defTabSz="914400" rtl="0" eaLnBrk="1" fontAlgn="auto" latinLnBrk="0" hangingPunct="1">
              <a:lnSpc>
                <a:spcPct val="90000"/>
              </a:lnSpc>
              <a:spcBef>
                <a:spcPts val="1000"/>
              </a:spcBef>
              <a:spcAft>
                <a:spcPts val="0"/>
              </a:spcAft>
              <a:buClr>
                <a:srgbClr val="000000"/>
              </a:buClr>
              <a:buSzPts val="1800"/>
              <a:buFont typeface="+mj-lt"/>
              <a:buAutoNum type="arabicPeriod"/>
              <a:tabLst/>
              <a:defRPr/>
            </a:pPr>
            <a:r>
              <a:rPr lang="en-US" sz="2000" dirty="0">
                <a:latin typeface="Calibri" panose="020F0502020204030204"/>
                <a:ea typeface="Calibri" panose="020F0502020204030204"/>
                <a:cs typeface="Calibri" panose="020F0502020204030204"/>
                <a:sym typeface="Calibri" panose="020F0502020204030204"/>
              </a:rPr>
              <a:t>Study Time Weekly</a:t>
            </a:r>
          </a:p>
          <a:p>
            <a:pPr marL="571500" marR="0" lvl="0" indent="-457200" defTabSz="914400" rtl="0" eaLnBrk="1" fontAlgn="auto" latinLnBrk="0" hangingPunct="1">
              <a:lnSpc>
                <a:spcPct val="90000"/>
              </a:lnSpc>
              <a:spcBef>
                <a:spcPts val="1000"/>
              </a:spcBef>
              <a:spcAft>
                <a:spcPts val="0"/>
              </a:spcAft>
              <a:buClr>
                <a:srgbClr val="000000"/>
              </a:buClr>
              <a:buSzPts val="1800"/>
              <a:buFont typeface="+mj-lt"/>
              <a:buAutoNum type="arabicPeriod"/>
              <a:tabLst/>
              <a:defRPr/>
            </a:pPr>
            <a:r>
              <a:rPr lang="en-US" sz="2000" dirty="0">
                <a:latin typeface="Calibri" panose="020F0502020204030204"/>
                <a:ea typeface="Calibri" panose="020F0502020204030204"/>
                <a:cs typeface="Calibri" panose="020F0502020204030204"/>
                <a:sym typeface="Calibri" panose="020F0502020204030204"/>
              </a:rPr>
              <a:t>Absences</a:t>
            </a:r>
          </a:p>
          <a:p>
            <a:pPr marL="571500" marR="0" lvl="0" indent="-457200" defTabSz="914400" rtl="0" eaLnBrk="1" fontAlgn="auto" latinLnBrk="0" hangingPunct="1">
              <a:lnSpc>
                <a:spcPct val="90000"/>
              </a:lnSpc>
              <a:spcBef>
                <a:spcPts val="1000"/>
              </a:spcBef>
              <a:spcAft>
                <a:spcPts val="0"/>
              </a:spcAft>
              <a:buClr>
                <a:srgbClr val="000000"/>
              </a:buClr>
              <a:buSzPts val="1800"/>
              <a:buFont typeface="+mj-lt"/>
              <a:buAutoNum type="arabicPeriod"/>
              <a:tabLst/>
              <a:defRPr/>
            </a:pPr>
            <a:r>
              <a:rPr lang="en-US" sz="2000" dirty="0">
                <a:latin typeface="Calibri" panose="020F0502020204030204"/>
                <a:ea typeface="Calibri" panose="020F0502020204030204"/>
                <a:cs typeface="Calibri" panose="020F0502020204030204"/>
                <a:sym typeface="Calibri" panose="020F0502020204030204"/>
              </a:rPr>
              <a:t>Tutoring </a:t>
            </a:r>
          </a:p>
          <a:p>
            <a:pPr marL="571500" lvl="0" indent="-457200">
              <a:lnSpc>
                <a:spcPct val="90000"/>
              </a:lnSpc>
              <a:spcBef>
                <a:spcPts val="1000"/>
              </a:spcBef>
              <a:buSzPts val="1800"/>
              <a:buFont typeface="+mj-lt"/>
              <a:buAutoNum type="arabicPeriod"/>
              <a:defRPr/>
            </a:pPr>
            <a:r>
              <a:rPr lang="en-US" sz="2000" dirty="0" err="1">
                <a:latin typeface="Calibri" panose="020F0502020204030204" pitchFamily="34" charset="0"/>
                <a:ea typeface="Calibri" panose="020F0502020204030204" pitchFamily="34" charset="0"/>
                <a:cs typeface="Calibri" panose="020F0502020204030204" pitchFamily="34" charset="0"/>
              </a:rPr>
              <a:t>ParentalSupport</a:t>
            </a:r>
            <a:endParaRPr lang="en-US" sz="2000" dirty="0">
              <a:latin typeface="Calibri" panose="020F0502020204030204" pitchFamily="34" charset="0"/>
              <a:ea typeface="Calibri" panose="020F0502020204030204" pitchFamily="34" charset="0"/>
              <a:cs typeface="Calibri" panose="020F0502020204030204" pitchFamily="34" charset="0"/>
              <a:sym typeface="Calibri" panose="020F0502020204030204"/>
            </a:endParaRPr>
          </a:p>
          <a:p>
            <a:pPr marL="571500" lvl="0" indent="-457200">
              <a:lnSpc>
                <a:spcPct val="90000"/>
              </a:lnSpc>
              <a:spcBef>
                <a:spcPts val="1000"/>
              </a:spcBef>
              <a:buSzPts val="1800"/>
              <a:buFont typeface="+mj-lt"/>
              <a:buAutoNum type="arabicPeriod"/>
              <a:defRPr/>
            </a:pPr>
            <a:r>
              <a:rPr lang="en-US" sz="2000" dirty="0">
                <a:latin typeface="Calibri" panose="020F0502020204030204"/>
                <a:ea typeface="Calibri" panose="020F0502020204030204"/>
                <a:cs typeface="Calibri" panose="020F0502020204030204"/>
                <a:sym typeface="Calibri" panose="020F0502020204030204"/>
              </a:rPr>
              <a:t>Extracurricular activities</a:t>
            </a:r>
          </a:p>
          <a:p>
            <a:pPr marL="571500" lvl="0" indent="-457200">
              <a:lnSpc>
                <a:spcPct val="90000"/>
              </a:lnSpc>
              <a:spcBef>
                <a:spcPts val="1000"/>
              </a:spcBef>
              <a:buSzPts val="1800"/>
              <a:buFont typeface="+mj-lt"/>
              <a:buAutoNum type="arabicPeriod"/>
              <a:defRPr/>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571500" lvl="0" indent="-457200">
              <a:lnSpc>
                <a:spcPct val="90000"/>
              </a:lnSpc>
              <a:spcBef>
                <a:spcPts val="1000"/>
              </a:spcBef>
              <a:buSzPts val="1800"/>
              <a:buFont typeface="+mj-lt"/>
              <a:buAutoNum type="arabicPeriod"/>
              <a:defRPr/>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571500" lvl="0" indent="-457200">
              <a:lnSpc>
                <a:spcPct val="90000"/>
              </a:lnSpc>
              <a:spcBef>
                <a:spcPts val="1000"/>
              </a:spcBef>
              <a:buSzPts val="1800"/>
              <a:buFont typeface="+mj-lt"/>
              <a:buAutoNum type="arabicPeriod"/>
              <a:defRPr/>
            </a:pPr>
            <a:r>
              <a:rPr lang="en-US" sz="2000" dirty="0">
                <a:latin typeface="Calibri" panose="020F0502020204030204" pitchFamily="34" charset="0"/>
                <a:ea typeface="Calibri" panose="020F0502020204030204" pitchFamily="34" charset="0"/>
                <a:cs typeface="Calibri" panose="020F0502020204030204" pitchFamily="34" charset="0"/>
              </a:rPr>
              <a:t>Sports</a:t>
            </a:r>
          </a:p>
          <a:p>
            <a:pPr marL="571500" lvl="0" indent="-457200">
              <a:lnSpc>
                <a:spcPct val="90000"/>
              </a:lnSpc>
              <a:spcBef>
                <a:spcPts val="1000"/>
              </a:spcBef>
              <a:buSzPts val="1800"/>
              <a:buFont typeface="+mj-lt"/>
              <a:buAutoNum type="arabicPeriod"/>
              <a:defRPr/>
            </a:pPr>
            <a:r>
              <a:rPr lang="en-US" sz="2000" dirty="0">
                <a:latin typeface="Calibri" panose="020F0502020204030204" pitchFamily="34" charset="0"/>
                <a:ea typeface="Calibri" panose="020F0502020204030204" pitchFamily="34" charset="0"/>
                <a:cs typeface="Calibri" panose="020F0502020204030204" pitchFamily="34" charset="0"/>
              </a:rPr>
              <a:t>Music</a:t>
            </a:r>
          </a:p>
          <a:p>
            <a:pPr marL="571500" lvl="0" indent="-457200">
              <a:lnSpc>
                <a:spcPct val="90000"/>
              </a:lnSpc>
              <a:spcBef>
                <a:spcPts val="1000"/>
              </a:spcBef>
              <a:buSzPts val="1800"/>
              <a:buFont typeface="+mj-lt"/>
              <a:buAutoNum type="arabicPeriod"/>
              <a:defRPr/>
            </a:pPr>
            <a:r>
              <a:rPr lang="en-US" sz="2000" dirty="0">
                <a:latin typeface="Calibri" panose="020F0502020204030204" pitchFamily="34" charset="0"/>
                <a:ea typeface="Calibri" panose="020F0502020204030204" pitchFamily="34" charset="0"/>
                <a:cs typeface="Calibri" panose="020F0502020204030204" pitchFamily="34" charset="0"/>
              </a:rPr>
              <a:t>Volunteering</a:t>
            </a:r>
            <a:endParaRPr lang="en-US" sz="2000" dirty="0">
              <a:latin typeface="Calibri" panose="020F0502020204030204" pitchFamily="34" charset="0"/>
              <a:ea typeface="Calibri" panose="020F0502020204030204" pitchFamily="34" charset="0"/>
              <a:cs typeface="Calibri" panose="020F0502020204030204" pitchFamily="34" charset="0"/>
              <a:sym typeface="Calibri" panose="020F0502020204030204"/>
            </a:endParaRPr>
          </a:p>
          <a:p>
            <a:pPr marL="571500" lvl="0" indent="-457200">
              <a:lnSpc>
                <a:spcPct val="90000"/>
              </a:lnSpc>
              <a:spcBef>
                <a:spcPts val="1000"/>
              </a:spcBef>
              <a:buSzPts val="1800"/>
              <a:buFont typeface="+mj-lt"/>
              <a:buAutoNum type="arabicPeriod"/>
              <a:defRPr/>
            </a:pPr>
            <a:r>
              <a:rPr lang="en-US" sz="2000" dirty="0">
                <a:latin typeface="Calibri" panose="020F0502020204030204"/>
                <a:ea typeface="Calibri" panose="020F0502020204030204"/>
                <a:cs typeface="Calibri" panose="020F0502020204030204"/>
                <a:sym typeface="Calibri" panose="020F0502020204030204"/>
              </a:rPr>
              <a:t>GPA</a:t>
            </a:r>
          </a:p>
          <a:p>
            <a:pPr marL="571500" lvl="0" indent="-457200">
              <a:lnSpc>
                <a:spcPct val="90000"/>
              </a:lnSpc>
              <a:spcBef>
                <a:spcPts val="1000"/>
              </a:spcBef>
              <a:buSzPts val="1800"/>
              <a:buFont typeface="+mj-lt"/>
              <a:buAutoNum type="arabicPeriod"/>
              <a:defRPr/>
            </a:pPr>
            <a:r>
              <a:rPr lang="en-US" sz="2000" dirty="0">
                <a:latin typeface="Calibri" panose="020F0502020204030204" pitchFamily="34" charset="0"/>
                <a:ea typeface="Calibri" panose="020F0502020204030204" pitchFamily="34" charset="0"/>
                <a:cs typeface="Calibri" panose="020F0502020204030204" pitchFamily="34" charset="0"/>
              </a:rPr>
              <a:t>GradeClass</a:t>
            </a:r>
            <a:endParaRPr lang="en-US" sz="2000" dirty="0">
              <a:latin typeface="Calibri" panose="020F0502020204030204" pitchFamily="34" charset="0"/>
              <a:ea typeface="Calibri" panose="020F0502020204030204" pitchFamily="34" charset="0"/>
              <a:cs typeface="Calibri" panose="020F0502020204030204" pitchFamily="34" charset="0"/>
              <a:sym typeface="Calibri" panose="020F0502020204030204"/>
            </a:endParaRPr>
          </a:p>
          <a:p>
            <a:pPr marL="114300" lvl="0">
              <a:lnSpc>
                <a:spcPct val="90000"/>
              </a:lnSpc>
              <a:spcBef>
                <a:spcPts val="1000"/>
              </a:spcBef>
              <a:buSzPts val="1800"/>
              <a:defRPr/>
            </a:pPr>
            <a:endParaRPr lang="en-US" sz="2800" dirty="0">
              <a:latin typeface="Calibri" panose="020F0502020204030204"/>
              <a:ea typeface="Calibri" panose="020F0502020204030204"/>
              <a:cs typeface="Calibri" panose="020F0502020204030204"/>
              <a:sym typeface="Calibri" panose="020F0502020204030204"/>
            </a:endParaRPr>
          </a:p>
          <a:p>
            <a:endParaRPr lang="en-US" dirty="0"/>
          </a:p>
        </p:txBody>
      </p:sp>
    </p:spTree>
    <p:extLst>
      <p:ext uri="{BB962C8B-B14F-4D97-AF65-F5344CB8AC3E}">
        <p14:creationId xmlns:p14="http://schemas.microsoft.com/office/powerpoint/2010/main" val="61850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1FDEF3E9-5E9B-C155-884F-538298F4F5E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80887E4-EC5F-EB70-E63A-F7A856E981A8}"/>
              </a:ext>
            </a:extLst>
          </p:cNvPr>
          <p:cNvSpPr txBox="1"/>
          <p:nvPr/>
        </p:nvSpPr>
        <p:spPr>
          <a:xfrm>
            <a:off x="480838" y="138897"/>
            <a:ext cx="7054281" cy="769441"/>
          </a:xfrm>
          <a:prstGeom prst="rect">
            <a:avLst/>
          </a:prstGeom>
          <a:noFill/>
        </p:spPr>
        <p:txBody>
          <a:bodyPr wrap="square" rtlCol="0">
            <a:spAutoFit/>
          </a:bodyPr>
          <a:lstStyle/>
          <a:p>
            <a:r>
              <a:rPr kumimoji="0" lang="en-US" sz="44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Dataset Description</a:t>
            </a:r>
            <a:endParaRPr lang="en-US" dirty="0"/>
          </a:p>
        </p:txBody>
      </p:sp>
      <p:graphicFrame>
        <p:nvGraphicFramePr>
          <p:cNvPr id="4" name="Table 3">
            <a:extLst>
              <a:ext uri="{FF2B5EF4-FFF2-40B4-BE49-F238E27FC236}">
                <a16:creationId xmlns:a16="http://schemas.microsoft.com/office/drawing/2014/main" id="{A036D8BC-0381-51F4-11DB-F35E10BC5696}"/>
              </a:ext>
            </a:extLst>
          </p:cNvPr>
          <p:cNvGraphicFramePr>
            <a:graphicFrameLocks noGrp="1"/>
          </p:cNvGraphicFramePr>
          <p:nvPr>
            <p:extLst>
              <p:ext uri="{D42A27DB-BD31-4B8C-83A1-F6EECF244321}">
                <p14:modId xmlns:p14="http://schemas.microsoft.com/office/powerpoint/2010/main" val="807196288"/>
              </p:ext>
            </p:extLst>
          </p:nvPr>
        </p:nvGraphicFramePr>
        <p:xfrm>
          <a:off x="383455" y="2109831"/>
          <a:ext cx="11464418" cy="3640467"/>
        </p:xfrm>
        <a:graphic>
          <a:graphicData uri="http://schemas.openxmlformats.org/drawingml/2006/table">
            <a:tbl>
              <a:tblPr>
                <a:tableStyleId>{5940675A-B579-460E-94D1-54222C63F5DA}</a:tableStyleId>
              </a:tblPr>
              <a:tblGrid>
                <a:gridCol w="599771">
                  <a:extLst>
                    <a:ext uri="{9D8B030D-6E8A-4147-A177-3AD203B41FA5}">
                      <a16:colId xmlns:a16="http://schemas.microsoft.com/office/drawing/2014/main" val="794895392"/>
                    </a:ext>
                  </a:extLst>
                </a:gridCol>
                <a:gridCol w="855406">
                  <a:extLst>
                    <a:ext uri="{9D8B030D-6E8A-4147-A177-3AD203B41FA5}">
                      <a16:colId xmlns:a16="http://schemas.microsoft.com/office/drawing/2014/main" val="3829274014"/>
                    </a:ext>
                  </a:extLst>
                </a:gridCol>
                <a:gridCol w="855407">
                  <a:extLst>
                    <a:ext uri="{9D8B030D-6E8A-4147-A177-3AD203B41FA5}">
                      <a16:colId xmlns:a16="http://schemas.microsoft.com/office/drawing/2014/main" val="2773872892"/>
                    </a:ext>
                  </a:extLst>
                </a:gridCol>
                <a:gridCol w="1012722">
                  <a:extLst>
                    <a:ext uri="{9D8B030D-6E8A-4147-A177-3AD203B41FA5}">
                      <a16:colId xmlns:a16="http://schemas.microsoft.com/office/drawing/2014/main" val="2818171528"/>
                    </a:ext>
                  </a:extLst>
                </a:gridCol>
                <a:gridCol w="1081549">
                  <a:extLst>
                    <a:ext uri="{9D8B030D-6E8A-4147-A177-3AD203B41FA5}">
                      <a16:colId xmlns:a16="http://schemas.microsoft.com/office/drawing/2014/main" val="1549205703"/>
                    </a:ext>
                  </a:extLst>
                </a:gridCol>
                <a:gridCol w="904567">
                  <a:extLst>
                    <a:ext uri="{9D8B030D-6E8A-4147-A177-3AD203B41FA5}">
                      <a16:colId xmlns:a16="http://schemas.microsoft.com/office/drawing/2014/main" val="3068522563"/>
                    </a:ext>
                  </a:extLst>
                </a:gridCol>
                <a:gridCol w="668594">
                  <a:extLst>
                    <a:ext uri="{9D8B030D-6E8A-4147-A177-3AD203B41FA5}">
                      <a16:colId xmlns:a16="http://schemas.microsoft.com/office/drawing/2014/main" val="4069812084"/>
                    </a:ext>
                  </a:extLst>
                </a:gridCol>
                <a:gridCol w="875071">
                  <a:extLst>
                    <a:ext uri="{9D8B030D-6E8A-4147-A177-3AD203B41FA5}">
                      <a16:colId xmlns:a16="http://schemas.microsoft.com/office/drawing/2014/main" val="3064252622"/>
                    </a:ext>
                  </a:extLst>
                </a:gridCol>
                <a:gridCol w="953729">
                  <a:extLst>
                    <a:ext uri="{9D8B030D-6E8A-4147-A177-3AD203B41FA5}">
                      <a16:colId xmlns:a16="http://schemas.microsoft.com/office/drawing/2014/main" val="3784215441"/>
                    </a:ext>
                  </a:extLst>
                </a:gridCol>
                <a:gridCol w="757084">
                  <a:extLst>
                    <a:ext uri="{9D8B030D-6E8A-4147-A177-3AD203B41FA5}">
                      <a16:colId xmlns:a16="http://schemas.microsoft.com/office/drawing/2014/main" val="2819332001"/>
                    </a:ext>
                  </a:extLst>
                </a:gridCol>
                <a:gridCol w="727587">
                  <a:extLst>
                    <a:ext uri="{9D8B030D-6E8A-4147-A177-3AD203B41FA5}">
                      <a16:colId xmlns:a16="http://schemas.microsoft.com/office/drawing/2014/main" val="871072957"/>
                    </a:ext>
                  </a:extLst>
                </a:gridCol>
                <a:gridCol w="727587">
                  <a:extLst>
                    <a:ext uri="{9D8B030D-6E8A-4147-A177-3AD203B41FA5}">
                      <a16:colId xmlns:a16="http://schemas.microsoft.com/office/drawing/2014/main" val="691178028"/>
                    </a:ext>
                  </a:extLst>
                </a:gridCol>
                <a:gridCol w="766916">
                  <a:extLst>
                    <a:ext uri="{9D8B030D-6E8A-4147-A177-3AD203B41FA5}">
                      <a16:colId xmlns:a16="http://schemas.microsoft.com/office/drawing/2014/main" val="2683781072"/>
                    </a:ext>
                  </a:extLst>
                </a:gridCol>
                <a:gridCol w="678428">
                  <a:extLst>
                    <a:ext uri="{9D8B030D-6E8A-4147-A177-3AD203B41FA5}">
                      <a16:colId xmlns:a16="http://schemas.microsoft.com/office/drawing/2014/main" val="4244214861"/>
                    </a:ext>
                  </a:extLst>
                </a:gridCol>
              </a:tblGrid>
              <a:tr h="800517">
                <a:tc>
                  <a:txBody>
                    <a:bodyPr/>
                    <a:lstStyle/>
                    <a:p>
                      <a:pPr algn="l" fontAlgn="t">
                        <a:buNone/>
                      </a:pPr>
                      <a:r>
                        <a:rPr lang="en-US" dirty="0">
                          <a:effectLst/>
                        </a:rPr>
                        <a:t>Age</a:t>
                      </a:r>
                    </a:p>
                  </a:txBody>
                  <a:tcPr/>
                </a:tc>
                <a:tc>
                  <a:txBody>
                    <a:bodyPr/>
                    <a:lstStyle/>
                    <a:p>
                      <a:pPr fontAlgn="t">
                        <a:buNone/>
                      </a:pPr>
                      <a:r>
                        <a:rPr lang="en-US" dirty="0">
                          <a:effectLst/>
                        </a:rPr>
                        <a:t>Gender</a:t>
                      </a:r>
                    </a:p>
                  </a:txBody>
                  <a:tcPr/>
                </a:tc>
                <a:tc>
                  <a:txBody>
                    <a:bodyPr/>
                    <a:lstStyle/>
                    <a:p>
                      <a:pPr fontAlgn="t">
                        <a:buNone/>
                      </a:pPr>
                      <a:r>
                        <a:rPr lang="en-US" dirty="0">
                          <a:effectLst/>
                        </a:rPr>
                        <a:t>Ethnicity</a:t>
                      </a:r>
                    </a:p>
                  </a:txBody>
                  <a:tcPr/>
                </a:tc>
                <a:tc>
                  <a:txBody>
                    <a:bodyPr/>
                    <a:lstStyle/>
                    <a:p>
                      <a:pPr fontAlgn="t">
                        <a:buNone/>
                      </a:pPr>
                      <a:r>
                        <a:rPr lang="en-US" dirty="0">
                          <a:effectLst/>
                        </a:rPr>
                        <a:t>Parental</a:t>
                      </a:r>
                    </a:p>
                    <a:p>
                      <a:pPr fontAlgn="t">
                        <a:buNone/>
                      </a:pPr>
                      <a:r>
                        <a:rPr lang="en-US" dirty="0">
                          <a:effectLst/>
                        </a:rPr>
                        <a:t>Education</a:t>
                      </a:r>
                    </a:p>
                  </a:txBody>
                  <a:tcPr/>
                </a:tc>
                <a:tc>
                  <a:txBody>
                    <a:bodyPr/>
                    <a:lstStyle/>
                    <a:p>
                      <a:pPr fontAlgn="t">
                        <a:buNone/>
                      </a:pPr>
                      <a:r>
                        <a:rPr lang="en-US" dirty="0">
                          <a:effectLst/>
                        </a:rPr>
                        <a:t>Study Time Weekly</a:t>
                      </a:r>
                    </a:p>
                  </a:txBody>
                  <a:tcPr/>
                </a:tc>
                <a:tc>
                  <a:txBody>
                    <a:bodyPr/>
                    <a:lstStyle/>
                    <a:p>
                      <a:pPr fontAlgn="t">
                        <a:buNone/>
                      </a:pPr>
                      <a:r>
                        <a:rPr lang="en-US" dirty="0">
                          <a:effectLst/>
                        </a:rPr>
                        <a:t>Absences</a:t>
                      </a:r>
                    </a:p>
                  </a:txBody>
                  <a:tcPr/>
                </a:tc>
                <a:tc>
                  <a:txBody>
                    <a:bodyPr/>
                    <a:lstStyle/>
                    <a:p>
                      <a:pPr fontAlgn="t">
                        <a:buNone/>
                      </a:pPr>
                      <a:r>
                        <a:rPr lang="en-US" dirty="0">
                          <a:effectLst/>
                        </a:rPr>
                        <a:t>Tutoring</a:t>
                      </a:r>
                    </a:p>
                  </a:txBody>
                  <a:tcPr/>
                </a:tc>
                <a:tc>
                  <a:txBody>
                    <a:bodyPr/>
                    <a:lstStyle/>
                    <a:p>
                      <a:pPr fontAlgn="t">
                        <a:buNone/>
                      </a:pPr>
                      <a:r>
                        <a:rPr lang="en-US">
                          <a:effectLst/>
                        </a:rPr>
                        <a:t>ParentalSupport</a:t>
                      </a:r>
                    </a:p>
                  </a:txBody>
                  <a:tcPr/>
                </a:tc>
                <a:tc>
                  <a:txBody>
                    <a:bodyPr/>
                    <a:lstStyle/>
                    <a:p>
                      <a:pPr fontAlgn="t">
                        <a:buNone/>
                      </a:pPr>
                      <a:r>
                        <a:rPr lang="en-US" dirty="0">
                          <a:effectLst/>
                        </a:rPr>
                        <a:t>Extra curricular</a:t>
                      </a:r>
                    </a:p>
                  </a:txBody>
                  <a:tcPr/>
                </a:tc>
                <a:tc>
                  <a:txBody>
                    <a:bodyPr/>
                    <a:lstStyle/>
                    <a:p>
                      <a:pPr fontAlgn="t">
                        <a:buNone/>
                      </a:pPr>
                      <a:r>
                        <a:rPr lang="en-US" dirty="0">
                          <a:effectLst/>
                        </a:rPr>
                        <a:t>Sports</a:t>
                      </a:r>
                    </a:p>
                  </a:txBody>
                  <a:tcPr/>
                </a:tc>
                <a:tc>
                  <a:txBody>
                    <a:bodyPr/>
                    <a:lstStyle/>
                    <a:p>
                      <a:pPr fontAlgn="t">
                        <a:buNone/>
                      </a:pPr>
                      <a:r>
                        <a:rPr lang="en-US">
                          <a:effectLst/>
                        </a:rPr>
                        <a:t>Music</a:t>
                      </a:r>
                    </a:p>
                  </a:txBody>
                  <a:tcPr/>
                </a:tc>
                <a:tc>
                  <a:txBody>
                    <a:bodyPr/>
                    <a:lstStyle/>
                    <a:p>
                      <a:pPr fontAlgn="t">
                        <a:buNone/>
                      </a:pPr>
                      <a:r>
                        <a:rPr lang="en-US">
                          <a:effectLst/>
                        </a:rPr>
                        <a:t>Volunteering</a:t>
                      </a:r>
                    </a:p>
                  </a:txBody>
                  <a:tcPr/>
                </a:tc>
                <a:tc>
                  <a:txBody>
                    <a:bodyPr/>
                    <a:lstStyle/>
                    <a:p>
                      <a:pPr fontAlgn="t">
                        <a:buNone/>
                      </a:pPr>
                      <a:r>
                        <a:rPr lang="en-US" dirty="0">
                          <a:effectLst/>
                        </a:rPr>
                        <a:t>GPA</a:t>
                      </a:r>
                    </a:p>
                  </a:txBody>
                  <a:tcPr/>
                </a:tc>
                <a:tc>
                  <a:txBody>
                    <a:bodyPr/>
                    <a:lstStyle/>
                    <a:p>
                      <a:pPr fontAlgn="t">
                        <a:buNone/>
                      </a:pPr>
                      <a:r>
                        <a:rPr lang="en-US" dirty="0">
                          <a:effectLst/>
                        </a:rPr>
                        <a:t>Grade Class</a:t>
                      </a:r>
                    </a:p>
                  </a:txBody>
                  <a:tcPr/>
                </a:tc>
                <a:extLst>
                  <a:ext uri="{0D108BD9-81ED-4DB2-BD59-A6C34878D82A}">
                    <a16:rowId xmlns:a16="http://schemas.microsoft.com/office/drawing/2014/main" val="3379645392"/>
                  </a:ext>
                </a:extLst>
              </a:tr>
              <a:tr h="567990">
                <a:tc>
                  <a:txBody>
                    <a:bodyPr/>
                    <a:lstStyle/>
                    <a:p>
                      <a:pPr fontAlgn="t">
                        <a:buNone/>
                      </a:pPr>
                      <a:r>
                        <a:rPr lang="en-US" dirty="0">
                          <a:effectLst/>
                        </a:rPr>
                        <a:t>17</a:t>
                      </a:r>
                    </a:p>
                  </a:txBody>
                  <a:tcPr/>
                </a:tc>
                <a:tc>
                  <a:txBody>
                    <a:bodyPr/>
                    <a:lstStyle/>
                    <a:p>
                      <a:pPr fontAlgn="t">
                        <a:buNone/>
                      </a:pPr>
                      <a:r>
                        <a:rPr lang="en-US">
                          <a:effectLst/>
                        </a:rPr>
                        <a:t>1</a:t>
                      </a:r>
                    </a:p>
                  </a:txBody>
                  <a:tcPr/>
                </a:tc>
                <a:tc>
                  <a:txBody>
                    <a:bodyPr/>
                    <a:lstStyle/>
                    <a:p>
                      <a:pPr fontAlgn="t">
                        <a:buNone/>
                      </a:pPr>
                      <a:r>
                        <a:rPr lang="en-US">
                          <a:effectLst/>
                        </a:rPr>
                        <a:t>0</a:t>
                      </a:r>
                    </a:p>
                  </a:txBody>
                  <a:tcPr/>
                </a:tc>
                <a:tc>
                  <a:txBody>
                    <a:bodyPr/>
                    <a:lstStyle/>
                    <a:p>
                      <a:pPr fontAlgn="t">
                        <a:buNone/>
                      </a:pPr>
                      <a:r>
                        <a:rPr lang="en-US">
                          <a:effectLst/>
                        </a:rPr>
                        <a:t>2</a:t>
                      </a:r>
                    </a:p>
                  </a:txBody>
                  <a:tcPr/>
                </a:tc>
                <a:tc>
                  <a:txBody>
                    <a:bodyPr/>
                    <a:lstStyle/>
                    <a:p>
                      <a:pPr fontAlgn="t">
                        <a:buNone/>
                      </a:pPr>
                      <a:r>
                        <a:rPr lang="en-US">
                          <a:effectLst/>
                        </a:rPr>
                        <a:t>19.833723</a:t>
                      </a:r>
                    </a:p>
                  </a:txBody>
                  <a:tcPr/>
                </a:tc>
                <a:tc>
                  <a:txBody>
                    <a:bodyPr/>
                    <a:lstStyle/>
                    <a:p>
                      <a:pPr fontAlgn="t">
                        <a:buNone/>
                      </a:pPr>
                      <a:r>
                        <a:rPr lang="en-US">
                          <a:effectLst/>
                        </a:rPr>
                        <a:t>7</a:t>
                      </a:r>
                    </a:p>
                  </a:txBody>
                  <a:tcPr/>
                </a:tc>
                <a:tc>
                  <a:txBody>
                    <a:bodyPr/>
                    <a:lstStyle/>
                    <a:p>
                      <a:pPr fontAlgn="t">
                        <a:buNone/>
                      </a:pPr>
                      <a:r>
                        <a:rPr lang="en-US">
                          <a:effectLst/>
                        </a:rPr>
                        <a:t>1</a:t>
                      </a:r>
                    </a:p>
                  </a:txBody>
                  <a:tcPr/>
                </a:tc>
                <a:tc>
                  <a:txBody>
                    <a:bodyPr/>
                    <a:lstStyle/>
                    <a:p>
                      <a:pPr fontAlgn="t">
                        <a:buNone/>
                      </a:pPr>
                      <a:r>
                        <a:rPr lang="en-US">
                          <a:effectLst/>
                        </a:rPr>
                        <a:t>2</a:t>
                      </a:r>
                    </a:p>
                  </a:txBody>
                  <a:tcPr/>
                </a:tc>
                <a:tc>
                  <a:txBody>
                    <a:bodyPr/>
                    <a:lstStyle/>
                    <a:p>
                      <a:pPr fontAlgn="t">
                        <a:buNone/>
                      </a:pPr>
                      <a:r>
                        <a:rPr lang="en-US">
                          <a:effectLst/>
                        </a:rPr>
                        <a:t>0</a:t>
                      </a:r>
                    </a:p>
                  </a:txBody>
                  <a:tcPr/>
                </a:tc>
                <a:tc>
                  <a:txBody>
                    <a:bodyPr/>
                    <a:lstStyle/>
                    <a:p>
                      <a:pPr fontAlgn="t">
                        <a:buNone/>
                      </a:pPr>
                      <a:r>
                        <a:rPr lang="en-US">
                          <a:effectLst/>
                        </a:rPr>
                        <a:t>0</a:t>
                      </a:r>
                    </a:p>
                  </a:txBody>
                  <a:tcPr/>
                </a:tc>
                <a:tc>
                  <a:txBody>
                    <a:bodyPr/>
                    <a:lstStyle/>
                    <a:p>
                      <a:pPr fontAlgn="t">
                        <a:buNone/>
                      </a:pPr>
                      <a:r>
                        <a:rPr lang="en-US">
                          <a:effectLst/>
                        </a:rPr>
                        <a:t>1</a:t>
                      </a:r>
                    </a:p>
                  </a:txBody>
                  <a:tcPr/>
                </a:tc>
                <a:tc>
                  <a:txBody>
                    <a:bodyPr/>
                    <a:lstStyle/>
                    <a:p>
                      <a:pPr fontAlgn="t">
                        <a:buNone/>
                      </a:pPr>
                      <a:r>
                        <a:rPr lang="en-US">
                          <a:effectLst/>
                        </a:rPr>
                        <a:t>0</a:t>
                      </a:r>
                    </a:p>
                  </a:txBody>
                  <a:tcPr/>
                </a:tc>
                <a:tc>
                  <a:txBody>
                    <a:bodyPr/>
                    <a:lstStyle/>
                    <a:p>
                      <a:pPr fontAlgn="t">
                        <a:buNone/>
                      </a:pPr>
                      <a:r>
                        <a:rPr lang="en-US">
                          <a:effectLst/>
                        </a:rPr>
                        <a:t>2.929196</a:t>
                      </a:r>
                    </a:p>
                  </a:txBody>
                  <a:tcPr/>
                </a:tc>
                <a:tc>
                  <a:txBody>
                    <a:bodyPr/>
                    <a:lstStyle/>
                    <a:p>
                      <a:pPr fontAlgn="t">
                        <a:buNone/>
                      </a:pPr>
                      <a:r>
                        <a:rPr lang="en-US">
                          <a:effectLst/>
                        </a:rPr>
                        <a:t>2.0</a:t>
                      </a:r>
                    </a:p>
                  </a:txBody>
                  <a:tcPr/>
                </a:tc>
                <a:extLst>
                  <a:ext uri="{0D108BD9-81ED-4DB2-BD59-A6C34878D82A}">
                    <a16:rowId xmlns:a16="http://schemas.microsoft.com/office/drawing/2014/main" val="2448410083"/>
                  </a:ext>
                </a:extLst>
              </a:tr>
              <a:tr h="567990">
                <a:tc>
                  <a:txBody>
                    <a:bodyPr/>
                    <a:lstStyle/>
                    <a:p>
                      <a:pPr fontAlgn="t">
                        <a:buNone/>
                      </a:pPr>
                      <a:r>
                        <a:rPr lang="en-US" dirty="0">
                          <a:effectLst/>
                        </a:rPr>
                        <a:t>18</a:t>
                      </a:r>
                    </a:p>
                  </a:txBody>
                  <a:tcPr/>
                </a:tc>
                <a:tc>
                  <a:txBody>
                    <a:bodyPr/>
                    <a:lstStyle/>
                    <a:p>
                      <a:pPr fontAlgn="t">
                        <a:buNone/>
                      </a:pPr>
                      <a:r>
                        <a:rPr lang="en-US" dirty="0">
                          <a:effectLst/>
                        </a:rPr>
                        <a:t>0</a:t>
                      </a:r>
                    </a:p>
                  </a:txBody>
                  <a:tcPr/>
                </a:tc>
                <a:tc>
                  <a:txBody>
                    <a:bodyPr/>
                    <a:lstStyle/>
                    <a:p>
                      <a:pPr fontAlgn="t">
                        <a:buNone/>
                      </a:pPr>
                      <a:r>
                        <a:rPr lang="en-US">
                          <a:effectLst/>
                        </a:rPr>
                        <a:t>0</a:t>
                      </a:r>
                    </a:p>
                  </a:txBody>
                  <a:tcPr/>
                </a:tc>
                <a:tc>
                  <a:txBody>
                    <a:bodyPr/>
                    <a:lstStyle/>
                    <a:p>
                      <a:pPr fontAlgn="t">
                        <a:buNone/>
                      </a:pPr>
                      <a:r>
                        <a:rPr lang="en-US">
                          <a:effectLst/>
                        </a:rPr>
                        <a:t>1</a:t>
                      </a:r>
                    </a:p>
                  </a:txBody>
                  <a:tcPr/>
                </a:tc>
                <a:tc>
                  <a:txBody>
                    <a:bodyPr/>
                    <a:lstStyle/>
                    <a:p>
                      <a:pPr fontAlgn="t">
                        <a:buNone/>
                      </a:pPr>
                      <a:r>
                        <a:rPr lang="en-US">
                          <a:effectLst/>
                        </a:rPr>
                        <a:t>15.408756</a:t>
                      </a:r>
                    </a:p>
                  </a:txBody>
                  <a:tcPr/>
                </a:tc>
                <a:tc>
                  <a:txBody>
                    <a:bodyPr/>
                    <a:lstStyle/>
                    <a:p>
                      <a:pPr fontAlgn="t">
                        <a:buNone/>
                      </a:pPr>
                      <a:r>
                        <a:rPr lang="en-US">
                          <a:effectLst/>
                        </a:rPr>
                        <a:t>0</a:t>
                      </a:r>
                    </a:p>
                  </a:txBody>
                  <a:tcPr/>
                </a:tc>
                <a:tc>
                  <a:txBody>
                    <a:bodyPr/>
                    <a:lstStyle/>
                    <a:p>
                      <a:pPr fontAlgn="t">
                        <a:buNone/>
                      </a:pPr>
                      <a:r>
                        <a:rPr lang="en-US">
                          <a:effectLst/>
                        </a:rPr>
                        <a:t>0</a:t>
                      </a:r>
                    </a:p>
                  </a:txBody>
                  <a:tcPr/>
                </a:tc>
                <a:tc>
                  <a:txBody>
                    <a:bodyPr/>
                    <a:lstStyle/>
                    <a:p>
                      <a:pPr fontAlgn="t">
                        <a:buNone/>
                      </a:pPr>
                      <a:r>
                        <a:rPr lang="en-US">
                          <a:effectLst/>
                        </a:rPr>
                        <a:t>1</a:t>
                      </a:r>
                    </a:p>
                  </a:txBody>
                  <a:tcPr/>
                </a:tc>
                <a:tc>
                  <a:txBody>
                    <a:bodyPr/>
                    <a:lstStyle/>
                    <a:p>
                      <a:pPr fontAlgn="t">
                        <a:buNone/>
                      </a:pPr>
                      <a:r>
                        <a:rPr lang="en-US">
                          <a:effectLst/>
                        </a:rPr>
                        <a:t>0</a:t>
                      </a:r>
                    </a:p>
                  </a:txBody>
                  <a:tcPr/>
                </a:tc>
                <a:tc>
                  <a:txBody>
                    <a:bodyPr/>
                    <a:lstStyle/>
                    <a:p>
                      <a:pPr fontAlgn="t">
                        <a:buNone/>
                      </a:pPr>
                      <a:r>
                        <a:rPr lang="en-US">
                          <a:effectLst/>
                        </a:rPr>
                        <a:t>0</a:t>
                      </a:r>
                    </a:p>
                  </a:txBody>
                  <a:tcPr/>
                </a:tc>
                <a:tc>
                  <a:txBody>
                    <a:bodyPr/>
                    <a:lstStyle/>
                    <a:p>
                      <a:pPr fontAlgn="t">
                        <a:buNone/>
                      </a:pPr>
                      <a:r>
                        <a:rPr lang="en-US">
                          <a:effectLst/>
                        </a:rPr>
                        <a:t>0</a:t>
                      </a:r>
                    </a:p>
                  </a:txBody>
                  <a:tcPr/>
                </a:tc>
                <a:tc>
                  <a:txBody>
                    <a:bodyPr/>
                    <a:lstStyle/>
                    <a:p>
                      <a:pPr fontAlgn="t">
                        <a:buNone/>
                      </a:pPr>
                      <a:r>
                        <a:rPr lang="en-US">
                          <a:effectLst/>
                        </a:rPr>
                        <a:t>0</a:t>
                      </a:r>
                    </a:p>
                  </a:txBody>
                  <a:tcPr/>
                </a:tc>
                <a:tc>
                  <a:txBody>
                    <a:bodyPr/>
                    <a:lstStyle/>
                    <a:p>
                      <a:pPr fontAlgn="t">
                        <a:buNone/>
                      </a:pPr>
                      <a:r>
                        <a:rPr lang="en-US">
                          <a:effectLst/>
                        </a:rPr>
                        <a:t>3.042915</a:t>
                      </a:r>
                    </a:p>
                  </a:txBody>
                  <a:tcPr/>
                </a:tc>
                <a:tc>
                  <a:txBody>
                    <a:bodyPr/>
                    <a:lstStyle/>
                    <a:p>
                      <a:pPr fontAlgn="t">
                        <a:buNone/>
                      </a:pPr>
                      <a:r>
                        <a:rPr lang="en-US" dirty="0">
                          <a:effectLst/>
                        </a:rPr>
                        <a:t>1.0</a:t>
                      </a:r>
                    </a:p>
                  </a:txBody>
                  <a:tcPr/>
                </a:tc>
                <a:extLst>
                  <a:ext uri="{0D108BD9-81ED-4DB2-BD59-A6C34878D82A}">
                    <a16:rowId xmlns:a16="http://schemas.microsoft.com/office/drawing/2014/main" val="1258924895"/>
                  </a:ext>
                </a:extLst>
              </a:tr>
              <a:tr h="567990">
                <a:tc>
                  <a:txBody>
                    <a:bodyPr/>
                    <a:lstStyle/>
                    <a:p>
                      <a:pPr fontAlgn="t">
                        <a:buNone/>
                      </a:pPr>
                      <a:r>
                        <a:rPr lang="en-US" dirty="0">
                          <a:effectLst/>
                        </a:rPr>
                        <a:t>15</a:t>
                      </a:r>
                    </a:p>
                  </a:txBody>
                  <a:tcPr/>
                </a:tc>
                <a:tc>
                  <a:txBody>
                    <a:bodyPr/>
                    <a:lstStyle/>
                    <a:p>
                      <a:pPr fontAlgn="t">
                        <a:buNone/>
                      </a:pPr>
                      <a:r>
                        <a:rPr lang="en-US">
                          <a:effectLst/>
                        </a:rPr>
                        <a:t>0</a:t>
                      </a:r>
                    </a:p>
                  </a:txBody>
                  <a:tcPr/>
                </a:tc>
                <a:tc>
                  <a:txBody>
                    <a:bodyPr/>
                    <a:lstStyle/>
                    <a:p>
                      <a:pPr fontAlgn="t">
                        <a:buNone/>
                      </a:pPr>
                      <a:r>
                        <a:rPr lang="en-US">
                          <a:effectLst/>
                        </a:rPr>
                        <a:t>2</a:t>
                      </a:r>
                    </a:p>
                  </a:txBody>
                  <a:tcPr/>
                </a:tc>
                <a:tc>
                  <a:txBody>
                    <a:bodyPr/>
                    <a:lstStyle/>
                    <a:p>
                      <a:pPr fontAlgn="t">
                        <a:buNone/>
                      </a:pPr>
                      <a:r>
                        <a:rPr lang="en-US">
                          <a:effectLst/>
                        </a:rPr>
                        <a:t>3</a:t>
                      </a:r>
                    </a:p>
                  </a:txBody>
                  <a:tcPr/>
                </a:tc>
                <a:tc>
                  <a:txBody>
                    <a:bodyPr/>
                    <a:lstStyle/>
                    <a:p>
                      <a:pPr fontAlgn="t">
                        <a:buNone/>
                      </a:pPr>
                      <a:r>
                        <a:rPr lang="en-US">
                          <a:effectLst/>
                        </a:rPr>
                        <a:t>4.210570</a:t>
                      </a:r>
                    </a:p>
                  </a:txBody>
                  <a:tcPr/>
                </a:tc>
                <a:tc>
                  <a:txBody>
                    <a:bodyPr/>
                    <a:lstStyle/>
                    <a:p>
                      <a:pPr fontAlgn="t">
                        <a:buNone/>
                      </a:pPr>
                      <a:r>
                        <a:rPr lang="en-US">
                          <a:effectLst/>
                        </a:rPr>
                        <a:t>26</a:t>
                      </a:r>
                    </a:p>
                  </a:txBody>
                  <a:tcPr/>
                </a:tc>
                <a:tc>
                  <a:txBody>
                    <a:bodyPr/>
                    <a:lstStyle/>
                    <a:p>
                      <a:pPr fontAlgn="t">
                        <a:buNone/>
                      </a:pPr>
                      <a:r>
                        <a:rPr lang="en-US">
                          <a:effectLst/>
                        </a:rPr>
                        <a:t>0</a:t>
                      </a:r>
                    </a:p>
                  </a:txBody>
                  <a:tcPr/>
                </a:tc>
                <a:tc>
                  <a:txBody>
                    <a:bodyPr/>
                    <a:lstStyle/>
                    <a:p>
                      <a:pPr fontAlgn="t">
                        <a:buNone/>
                      </a:pPr>
                      <a:r>
                        <a:rPr lang="en-US">
                          <a:effectLst/>
                        </a:rPr>
                        <a:t>2</a:t>
                      </a:r>
                    </a:p>
                  </a:txBody>
                  <a:tcPr/>
                </a:tc>
                <a:tc>
                  <a:txBody>
                    <a:bodyPr/>
                    <a:lstStyle/>
                    <a:p>
                      <a:pPr fontAlgn="t">
                        <a:buNone/>
                      </a:pPr>
                      <a:r>
                        <a:rPr lang="en-US">
                          <a:effectLst/>
                        </a:rPr>
                        <a:t>0</a:t>
                      </a:r>
                    </a:p>
                  </a:txBody>
                  <a:tcPr/>
                </a:tc>
                <a:tc>
                  <a:txBody>
                    <a:bodyPr/>
                    <a:lstStyle/>
                    <a:p>
                      <a:pPr fontAlgn="t">
                        <a:buNone/>
                      </a:pPr>
                      <a:r>
                        <a:rPr lang="en-US">
                          <a:effectLst/>
                        </a:rPr>
                        <a:t>0</a:t>
                      </a:r>
                    </a:p>
                  </a:txBody>
                  <a:tcPr/>
                </a:tc>
                <a:tc>
                  <a:txBody>
                    <a:bodyPr/>
                    <a:lstStyle/>
                    <a:p>
                      <a:pPr fontAlgn="t">
                        <a:buNone/>
                      </a:pPr>
                      <a:r>
                        <a:rPr lang="en-US">
                          <a:effectLst/>
                        </a:rPr>
                        <a:t>0</a:t>
                      </a:r>
                    </a:p>
                  </a:txBody>
                  <a:tcPr/>
                </a:tc>
                <a:tc>
                  <a:txBody>
                    <a:bodyPr/>
                    <a:lstStyle/>
                    <a:p>
                      <a:pPr fontAlgn="t">
                        <a:buNone/>
                      </a:pPr>
                      <a:r>
                        <a:rPr lang="en-US">
                          <a:effectLst/>
                        </a:rPr>
                        <a:t>0</a:t>
                      </a:r>
                    </a:p>
                  </a:txBody>
                  <a:tcPr/>
                </a:tc>
                <a:tc>
                  <a:txBody>
                    <a:bodyPr/>
                    <a:lstStyle/>
                    <a:p>
                      <a:pPr fontAlgn="t">
                        <a:buNone/>
                      </a:pPr>
                      <a:r>
                        <a:rPr lang="en-US">
                          <a:effectLst/>
                        </a:rPr>
                        <a:t>0.112602</a:t>
                      </a:r>
                    </a:p>
                  </a:txBody>
                  <a:tcPr/>
                </a:tc>
                <a:tc>
                  <a:txBody>
                    <a:bodyPr/>
                    <a:lstStyle/>
                    <a:p>
                      <a:pPr fontAlgn="t">
                        <a:buNone/>
                      </a:pPr>
                      <a:r>
                        <a:rPr lang="en-US">
                          <a:effectLst/>
                        </a:rPr>
                        <a:t>4.0</a:t>
                      </a:r>
                    </a:p>
                  </a:txBody>
                  <a:tcPr/>
                </a:tc>
                <a:extLst>
                  <a:ext uri="{0D108BD9-81ED-4DB2-BD59-A6C34878D82A}">
                    <a16:rowId xmlns:a16="http://schemas.microsoft.com/office/drawing/2014/main" val="4254299692"/>
                  </a:ext>
                </a:extLst>
              </a:tr>
              <a:tr h="567990">
                <a:tc>
                  <a:txBody>
                    <a:bodyPr/>
                    <a:lstStyle/>
                    <a:p>
                      <a:pPr fontAlgn="t">
                        <a:buNone/>
                      </a:pPr>
                      <a:r>
                        <a:rPr lang="en-US" dirty="0">
                          <a:effectLst/>
                        </a:rPr>
                        <a:t>17</a:t>
                      </a:r>
                    </a:p>
                  </a:txBody>
                  <a:tcPr/>
                </a:tc>
                <a:tc>
                  <a:txBody>
                    <a:bodyPr/>
                    <a:lstStyle/>
                    <a:p>
                      <a:pPr fontAlgn="t">
                        <a:buNone/>
                      </a:pPr>
                      <a:r>
                        <a:rPr lang="en-US">
                          <a:effectLst/>
                        </a:rPr>
                        <a:t>1</a:t>
                      </a:r>
                    </a:p>
                  </a:txBody>
                  <a:tcPr/>
                </a:tc>
                <a:tc>
                  <a:txBody>
                    <a:bodyPr/>
                    <a:lstStyle/>
                    <a:p>
                      <a:pPr fontAlgn="t">
                        <a:buNone/>
                      </a:pPr>
                      <a:r>
                        <a:rPr lang="en-US">
                          <a:effectLst/>
                        </a:rPr>
                        <a:t>0</a:t>
                      </a:r>
                    </a:p>
                  </a:txBody>
                  <a:tcPr/>
                </a:tc>
                <a:tc>
                  <a:txBody>
                    <a:bodyPr/>
                    <a:lstStyle/>
                    <a:p>
                      <a:pPr fontAlgn="t">
                        <a:buNone/>
                      </a:pPr>
                      <a:r>
                        <a:rPr lang="en-US">
                          <a:effectLst/>
                        </a:rPr>
                        <a:t>3</a:t>
                      </a:r>
                    </a:p>
                  </a:txBody>
                  <a:tcPr/>
                </a:tc>
                <a:tc>
                  <a:txBody>
                    <a:bodyPr/>
                    <a:lstStyle/>
                    <a:p>
                      <a:pPr fontAlgn="t">
                        <a:buNone/>
                      </a:pPr>
                      <a:r>
                        <a:rPr lang="en-US">
                          <a:effectLst/>
                        </a:rPr>
                        <a:t>10.028829</a:t>
                      </a:r>
                    </a:p>
                  </a:txBody>
                  <a:tcPr/>
                </a:tc>
                <a:tc>
                  <a:txBody>
                    <a:bodyPr/>
                    <a:lstStyle/>
                    <a:p>
                      <a:pPr fontAlgn="t">
                        <a:buNone/>
                      </a:pPr>
                      <a:r>
                        <a:rPr lang="en-US">
                          <a:effectLst/>
                        </a:rPr>
                        <a:t>14</a:t>
                      </a:r>
                    </a:p>
                  </a:txBody>
                  <a:tcPr/>
                </a:tc>
                <a:tc>
                  <a:txBody>
                    <a:bodyPr/>
                    <a:lstStyle/>
                    <a:p>
                      <a:pPr fontAlgn="t">
                        <a:buNone/>
                      </a:pPr>
                      <a:r>
                        <a:rPr lang="en-US">
                          <a:effectLst/>
                        </a:rPr>
                        <a:t>0</a:t>
                      </a:r>
                    </a:p>
                  </a:txBody>
                  <a:tcPr/>
                </a:tc>
                <a:tc>
                  <a:txBody>
                    <a:bodyPr/>
                    <a:lstStyle/>
                    <a:p>
                      <a:pPr fontAlgn="t">
                        <a:buNone/>
                      </a:pPr>
                      <a:r>
                        <a:rPr lang="en-US">
                          <a:effectLst/>
                        </a:rPr>
                        <a:t>3</a:t>
                      </a:r>
                    </a:p>
                  </a:txBody>
                  <a:tcPr/>
                </a:tc>
                <a:tc>
                  <a:txBody>
                    <a:bodyPr/>
                    <a:lstStyle/>
                    <a:p>
                      <a:pPr fontAlgn="t">
                        <a:buNone/>
                      </a:pPr>
                      <a:r>
                        <a:rPr lang="en-US">
                          <a:effectLst/>
                        </a:rPr>
                        <a:t>1</a:t>
                      </a:r>
                    </a:p>
                  </a:txBody>
                  <a:tcPr/>
                </a:tc>
                <a:tc>
                  <a:txBody>
                    <a:bodyPr/>
                    <a:lstStyle/>
                    <a:p>
                      <a:pPr fontAlgn="t">
                        <a:buNone/>
                      </a:pPr>
                      <a:r>
                        <a:rPr lang="en-US">
                          <a:effectLst/>
                        </a:rPr>
                        <a:t>0</a:t>
                      </a:r>
                    </a:p>
                  </a:txBody>
                  <a:tcPr/>
                </a:tc>
                <a:tc>
                  <a:txBody>
                    <a:bodyPr/>
                    <a:lstStyle/>
                    <a:p>
                      <a:pPr fontAlgn="t">
                        <a:buNone/>
                      </a:pPr>
                      <a:r>
                        <a:rPr lang="en-US">
                          <a:effectLst/>
                        </a:rPr>
                        <a:t>0</a:t>
                      </a:r>
                    </a:p>
                  </a:txBody>
                  <a:tcPr/>
                </a:tc>
                <a:tc>
                  <a:txBody>
                    <a:bodyPr/>
                    <a:lstStyle/>
                    <a:p>
                      <a:pPr fontAlgn="t">
                        <a:buNone/>
                      </a:pPr>
                      <a:r>
                        <a:rPr lang="en-US">
                          <a:effectLst/>
                        </a:rPr>
                        <a:t>0</a:t>
                      </a:r>
                    </a:p>
                  </a:txBody>
                  <a:tcPr/>
                </a:tc>
                <a:tc>
                  <a:txBody>
                    <a:bodyPr/>
                    <a:lstStyle/>
                    <a:p>
                      <a:pPr fontAlgn="t">
                        <a:buNone/>
                      </a:pPr>
                      <a:r>
                        <a:rPr lang="en-US">
                          <a:effectLst/>
                        </a:rPr>
                        <a:t>2.054218</a:t>
                      </a:r>
                    </a:p>
                  </a:txBody>
                  <a:tcPr/>
                </a:tc>
                <a:tc>
                  <a:txBody>
                    <a:bodyPr/>
                    <a:lstStyle/>
                    <a:p>
                      <a:pPr fontAlgn="t">
                        <a:buNone/>
                      </a:pPr>
                      <a:r>
                        <a:rPr lang="en-US">
                          <a:effectLst/>
                        </a:rPr>
                        <a:t>3.0</a:t>
                      </a:r>
                    </a:p>
                  </a:txBody>
                  <a:tcPr/>
                </a:tc>
                <a:extLst>
                  <a:ext uri="{0D108BD9-81ED-4DB2-BD59-A6C34878D82A}">
                    <a16:rowId xmlns:a16="http://schemas.microsoft.com/office/drawing/2014/main" val="791096252"/>
                  </a:ext>
                </a:extLst>
              </a:tr>
              <a:tr h="567990">
                <a:tc>
                  <a:txBody>
                    <a:bodyPr/>
                    <a:lstStyle/>
                    <a:p>
                      <a:pPr fontAlgn="t">
                        <a:buNone/>
                      </a:pPr>
                      <a:r>
                        <a:rPr lang="en-US" dirty="0">
                          <a:effectLst/>
                        </a:rPr>
                        <a:t>17</a:t>
                      </a:r>
                    </a:p>
                  </a:txBody>
                  <a:tcPr/>
                </a:tc>
                <a:tc>
                  <a:txBody>
                    <a:bodyPr/>
                    <a:lstStyle/>
                    <a:p>
                      <a:pPr fontAlgn="t">
                        <a:buNone/>
                      </a:pPr>
                      <a:r>
                        <a:rPr lang="en-US">
                          <a:effectLst/>
                        </a:rPr>
                        <a:t>1</a:t>
                      </a:r>
                    </a:p>
                  </a:txBody>
                  <a:tcPr/>
                </a:tc>
                <a:tc>
                  <a:txBody>
                    <a:bodyPr/>
                    <a:lstStyle/>
                    <a:p>
                      <a:pPr fontAlgn="t">
                        <a:buNone/>
                      </a:pPr>
                      <a:r>
                        <a:rPr lang="en-US" dirty="0">
                          <a:effectLst/>
                        </a:rPr>
                        <a:t>0</a:t>
                      </a:r>
                    </a:p>
                  </a:txBody>
                  <a:tcPr/>
                </a:tc>
                <a:tc>
                  <a:txBody>
                    <a:bodyPr/>
                    <a:lstStyle/>
                    <a:p>
                      <a:pPr fontAlgn="t">
                        <a:buNone/>
                      </a:pPr>
                      <a:r>
                        <a:rPr lang="en-US">
                          <a:effectLst/>
                        </a:rPr>
                        <a:t>2</a:t>
                      </a:r>
                    </a:p>
                  </a:txBody>
                  <a:tcPr/>
                </a:tc>
                <a:tc>
                  <a:txBody>
                    <a:bodyPr/>
                    <a:lstStyle/>
                    <a:p>
                      <a:pPr fontAlgn="t">
                        <a:buNone/>
                      </a:pPr>
                      <a:r>
                        <a:rPr lang="en-US">
                          <a:effectLst/>
                        </a:rPr>
                        <a:t>4.672495</a:t>
                      </a:r>
                    </a:p>
                  </a:txBody>
                  <a:tcPr/>
                </a:tc>
                <a:tc>
                  <a:txBody>
                    <a:bodyPr/>
                    <a:lstStyle/>
                    <a:p>
                      <a:pPr fontAlgn="t">
                        <a:buNone/>
                      </a:pPr>
                      <a:r>
                        <a:rPr lang="en-US">
                          <a:effectLst/>
                        </a:rPr>
                        <a:t>17</a:t>
                      </a:r>
                    </a:p>
                  </a:txBody>
                  <a:tcPr/>
                </a:tc>
                <a:tc>
                  <a:txBody>
                    <a:bodyPr/>
                    <a:lstStyle/>
                    <a:p>
                      <a:pPr fontAlgn="t">
                        <a:buNone/>
                      </a:pPr>
                      <a:r>
                        <a:rPr lang="en-US">
                          <a:effectLst/>
                        </a:rPr>
                        <a:t>1</a:t>
                      </a:r>
                    </a:p>
                  </a:txBody>
                  <a:tcPr/>
                </a:tc>
                <a:tc>
                  <a:txBody>
                    <a:bodyPr/>
                    <a:lstStyle/>
                    <a:p>
                      <a:pPr fontAlgn="t">
                        <a:buNone/>
                      </a:pPr>
                      <a:r>
                        <a:rPr lang="en-US">
                          <a:effectLst/>
                        </a:rPr>
                        <a:t>3</a:t>
                      </a:r>
                    </a:p>
                  </a:txBody>
                  <a:tcPr/>
                </a:tc>
                <a:tc>
                  <a:txBody>
                    <a:bodyPr/>
                    <a:lstStyle/>
                    <a:p>
                      <a:pPr fontAlgn="t">
                        <a:buNone/>
                      </a:pPr>
                      <a:r>
                        <a:rPr lang="en-US">
                          <a:effectLst/>
                        </a:rPr>
                        <a:t>0</a:t>
                      </a:r>
                    </a:p>
                  </a:txBody>
                  <a:tcPr/>
                </a:tc>
                <a:tc>
                  <a:txBody>
                    <a:bodyPr/>
                    <a:lstStyle/>
                    <a:p>
                      <a:pPr fontAlgn="t">
                        <a:buNone/>
                      </a:pPr>
                      <a:r>
                        <a:rPr lang="en-US">
                          <a:effectLst/>
                        </a:rPr>
                        <a:t>0</a:t>
                      </a:r>
                    </a:p>
                  </a:txBody>
                  <a:tcPr/>
                </a:tc>
                <a:tc>
                  <a:txBody>
                    <a:bodyPr/>
                    <a:lstStyle/>
                    <a:p>
                      <a:pPr fontAlgn="t">
                        <a:buNone/>
                      </a:pPr>
                      <a:r>
                        <a:rPr lang="en-US">
                          <a:effectLst/>
                        </a:rPr>
                        <a:t>0</a:t>
                      </a:r>
                    </a:p>
                  </a:txBody>
                  <a:tcPr/>
                </a:tc>
                <a:tc>
                  <a:txBody>
                    <a:bodyPr/>
                    <a:lstStyle/>
                    <a:p>
                      <a:pPr fontAlgn="t">
                        <a:buNone/>
                      </a:pPr>
                      <a:r>
                        <a:rPr lang="en-US">
                          <a:effectLst/>
                        </a:rPr>
                        <a:t>0</a:t>
                      </a:r>
                    </a:p>
                  </a:txBody>
                  <a:tcPr/>
                </a:tc>
                <a:tc>
                  <a:txBody>
                    <a:bodyPr/>
                    <a:lstStyle/>
                    <a:p>
                      <a:pPr fontAlgn="t">
                        <a:buNone/>
                      </a:pPr>
                      <a:r>
                        <a:rPr lang="en-US">
                          <a:effectLst/>
                        </a:rPr>
                        <a:t>1.288061</a:t>
                      </a:r>
                    </a:p>
                  </a:txBody>
                  <a:tcPr/>
                </a:tc>
                <a:tc>
                  <a:txBody>
                    <a:bodyPr/>
                    <a:lstStyle/>
                    <a:p>
                      <a:pPr fontAlgn="t">
                        <a:buNone/>
                      </a:pPr>
                      <a:r>
                        <a:rPr lang="en-US" dirty="0">
                          <a:effectLst/>
                        </a:rPr>
                        <a:t>4.0</a:t>
                      </a:r>
                    </a:p>
                  </a:txBody>
                  <a:tcPr/>
                </a:tc>
                <a:extLst>
                  <a:ext uri="{0D108BD9-81ED-4DB2-BD59-A6C34878D82A}">
                    <a16:rowId xmlns:a16="http://schemas.microsoft.com/office/drawing/2014/main" val="2938190068"/>
                  </a:ext>
                </a:extLst>
              </a:tr>
            </a:tbl>
          </a:graphicData>
        </a:graphic>
      </p:graphicFrame>
      <p:sp>
        <p:nvSpPr>
          <p:cNvPr id="5" name="Rectangle 1">
            <a:extLst>
              <a:ext uri="{FF2B5EF4-FFF2-40B4-BE49-F238E27FC236}">
                <a16:creationId xmlns:a16="http://schemas.microsoft.com/office/drawing/2014/main" id="{08829095-3BD4-71F0-23E6-29A71A218D56}"/>
              </a:ext>
            </a:extLst>
          </p:cNvPr>
          <p:cNvSpPr>
            <a:spLocks noChangeArrowheads="1"/>
          </p:cNvSpPr>
          <p:nvPr/>
        </p:nvSpPr>
        <p:spPr bwMode="auto">
          <a:xfrm>
            <a:off x="621758" y="1408210"/>
            <a:ext cx="11855378"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US" sz="2500" dirty="0">
                <a:latin typeface="Calibri" panose="020F0502020204030204" pitchFamily="34" charset="0"/>
                <a:ea typeface="Calibri" panose="020F0502020204030204" pitchFamily="34" charset="0"/>
                <a:cs typeface="Calibri" panose="020F0502020204030204" pitchFamily="34" charset="0"/>
              </a:rPr>
              <a:t>First 5 rows of dataset</a:t>
            </a:r>
          </a:p>
        </p:txBody>
      </p:sp>
    </p:spTree>
    <p:extLst>
      <p:ext uri="{BB962C8B-B14F-4D97-AF65-F5344CB8AC3E}">
        <p14:creationId xmlns:p14="http://schemas.microsoft.com/office/powerpoint/2010/main" val="27048746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13227859-4DB0-9326-784F-92D9D1FB222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4269DEE-DC97-9E9C-09B3-D7A201A5F073}"/>
              </a:ext>
            </a:extLst>
          </p:cNvPr>
          <p:cNvSpPr txBox="1"/>
          <p:nvPr/>
        </p:nvSpPr>
        <p:spPr>
          <a:xfrm>
            <a:off x="480838" y="138897"/>
            <a:ext cx="7054281" cy="769441"/>
          </a:xfrm>
          <a:prstGeom prst="rect">
            <a:avLst/>
          </a:prstGeom>
          <a:noFill/>
        </p:spPr>
        <p:txBody>
          <a:bodyPr wrap="square" rtlCol="0">
            <a:spAutoFit/>
          </a:bodyPr>
          <a:lstStyle/>
          <a:p>
            <a:r>
              <a:rPr kumimoji="0" lang="en-US" sz="44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Dataset Description</a:t>
            </a:r>
            <a:endParaRPr lang="en-US" dirty="0"/>
          </a:p>
        </p:txBody>
      </p:sp>
      <p:sp>
        <p:nvSpPr>
          <p:cNvPr id="5" name="Rectangle 1">
            <a:extLst>
              <a:ext uri="{FF2B5EF4-FFF2-40B4-BE49-F238E27FC236}">
                <a16:creationId xmlns:a16="http://schemas.microsoft.com/office/drawing/2014/main" id="{6DAAABBD-3C52-CFA8-4708-DAB399FDDA11}"/>
              </a:ext>
            </a:extLst>
          </p:cNvPr>
          <p:cNvSpPr>
            <a:spLocks noChangeArrowheads="1"/>
          </p:cNvSpPr>
          <p:nvPr/>
        </p:nvSpPr>
        <p:spPr bwMode="auto">
          <a:xfrm>
            <a:off x="671052" y="1388141"/>
            <a:ext cx="1185537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6"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Target Variable : GPA</a:t>
            </a:r>
          </a:p>
          <a:p>
            <a:pPr marL="342900" lvl="5"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Reason for choosing GPA over GradeClass.</a:t>
            </a:r>
          </a:p>
          <a:p>
            <a:pPr marL="342900" indent="-342900">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endParaRPr lang="en-US" sz="20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8FFBBD06-7B9F-AB47-EA08-13138E0E65C7}"/>
              </a:ext>
            </a:extLst>
          </p:cNvPr>
          <p:cNvGraphicFramePr>
            <a:graphicFrameLocks noGrp="1"/>
          </p:cNvGraphicFramePr>
          <p:nvPr>
            <p:extLst>
              <p:ext uri="{D42A27DB-BD31-4B8C-83A1-F6EECF244321}">
                <p14:modId xmlns:p14="http://schemas.microsoft.com/office/powerpoint/2010/main" val="628489740"/>
              </p:ext>
            </p:extLst>
          </p:nvPr>
        </p:nvGraphicFramePr>
        <p:xfrm>
          <a:off x="749710" y="2233411"/>
          <a:ext cx="10515600" cy="2133600"/>
        </p:xfrm>
        <a:graphic>
          <a:graphicData uri="http://schemas.openxmlformats.org/drawingml/2006/table">
            <a:tbl>
              <a:tblPr>
                <a:tableStyleId>{5940675A-B579-460E-94D1-54222C63F5DA}</a:tableStyleId>
              </a:tblPr>
              <a:tblGrid>
                <a:gridCol w="1246239">
                  <a:extLst>
                    <a:ext uri="{9D8B030D-6E8A-4147-A177-3AD203B41FA5}">
                      <a16:colId xmlns:a16="http://schemas.microsoft.com/office/drawing/2014/main" val="573857667"/>
                    </a:ext>
                  </a:extLst>
                </a:gridCol>
                <a:gridCol w="1090561">
                  <a:extLst>
                    <a:ext uri="{9D8B030D-6E8A-4147-A177-3AD203B41FA5}">
                      <a16:colId xmlns:a16="http://schemas.microsoft.com/office/drawing/2014/main" val="3562540029"/>
                    </a:ext>
                  </a:extLst>
                </a:gridCol>
                <a:gridCol w="1168400">
                  <a:extLst>
                    <a:ext uri="{9D8B030D-6E8A-4147-A177-3AD203B41FA5}">
                      <a16:colId xmlns:a16="http://schemas.microsoft.com/office/drawing/2014/main" val="2479801622"/>
                    </a:ext>
                  </a:extLst>
                </a:gridCol>
                <a:gridCol w="1168400">
                  <a:extLst>
                    <a:ext uri="{9D8B030D-6E8A-4147-A177-3AD203B41FA5}">
                      <a16:colId xmlns:a16="http://schemas.microsoft.com/office/drawing/2014/main" val="1448645335"/>
                    </a:ext>
                  </a:extLst>
                </a:gridCol>
                <a:gridCol w="1168400">
                  <a:extLst>
                    <a:ext uri="{9D8B030D-6E8A-4147-A177-3AD203B41FA5}">
                      <a16:colId xmlns:a16="http://schemas.microsoft.com/office/drawing/2014/main" val="1486914443"/>
                    </a:ext>
                  </a:extLst>
                </a:gridCol>
                <a:gridCol w="1168400">
                  <a:extLst>
                    <a:ext uri="{9D8B030D-6E8A-4147-A177-3AD203B41FA5}">
                      <a16:colId xmlns:a16="http://schemas.microsoft.com/office/drawing/2014/main" val="488910646"/>
                    </a:ext>
                  </a:extLst>
                </a:gridCol>
                <a:gridCol w="1168400">
                  <a:extLst>
                    <a:ext uri="{9D8B030D-6E8A-4147-A177-3AD203B41FA5}">
                      <a16:colId xmlns:a16="http://schemas.microsoft.com/office/drawing/2014/main" val="2377398390"/>
                    </a:ext>
                  </a:extLst>
                </a:gridCol>
                <a:gridCol w="1168400">
                  <a:extLst>
                    <a:ext uri="{9D8B030D-6E8A-4147-A177-3AD203B41FA5}">
                      <a16:colId xmlns:a16="http://schemas.microsoft.com/office/drawing/2014/main" val="3889430954"/>
                    </a:ext>
                  </a:extLst>
                </a:gridCol>
                <a:gridCol w="1168400">
                  <a:extLst>
                    <a:ext uri="{9D8B030D-6E8A-4147-A177-3AD203B41FA5}">
                      <a16:colId xmlns:a16="http://schemas.microsoft.com/office/drawing/2014/main" val="2923715294"/>
                    </a:ext>
                  </a:extLst>
                </a:gridCol>
              </a:tblGrid>
              <a:tr h="0">
                <a:tc>
                  <a:txBody>
                    <a:bodyPr/>
                    <a:lstStyle/>
                    <a:p>
                      <a:pPr algn="ctr">
                        <a:buNone/>
                      </a:pPr>
                      <a:endParaRPr lang="en-US" b="1" dirty="0">
                        <a:effectLst/>
                      </a:endParaRPr>
                    </a:p>
                  </a:txBody>
                  <a:tcPr anchor="ctr"/>
                </a:tc>
                <a:tc>
                  <a:txBody>
                    <a:bodyPr/>
                    <a:lstStyle/>
                    <a:p>
                      <a:pPr algn="ctr">
                        <a:buNone/>
                      </a:pPr>
                      <a:r>
                        <a:rPr lang="en-US" b="1" dirty="0">
                          <a:effectLst/>
                        </a:rPr>
                        <a:t>count</a:t>
                      </a:r>
                    </a:p>
                  </a:txBody>
                  <a:tcPr anchor="ctr"/>
                </a:tc>
                <a:tc>
                  <a:txBody>
                    <a:bodyPr/>
                    <a:lstStyle/>
                    <a:p>
                      <a:pPr algn="ctr">
                        <a:buNone/>
                      </a:pPr>
                      <a:r>
                        <a:rPr lang="en-US" b="1" dirty="0">
                          <a:effectLst/>
                        </a:rPr>
                        <a:t>mean</a:t>
                      </a:r>
                    </a:p>
                  </a:txBody>
                  <a:tcPr anchor="ctr"/>
                </a:tc>
                <a:tc>
                  <a:txBody>
                    <a:bodyPr/>
                    <a:lstStyle/>
                    <a:p>
                      <a:pPr algn="ctr">
                        <a:buNone/>
                      </a:pPr>
                      <a:r>
                        <a:rPr lang="en-US" b="1" dirty="0">
                          <a:effectLst/>
                        </a:rPr>
                        <a:t>std</a:t>
                      </a:r>
                    </a:p>
                  </a:txBody>
                  <a:tcPr anchor="ctr"/>
                </a:tc>
                <a:tc>
                  <a:txBody>
                    <a:bodyPr/>
                    <a:lstStyle/>
                    <a:p>
                      <a:pPr algn="ctr">
                        <a:buNone/>
                      </a:pPr>
                      <a:r>
                        <a:rPr lang="en-US" b="1" dirty="0">
                          <a:effectLst/>
                        </a:rPr>
                        <a:t>min</a:t>
                      </a:r>
                    </a:p>
                  </a:txBody>
                  <a:tcPr anchor="ctr"/>
                </a:tc>
                <a:tc>
                  <a:txBody>
                    <a:bodyPr/>
                    <a:lstStyle/>
                    <a:p>
                      <a:pPr algn="ctr">
                        <a:buNone/>
                      </a:pPr>
                      <a:r>
                        <a:rPr lang="en-US" b="1" dirty="0">
                          <a:effectLst/>
                        </a:rPr>
                        <a:t>25%</a:t>
                      </a:r>
                    </a:p>
                  </a:txBody>
                  <a:tcPr anchor="ctr"/>
                </a:tc>
                <a:tc>
                  <a:txBody>
                    <a:bodyPr/>
                    <a:lstStyle/>
                    <a:p>
                      <a:pPr algn="ctr">
                        <a:buNone/>
                      </a:pPr>
                      <a:r>
                        <a:rPr lang="en-US" b="1" dirty="0">
                          <a:effectLst/>
                        </a:rPr>
                        <a:t>50%</a:t>
                      </a:r>
                    </a:p>
                  </a:txBody>
                  <a:tcPr anchor="ctr"/>
                </a:tc>
                <a:tc>
                  <a:txBody>
                    <a:bodyPr/>
                    <a:lstStyle/>
                    <a:p>
                      <a:pPr algn="ctr">
                        <a:buNone/>
                      </a:pPr>
                      <a:r>
                        <a:rPr lang="en-US" b="1" dirty="0">
                          <a:effectLst/>
                        </a:rPr>
                        <a:t>75%</a:t>
                      </a:r>
                    </a:p>
                  </a:txBody>
                  <a:tcPr anchor="ctr"/>
                </a:tc>
                <a:tc>
                  <a:txBody>
                    <a:bodyPr/>
                    <a:lstStyle/>
                    <a:p>
                      <a:pPr algn="ctr"/>
                      <a:r>
                        <a:rPr lang="en-US" b="1" dirty="0">
                          <a:effectLst/>
                        </a:rPr>
                        <a:t>max</a:t>
                      </a:r>
                      <a:endParaRPr lang="en-US" dirty="0"/>
                    </a:p>
                  </a:txBody>
                  <a:tcPr/>
                </a:tc>
                <a:extLst>
                  <a:ext uri="{0D108BD9-81ED-4DB2-BD59-A6C34878D82A}">
                    <a16:rowId xmlns:a16="http://schemas.microsoft.com/office/drawing/2014/main" val="1966013225"/>
                  </a:ext>
                </a:extLst>
              </a:tr>
              <a:tr h="0">
                <a:tc>
                  <a:txBody>
                    <a:bodyPr/>
                    <a:lstStyle/>
                    <a:p>
                      <a:pPr algn="ctr">
                        <a:buNone/>
                      </a:pPr>
                      <a:r>
                        <a:rPr lang="en-US" b="1" dirty="0">
                          <a:effectLst/>
                        </a:rPr>
                        <a:t>GradeClass</a:t>
                      </a:r>
                    </a:p>
                  </a:txBody>
                  <a:tcPr anchor="ctr"/>
                </a:tc>
                <a:tc>
                  <a:txBody>
                    <a:bodyPr/>
                    <a:lstStyle/>
                    <a:p>
                      <a:pPr algn="ctr">
                        <a:buNone/>
                      </a:pPr>
                      <a:endParaRPr lang="en-US" b="1">
                        <a:effectLst/>
                      </a:endParaRPr>
                    </a:p>
                  </a:txBody>
                  <a:tcPr anchor="ctr"/>
                </a:tc>
                <a:tc>
                  <a:txBody>
                    <a:bodyPr/>
                    <a:lstStyle/>
                    <a:p>
                      <a:pPr algn="ctr">
                        <a:buNone/>
                      </a:pPr>
                      <a:endParaRPr lang="en-US" b="1" dirty="0">
                        <a:effectLst/>
                      </a:endParaRPr>
                    </a:p>
                  </a:txBody>
                  <a:tcPr anchor="ctr"/>
                </a:tc>
                <a:tc>
                  <a:txBody>
                    <a:bodyPr/>
                    <a:lstStyle/>
                    <a:p>
                      <a:pPr algn="ctr">
                        <a:buNone/>
                      </a:pPr>
                      <a:endParaRPr lang="en-US" b="1" dirty="0">
                        <a:effectLst/>
                      </a:endParaRPr>
                    </a:p>
                  </a:txBody>
                  <a:tcPr anchor="ctr"/>
                </a:tc>
                <a:tc>
                  <a:txBody>
                    <a:bodyPr/>
                    <a:lstStyle/>
                    <a:p>
                      <a:pPr algn="ctr">
                        <a:buNone/>
                      </a:pPr>
                      <a:endParaRPr lang="en-US" b="1">
                        <a:effectLst/>
                      </a:endParaRPr>
                    </a:p>
                  </a:txBody>
                  <a:tcPr anchor="ctr"/>
                </a:tc>
                <a:tc>
                  <a:txBody>
                    <a:bodyPr/>
                    <a:lstStyle/>
                    <a:p>
                      <a:pPr algn="ctr">
                        <a:buNone/>
                      </a:pPr>
                      <a:endParaRPr lang="en-US" b="1">
                        <a:effectLst/>
                      </a:endParaRPr>
                    </a:p>
                  </a:txBody>
                  <a:tcPr anchor="ctr"/>
                </a:tc>
                <a:tc>
                  <a:txBody>
                    <a:bodyPr/>
                    <a:lstStyle/>
                    <a:p>
                      <a:pPr algn="ctr">
                        <a:buNone/>
                      </a:pPr>
                      <a:endParaRPr lang="en-US" b="1" dirty="0">
                        <a:effectLst/>
                      </a:endParaRPr>
                    </a:p>
                  </a:txBody>
                  <a:tcPr anchor="ctr"/>
                </a:tc>
                <a:tc>
                  <a:txBody>
                    <a:bodyPr/>
                    <a:lstStyle/>
                    <a:p>
                      <a:pPr algn="ctr">
                        <a:buNone/>
                      </a:pPr>
                      <a:endParaRPr lang="en-US" b="1" dirty="0">
                        <a:effectLst/>
                      </a:endParaRPr>
                    </a:p>
                  </a:txBody>
                  <a:tcPr anchor="ctr"/>
                </a:tc>
                <a:tc>
                  <a:txBody>
                    <a:bodyPr/>
                    <a:lstStyle/>
                    <a:p>
                      <a:pPr algn="ctr">
                        <a:buNone/>
                      </a:pPr>
                      <a:endParaRPr lang="en-US" b="1">
                        <a:effectLst/>
                      </a:endParaRPr>
                    </a:p>
                  </a:txBody>
                  <a:tcPr anchor="ctr"/>
                </a:tc>
                <a:extLst>
                  <a:ext uri="{0D108BD9-81ED-4DB2-BD59-A6C34878D82A}">
                    <a16:rowId xmlns:a16="http://schemas.microsoft.com/office/drawing/2014/main" val="631610751"/>
                  </a:ext>
                </a:extLst>
              </a:tr>
              <a:tr h="0">
                <a:tc>
                  <a:txBody>
                    <a:bodyPr/>
                    <a:lstStyle/>
                    <a:p>
                      <a:pPr algn="ctr" fontAlgn="ctr">
                        <a:buNone/>
                      </a:pPr>
                      <a:r>
                        <a:rPr lang="en-US" b="1">
                          <a:effectLst/>
                        </a:rPr>
                        <a:t>0.0</a:t>
                      </a:r>
                    </a:p>
                  </a:txBody>
                  <a:tcPr anchor="ctr"/>
                </a:tc>
                <a:tc>
                  <a:txBody>
                    <a:bodyPr/>
                    <a:lstStyle/>
                    <a:p>
                      <a:pPr algn="ctr">
                        <a:buNone/>
                      </a:pPr>
                      <a:r>
                        <a:rPr lang="en-US" dirty="0">
                          <a:effectLst/>
                        </a:rPr>
                        <a:t>107.0</a:t>
                      </a:r>
                    </a:p>
                  </a:txBody>
                  <a:tcPr anchor="ctr"/>
                </a:tc>
                <a:tc>
                  <a:txBody>
                    <a:bodyPr/>
                    <a:lstStyle/>
                    <a:p>
                      <a:pPr algn="ctr">
                        <a:buNone/>
                      </a:pPr>
                      <a:r>
                        <a:rPr lang="en-US">
                          <a:effectLst/>
                        </a:rPr>
                        <a:t>3.102942</a:t>
                      </a:r>
                    </a:p>
                  </a:txBody>
                  <a:tcPr anchor="ctr"/>
                </a:tc>
                <a:tc>
                  <a:txBody>
                    <a:bodyPr/>
                    <a:lstStyle/>
                    <a:p>
                      <a:pPr algn="ctr">
                        <a:buNone/>
                      </a:pPr>
                      <a:r>
                        <a:rPr lang="en-US">
                          <a:effectLst/>
                        </a:rPr>
                        <a:t>0.946137</a:t>
                      </a:r>
                    </a:p>
                  </a:txBody>
                  <a:tcPr anchor="ctr"/>
                </a:tc>
                <a:tc>
                  <a:txBody>
                    <a:bodyPr/>
                    <a:lstStyle/>
                    <a:p>
                      <a:pPr algn="ctr">
                        <a:buNone/>
                      </a:pPr>
                      <a:r>
                        <a:rPr lang="en-US">
                          <a:effectLst/>
                        </a:rPr>
                        <a:t>0.214570</a:t>
                      </a:r>
                    </a:p>
                  </a:txBody>
                  <a:tcPr anchor="ctr"/>
                </a:tc>
                <a:tc>
                  <a:txBody>
                    <a:bodyPr/>
                    <a:lstStyle/>
                    <a:p>
                      <a:pPr algn="ctr">
                        <a:buNone/>
                      </a:pPr>
                      <a:r>
                        <a:rPr lang="en-US">
                          <a:effectLst/>
                        </a:rPr>
                        <a:t>2.562795</a:t>
                      </a:r>
                    </a:p>
                  </a:txBody>
                  <a:tcPr anchor="ctr"/>
                </a:tc>
                <a:tc>
                  <a:txBody>
                    <a:bodyPr/>
                    <a:lstStyle/>
                    <a:p>
                      <a:pPr algn="ctr">
                        <a:buNone/>
                      </a:pPr>
                      <a:r>
                        <a:rPr lang="en-US">
                          <a:effectLst/>
                        </a:rPr>
                        <a:t>3.548460</a:t>
                      </a:r>
                    </a:p>
                  </a:txBody>
                  <a:tcPr anchor="ctr"/>
                </a:tc>
                <a:tc>
                  <a:txBody>
                    <a:bodyPr/>
                    <a:lstStyle/>
                    <a:p>
                      <a:pPr algn="ctr">
                        <a:buNone/>
                      </a:pPr>
                      <a:r>
                        <a:rPr lang="en-US">
                          <a:effectLst/>
                        </a:rPr>
                        <a:t>3.694455</a:t>
                      </a:r>
                    </a:p>
                  </a:txBody>
                  <a:tcPr anchor="ctr"/>
                </a:tc>
                <a:tc>
                  <a:txBody>
                    <a:bodyPr/>
                    <a:lstStyle/>
                    <a:p>
                      <a:pPr algn="ctr">
                        <a:buNone/>
                      </a:pPr>
                      <a:r>
                        <a:rPr lang="en-US">
                          <a:effectLst/>
                        </a:rPr>
                        <a:t>4.000000</a:t>
                      </a:r>
                    </a:p>
                  </a:txBody>
                  <a:tcPr anchor="ctr"/>
                </a:tc>
                <a:extLst>
                  <a:ext uri="{0D108BD9-81ED-4DB2-BD59-A6C34878D82A}">
                    <a16:rowId xmlns:a16="http://schemas.microsoft.com/office/drawing/2014/main" val="3960755330"/>
                  </a:ext>
                </a:extLst>
              </a:tr>
              <a:tr h="0">
                <a:tc>
                  <a:txBody>
                    <a:bodyPr/>
                    <a:lstStyle/>
                    <a:p>
                      <a:pPr algn="ctr" fontAlgn="ctr">
                        <a:buNone/>
                      </a:pPr>
                      <a:r>
                        <a:rPr lang="en-US" b="1">
                          <a:effectLst/>
                        </a:rPr>
                        <a:t>1.0</a:t>
                      </a:r>
                    </a:p>
                  </a:txBody>
                  <a:tcPr anchor="ctr"/>
                </a:tc>
                <a:tc>
                  <a:txBody>
                    <a:bodyPr/>
                    <a:lstStyle/>
                    <a:p>
                      <a:pPr algn="ctr">
                        <a:buNone/>
                      </a:pPr>
                      <a:r>
                        <a:rPr lang="en-US">
                          <a:effectLst/>
                        </a:rPr>
                        <a:t>269.0</a:t>
                      </a:r>
                    </a:p>
                  </a:txBody>
                  <a:tcPr anchor="ctr"/>
                </a:tc>
                <a:tc>
                  <a:txBody>
                    <a:bodyPr/>
                    <a:lstStyle/>
                    <a:p>
                      <a:pPr algn="ctr">
                        <a:buNone/>
                      </a:pPr>
                      <a:r>
                        <a:rPr lang="en-US">
                          <a:effectLst/>
                        </a:rPr>
                        <a:t>3.001673</a:t>
                      </a:r>
                    </a:p>
                  </a:txBody>
                  <a:tcPr anchor="ctr"/>
                </a:tc>
                <a:tc>
                  <a:txBody>
                    <a:bodyPr/>
                    <a:lstStyle/>
                    <a:p>
                      <a:pPr algn="ctr">
                        <a:buNone/>
                      </a:pPr>
                      <a:r>
                        <a:rPr lang="en-US">
                          <a:effectLst/>
                        </a:rPr>
                        <a:t>0.630402</a:t>
                      </a:r>
                    </a:p>
                  </a:txBody>
                  <a:tcPr anchor="ctr"/>
                </a:tc>
                <a:tc>
                  <a:txBody>
                    <a:bodyPr/>
                    <a:lstStyle/>
                    <a:p>
                      <a:pPr algn="ctr">
                        <a:buNone/>
                      </a:pPr>
                      <a:r>
                        <a:rPr lang="en-US">
                          <a:effectLst/>
                        </a:rPr>
                        <a:t>0.000000</a:t>
                      </a:r>
                    </a:p>
                  </a:txBody>
                  <a:tcPr anchor="ctr"/>
                </a:tc>
                <a:tc>
                  <a:txBody>
                    <a:bodyPr/>
                    <a:lstStyle/>
                    <a:p>
                      <a:pPr algn="ctr">
                        <a:buNone/>
                      </a:pPr>
                      <a:r>
                        <a:rPr lang="en-US">
                          <a:effectLst/>
                        </a:rPr>
                        <a:t>3.055254</a:t>
                      </a:r>
                    </a:p>
                  </a:txBody>
                  <a:tcPr anchor="ctr"/>
                </a:tc>
                <a:tc>
                  <a:txBody>
                    <a:bodyPr/>
                    <a:lstStyle/>
                    <a:p>
                      <a:pPr algn="ctr">
                        <a:buNone/>
                      </a:pPr>
                      <a:r>
                        <a:rPr lang="en-US">
                          <a:effectLst/>
                        </a:rPr>
                        <a:t>3.167455</a:t>
                      </a:r>
                    </a:p>
                  </a:txBody>
                  <a:tcPr anchor="ctr"/>
                </a:tc>
                <a:tc>
                  <a:txBody>
                    <a:bodyPr/>
                    <a:lstStyle/>
                    <a:p>
                      <a:pPr algn="ctr">
                        <a:buNone/>
                      </a:pPr>
                      <a:r>
                        <a:rPr lang="en-US">
                          <a:effectLst/>
                        </a:rPr>
                        <a:t>3.332789</a:t>
                      </a:r>
                    </a:p>
                  </a:txBody>
                  <a:tcPr anchor="ctr"/>
                </a:tc>
                <a:tc>
                  <a:txBody>
                    <a:bodyPr/>
                    <a:lstStyle/>
                    <a:p>
                      <a:pPr algn="ctr">
                        <a:buNone/>
                      </a:pPr>
                      <a:r>
                        <a:rPr lang="en-US">
                          <a:effectLst/>
                        </a:rPr>
                        <a:t>3.572945</a:t>
                      </a:r>
                    </a:p>
                  </a:txBody>
                  <a:tcPr anchor="ctr"/>
                </a:tc>
                <a:extLst>
                  <a:ext uri="{0D108BD9-81ED-4DB2-BD59-A6C34878D82A}">
                    <a16:rowId xmlns:a16="http://schemas.microsoft.com/office/drawing/2014/main" val="3166421148"/>
                  </a:ext>
                </a:extLst>
              </a:tr>
              <a:tr h="0">
                <a:tc>
                  <a:txBody>
                    <a:bodyPr/>
                    <a:lstStyle/>
                    <a:p>
                      <a:pPr algn="ctr" fontAlgn="ctr">
                        <a:buNone/>
                      </a:pPr>
                      <a:r>
                        <a:rPr lang="en-US" b="1">
                          <a:effectLst/>
                        </a:rPr>
                        <a:t>2.0</a:t>
                      </a:r>
                    </a:p>
                  </a:txBody>
                  <a:tcPr anchor="ctr"/>
                </a:tc>
                <a:tc>
                  <a:txBody>
                    <a:bodyPr/>
                    <a:lstStyle/>
                    <a:p>
                      <a:pPr algn="ctr">
                        <a:buNone/>
                      </a:pPr>
                      <a:r>
                        <a:rPr lang="en-US">
                          <a:effectLst/>
                        </a:rPr>
                        <a:t>391.0</a:t>
                      </a:r>
                    </a:p>
                  </a:txBody>
                  <a:tcPr anchor="ctr"/>
                </a:tc>
                <a:tc>
                  <a:txBody>
                    <a:bodyPr/>
                    <a:lstStyle/>
                    <a:p>
                      <a:pPr algn="ctr">
                        <a:buNone/>
                      </a:pPr>
                      <a:r>
                        <a:rPr lang="en-US">
                          <a:effectLst/>
                        </a:rPr>
                        <a:t>2.659742</a:t>
                      </a:r>
                    </a:p>
                  </a:txBody>
                  <a:tcPr anchor="ctr"/>
                </a:tc>
                <a:tc>
                  <a:txBody>
                    <a:bodyPr/>
                    <a:lstStyle/>
                    <a:p>
                      <a:pPr algn="ctr">
                        <a:buNone/>
                      </a:pPr>
                      <a:r>
                        <a:rPr lang="en-US">
                          <a:effectLst/>
                        </a:rPr>
                        <a:t>0.378969</a:t>
                      </a:r>
                    </a:p>
                  </a:txBody>
                  <a:tcPr anchor="ctr"/>
                </a:tc>
                <a:tc>
                  <a:txBody>
                    <a:bodyPr/>
                    <a:lstStyle/>
                    <a:p>
                      <a:pPr algn="ctr">
                        <a:buNone/>
                      </a:pPr>
                      <a:r>
                        <a:rPr lang="en-US">
                          <a:effectLst/>
                        </a:rPr>
                        <a:t>0.557549</a:t>
                      </a:r>
                    </a:p>
                  </a:txBody>
                  <a:tcPr anchor="ctr"/>
                </a:tc>
                <a:tc>
                  <a:txBody>
                    <a:bodyPr/>
                    <a:lstStyle/>
                    <a:p>
                      <a:pPr algn="ctr">
                        <a:buNone/>
                      </a:pPr>
                      <a:r>
                        <a:rPr lang="en-US">
                          <a:effectLst/>
                        </a:rPr>
                        <a:t>2.590990</a:t>
                      </a:r>
                    </a:p>
                  </a:txBody>
                  <a:tcPr anchor="ctr"/>
                </a:tc>
                <a:tc>
                  <a:txBody>
                    <a:bodyPr/>
                    <a:lstStyle/>
                    <a:p>
                      <a:pPr algn="ctr">
                        <a:buNone/>
                      </a:pPr>
                      <a:r>
                        <a:rPr lang="en-US">
                          <a:effectLst/>
                        </a:rPr>
                        <a:t>2.712230</a:t>
                      </a:r>
                    </a:p>
                  </a:txBody>
                  <a:tcPr anchor="ctr"/>
                </a:tc>
                <a:tc>
                  <a:txBody>
                    <a:bodyPr/>
                    <a:lstStyle/>
                    <a:p>
                      <a:pPr algn="ctr">
                        <a:buNone/>
                      </a:pPr>
                      <a:r>
                        <a:rPr lang="en-US">
                          <a:effectLst/>
                        </a:rPr>
                        <a:t>2.851936</a:t>
                      </a:r>
                    </a:p>
                  </a:txBody>
                  <a:tcPr anchor="ctr"/>
                </a:tc>
                <a:tc>
                  <a:txBody>
                    <a:bodyPr/>
                    <a:lstStyle/>
                    <a:p>
                      <a:pPr algn="ctr">
                        <a:buNone/>
                      </a:pPr>
                      <a:r>
                        <a:rPr lang="en-US">
                          <a:effectLst/>
                        </a:rPr>
                        <a:t>3.597766</a:t>
                      </a:r>
                    </a:p>
                  </a:txBody>
                  <a:tcPr anchor="ctr"/>
                </a:tc>
                <a:extLst>
                  <a:ext uri="{0D108BD9-81ED-4DB2-BD59-A6C34878D82A}">
                    <a16:rowId xmlns:a16="http://schemas.microsoft.com/office/drawing/2014/main" val="2942595907"/>
                  </a:ext>
                </a:extLst>
              </a:tr>
              <a:tr h="0">
                <a:tc>
                  <a:txBody>
                    <a:bodyPr/>
                    <a:lstStyle/>
                    <a:p>
                      <a:pPr algn="ctr" fontAlgn="ctr">
                        <a:buNone/>
                      </a:pPr>
                      <a:r>
                        <a:rPr lang="en-US" b="1">
                          <a:effectLst/>
                        </a:rPr>
                        <a:t>3.0</a:t>
                      </a:r>
                    </a:p>
                  </a:txBody>
                  <a:tcPr anchor="ctr"/>
                </a:tc>
                <a:tc>
                  <a:txBody>
                    <a:bodyPr/>
                    <a:lstStyle/>
                    <a:p>
                      <a:pPr algn="ctr">
                        <a:buNone/>
                      </a:pPr>
                      <a:r>
                        <a:rPr lang="en-US">
                          <a:effectLst/>
                        </a:rPr>
                        <a:t>414.0</a:t>
                      </a:r>
                    </a:p>
                  </a:txBody>
                  <a:tcPr anchor="ctr"/>
                </a:tc>
                <a:tc>
                  <a:txBody>
                    <a:bodyPr/>
                    <a:lstStyle/>
                    <a:p>
                      <a:pPr algn="ctr">
                        <a:buNone/>
                      </a:pPr>
                      <a:r>
                        <a:rPr lang="en-US">
                          <a:effectLst/>
                        </a:rPr>
                        <a:t>2.215545</a:t>
                      </a:r>
                    </a:p>
                  </a:txBody>
                  <a:tcPr anchor="ctr"/>
                </a:tc>
                <a:tc>
                  <a:txBody>
                    <a:bodyPr/>
                    <a:lstStyle/>
                    <a:p>
                      <a:pPr algn="ctr">
                        <a:buNone/>
                      </a:pPr>
                      <a:r>
                        <a:rPr lang="en-US">
                          <a:effectLst/>
                        </a:rPr>
                        <a:t>0.361295</a:t>
                      </a:r>
                    </a:p>
                  </a:txBody>
                  <a:tcPr anchor="ctr"/>
                </a:tc>
                <a:tc>
                  <a:txBody>
                    <a:bodyPr/>
                    <a:lstStyle/>
                    <a:p>
                      <a:pPr algn="ctr">
                        <a:buNone/>
                      </a:pPr>
                      <a:r>
                        <a:rPr lang="en-US">
                          <a:effectLst/>
                        </a:rPr>
                        <a:t>0.000000</a:t>
                      </a:r>
                    </a:p>
                  </a:txBody>
                  <a:tcPr anchor="ctr"/>
                </a:tc>
                <a:tc>
                  <a:txBody>
                    <a:bodyPr/>
                    <a:lstStyle/>
                    <a:p>
                      <a:pPr algn="ctr">
                        <a:buNone/>
                      </a:pPr>
                      <a:r>
                        <a:rPr lang="en-US">
                          <a:effectLst/>
                        </a:rPr>
                        <a:t>2.122740</a:t>
                      </a:r>
                    </a:p>
                  </a:txBody>
                  <a:tcPr anchor="ctr"/>
                </a:tc>
                <a:tc>
                  <a:txBody>
                    <a:bodyPr/>
                    <a:lstStyle/>
                    <a:p>
                      <a:pPr algn="ctr">
                        <a:buNone/>
                      </a:pPr>
                      <a:r>
                        <a:rPr lang="en-US">
                          <a:effectLst/>
                        </a:rPr>
                        <a:t>2.238196</a:t>
                      </a:r>
                    </a:p>
                  </a:txBody>
                  <a:tcPr anchor="ctr"/>
                </a:tc>
                <a:tc>
                  <a:txBody>
                    <a:bodyPr/>
                    <a:lstStyle/>
                    <a:p>
                      <a:pPr algn="ctr">
                        <a:buNone/>
                      </a:pPr>
                      <a:r>
                        <a:rPr lang="en-US">
                          <a:effectLst/>
                        </a:rPr>
                        <a:t>2.377751</a:t>
                      </a:r>
                    </a:p>
                  </a:txBody>
                  <a:tcPr anchor="ctr"/>
                </a:tc>
                <a:tc>
                  <a:txBody>
                    <a:bodyPr/>
                    <a:lstStyle/>
                    <a:p>
                      <a:pPr algn="ctr">
                        <a:buNone/>
                      </a:pPr>
                      <a:r>
                        <a:rPr lang="en-US">
                          <a:effectLst/>
                        </a:rPr>
                        <a:t>4.000000</a:t>
                      </a:r>
                    </a:p>
                  </a:txBody>
                  <a:tcPr anchor="ctr"/>
                </a:tc>
                <a:extLst>
                  <a:ext uri="{0D108BD9-81ED-4DB2-BD59-A6C34878D82A}">
                    <a16:rowId xmlns:a16="http://schemas.microsoft.com/office/drawing/2014/main" val="3883082909"/>
                  </a:ext>
                </a:extLst>
              </a:tr>
              <a:tr h="0">
                <a:tc>
                  <a:txBody>
                    <a:bodyPr/>
                    <a:lstStyle/>
                    <a:p>
                      <a:pPr algn="ctr" fontAlgn="ctr">
                        <a:buNone/>
                      </a:pPr>
                      <a:r>
                        <a:rPr lang="en-US" b="1" dirty="0">
                          <a:effectLst/>
                        </a:rPr>
                        <a:t>4.0</a:t>
                      </a:r>
                    </a:p>
                  </a:txBody>
                  <a:tcPr anchor="ctr"/>
                </a:tc>
                <a:tc>
                  <a:txBody>
                    <a:bodyPr/>
                    <a:lstStyle/>
                    <a:p>
                      <a:pPr algn="ctr">
                        <a:buNone/>
                      </a:pPr>
                      <a:r>
                        <a:rPr lang="en-US">
                          <a:effectLst/>
                        </a:rPr>
                        <a:t>1211.0</a:t>
                      </a:r>
                    </a:p>
                  </a:txBody>
                  <a:tcPr anchor="ctr"/>
                </a:tc>
                <a:tc>
                  <a:txBody>
                    <a:bodyPr/>
                    <a:lstStyle/>
                    <a:p>
                      <a:pPr algn="ctr">
                        <a:buNone/>
                      </a:pPr>
                      <a:r>
                        <a:rPr lang="en-US">
                          <a:effectLst/>
                        </a:rPr>
                        <a:t>1.208041</a:t>
                      </a:r>
                    </a:p>
                  </a:txBody>
                  <a:tcPr anchor="ctr"/>
                </a:tc>
                <a:tc>
                  <a:txBody>
                    <a:bodyPr/>
                    <a:lstStyle/>
                    <a:p>
                      <a:pPr algn="ctr">
                        <a:buNone/>
                      </a:pPr>
                      <a:r>
                        <a:rPr lang="en-US">
                          <a:effectLst/>
                        </a:rPr>
                        <a:t>0.547875</a:t>
                      </a:r>
                    </a:p>
                  </a:txBody>
                  <a:tcPr anchor="ctr"/>
                </a:tc>
                <a:tc>
                  <a:txBody>
                    <a:bodyPr/>
                    <a:lstStyle/>
                    <a:p>
                      <a:pPr algn="ctr">
                        <a:buNone/>
                      </a:pPr>
                      <a:r>
                        <a:rPr lang="en-US">
                          <a:effectLst/>
                        </a:rPr>
                        <a:t>0.000000</a:t>
                      </a:r>
                    </a:p>
                  </a:txBody>
                  <a:tcPr anchor="ctr"/>
                </a:tc>
                <a:tc>
                  <a:txBody>
                    <a:bodyPr/>
                    <a:lstStyle/>
                    <a:p>
                      <a:pPr algn="ctr">
                        <a:buNone/>
                      </a:pPr>
                      <a:r>
                        <a:rPr lang="en-US">
                          <a:effectLst/>
                        </a:rPr>
                        <a:t>0.816809</a:t>
                      </a:r>
                    </a:p>
                  </a:txBody>
                  <a:tcPr anchor="ctr"/>
                </a:tc>
                <a:tc>
                  <a:txBody>
                    <a:bodyPr/>
                    <a:lstStyle/>
                    <a:p>
                      <a:pPr algn="ctr">
                        <a:buNone/>
                      </a:pPr>
                      <a:r>
                        <a:rPr lang="en-US">
                          <a:effectLst/>
                        </a:rPr>
                        <a:t>1.247482</a:t>
                      </a:r>
                    </a:p>
                  </a:txBody>
                  <a:tcPr anchor="ctr"/>
                </a:tc>
                <a:tc>
                  <a:txBody>
                    <a:bodyPr/>
                    <a:lstStyle/>
                    <a:p>
                      <a:pPr algn="ctr">
                        <a:buNone/>
                      </a:pPr>
                      <a:r>
                        <a:rPr lang="en-US">
                          <a:effectLst/>
                        </a:rPr>
                        <a:t>1.626695</a:t>
                      </a:r>
                    </a:p>
                  </a:txBody>
                  <a:tcPr anchor="ctr"/>
                </a:tc>
                <a:tc>
                  <a:txBody>
                    <a:bodyPr/>
                    <a:lstStyle/>
                    <a:p>
                      <a:pPr algn="ctr">
                        <a:buNone/>
                      </a:pPr>
                      <a:r>
                        <a:rPr lang="en-US" dirty="0">
                          <a:effectLst/>
                        </a:rPr>
                        <a:t>3.979421</a:t>
                      </a:r>
                    </a:p>
                  </a:txBody>
                  <a:tcPr anchor="ctr"/>
                </a:tc>
                <a:extLst>
                  <a:ext uri="{0D108BD9-81ED-4DB2-BD59-A6C34878D82A}">
                    <a16:rowId xmlns:a16="http://schemas.microsoft.com/office/drawing/2014/main" val="3711404418"/>
                  </a:ext>
                </a:extLst>
              </a:tr>
            </a:tbl>
          </a:graphicData>
        </a:graphic>
      </p:graphicFrame>
      <p:sp>
        <p:nvSpPr>
          <p:cNvPr id="8" name="TextBox 7">
            <a:extLst>
              <a:ext uri="{FF2B5EF4-FFF2-40B4-BE49-F238E27FC236}">
                <a16:creationId xmlns:a16="http://schemas.microsoft.com/office/drawing/2014/main" id="{69F6BA69-AF7D-17B6-999B-49E157E96B46}"/>
              </a:ext>
            </a:extLst>
          </p:cNvPr>
          <p:cNvSpPr txBox="1"/>
          <p:nvPr/>
        </p:nvSpPr>
        <p:spPr>
          <a:xfrm>
            <a:off x="671051" y="4624589"/>
            <a:ext cx="9515167" cy="2092881"/>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We have grouped statistical summary for GPA and GradeClass. </a:t>
            </a: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Reason to choose GPA over Grade class is that GradeClass is dependent on GPA.</a:t>
            </a: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As GradeClass increases , GPA(mean) value decreases.</a:t>
            </a: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It shows negative correlation between columns. </a:t>
            </a:r>
          </a:p>
          <a:p>
            <a:endParaRPr lang="en-US" sz="2500" dirty="0"/>
          </a:p>
          <a:p>
            <a:endParaRPr lang="en-US" sz="2500" dirty="0"/>
          </a:p>
        </p:txBody>
      </p:sp>
    </p:spTree>
    <p:extLst>
      <p:ext uri="{BB962C8B-B14F-4D97-AF65-F5344CB8AC3E}">
        <p14:creationId xmlns:p14="http://schemas.microsoft.com/office/powerpoint/2010/main" val="3693212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154BD8F1-5D3F-7889-34B2-897F0924E0D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919CB94-EE6D-B71E-DA83-20916DF89F6C}"/>
              </a:ext>
            </a:extLst>
          </p:cNvPr>
          <p:cNvSpPr>
            <a:spLocks noGrp="1"/>
          </p:cNvSpPr>
          <p:nvPr>
            <p:ph type="ctrTitle"/>
          </p:nvPr>
        </p:nvSpPr>
        <p:spPr/>
        <p:txBody>
          <a:bodyPr/>
          <a:lstStyle/>
          <a:p>
            <a:r>
              <a:rPr lang="en-US" dirty="0"/>
              <a:t>EDA</a:t>
            </a:r>
          </a:p>
        </p:txBody>
      </p:sp>
      <p:sp>
        <p:nvSpPr>
          <p:cNvPr id="5" name="Text Placeholder 4">
            <a:extLst>
              <a:ext uri="{FF2B5EF4-FFF2-40B4-BE49-F238E27FC236}">
                <a16:creationId xmlns:a16="http://schemas.microsoft.com/office/drawing/2014/main" id="{85E05635-879F-337B-7D0F-F36A9C3CA501}"/>
              </a:ext>
            </a:extLst>
          </p:cNvPr>
          <p:cNvSpPr>
            <a:spLocks noGrp="1"/>
          </p:cNvSpPr>
          <p:nvPr>
            <p:ph type="subTitle" idx="1"/>
          </p:nvPr>
        </p:nvSpPr>
        <p:spPr/>
        <p:txBody>
          <a:bodyPr/>
          <a:lstStyle/>
          <a:p>
            <a:r>
              <a:rPr lang="en-US" dirty="0"/>
              <a:t>Exploratory data analysis</a:t>
            </a:r>
          </a:p>
        </p:txBody>
      </p:sp>
    </p:spTree>
    <p:extLst>
      <p:ext uri="{BB962C8B-B14F-4D97-AF65-F5344CB8AC3E}">
        <p14:creationId xmlns:p14="http://schemas.microsoft.com/office/powerpoint/2010/main" val="2564732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15860984-737E-795F-5096-7C76204C605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7B30178-7E05-FC2B-2229-7E697ABDA526}"/>
              </a:ext>
            </a:extLst>
          </p:cNvPr>
          <p:cNvSpPr txBox="1"/>
          <p:nvPr/>
        </p:nvSpPr>
        <p:spPr>
          <a:xfrm>
            <a:off x="462988" y="196770"/>
            <a:ext cx="8495817" cy="677108"/>
          </a:xfrm>
          <a:prstGeom prst="rect">
            <a:avLst/>
          </a:prstGeom>
          <a:noFill/>
        </p:spPr>
        <p:txBody>
          <a:bodyPr wrap="square" rtlCol="0">
            <a:spAutoFit/>
          </a:bodyPr>
          <a:lstStyle/>
          <a:p>
            <a:r>
              <a:rPr kumimoji="0" lang="en-US" sz="38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Correlation matrix (Heatmap)</a:t>
            </a:r>
            <a:endParaRPr lang="en-US" sz="3800" dirty="0"/>
          </a:p>
        </p:txBody>
      </p:sp>
      <p:pic>
        <p:nvPicPr>
          <p:cNvPr id="1028" name="Picture 4">
            <a:extLst>
              <a:ext uri="{FF2B5EF4-FFF2-40B4-BE49-F238E27FC236}">
                <a16:creationId xmlns:a16="http://schemas.microsoft.com/office/drawing/2014/main" id="{46BD4D06-DC2B-4155-477A-022F80B048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1889" y="1123950"/>
            <a:ext cx="6457950" cy="5537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133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F801705F-0E95-D4BC-F939-C5CD9289A7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8752EB-CBA0-1E2D-09AE-E830CDBDA5E1}"/>
              </a:ext>
            </a:extLst>
          </p:cNvPr>
          <p:cNvSpPr>
            <a:spLocks noGrp="1"/>
          </p:cNvSpPr>
          <p:nvPr>
            <p:ph type="title"/>
          </p:nvPr>
        </p:nvSpPr>
        <p:spPr>
          <a:xfrm>
            <a:off x="838200" y="150470"/>
            <a:ext cx="7611319" cy="833377"/>
          </a:xfrm>
        </p:spPr>
        <p:txBody>
          <a:bodyPr>
            <a:normAutofit fontScale="90000"/>
          </a:bodyPr>
          <a:lstStyle/>
          <a:p>
            <a:r>
              <a:rPr lang="en-US" dirty="0"/>
              <a:t>Distribution of GPA and GradeClass</a:t>
            </a:r>
          </a:p>
        </p:txBody>
      </p:sp>
      <p:pic>
        <p:nvPicPr>
          <p:cNvPr id="7" name="Picture 6">
            <a:extLst>
              <a:ext uri="{FF2B5EF4-FFF2-40B4-BE49-F238E27FC236}">
                <a16:creationId xmlns:a16="http://schemas.microsoft.com/office/drawing/2014/main" id="{8459EA54-D5A9-C863-86C1-2A555885FA2D}"/>
              </a:ext>
            </a:extLst>
          </p:cNvPr>
          <p:cNvPicPr>
            <a:picLocks noChangeAspect="1"/>
          </p:cNvPicPr>
          <p:nvPr/>
        </p:nvPicPr>
        <p:blipFill>
          <a:blip r:embed="rId4"/>
          <a:stretch>
            <a:fillRect/>
          </a:stretch>
        </p:blipFill>
        <p:spPr>
          <a:xfrm>
            <a:off x="452285" y="1296362"/>
            <a:ext cx="5358580" cy="4583327"/>
          </a:xfrm>
          <a:prstGeom prst="rect">
            <a:avLst/>
          </a:prstGeom>
          <a:ln w="28575">
            <a:noFill/>
          </a:ln>
        </p:spPr>
      </p:pic>
      <p:pic>
        <p:nvPicPr>
          <p:cNvPr id="9" name="Picture 8">
            <a:extLst>
              <a:ext uri="{FF2B5EF4-FFF2-40B4-BE49-F238E27FC236}">
                <a16:creationId xmlns:a16="http://schemas.microsoft.com/office/drawing/2014/main" id="{3D6F0839-3A12-7B8F-D0EA-D87C5FDB31AB}"/>
              </a:ext>
            </a:extLst>
          </p:cNvPr>
          <p:cNvPicPr>
            <a:picLocks noChangeAspect="1"/>
          </p:cNvPicPr>
          <p:nvPr/>
        </p:nvPicPr>
        <p:blipFill>
          <a:blip r:embed="rId5"/>
          <a:srcRect l="1487" r="1089"/>
          <a:stretch>
            <a:fillRect/>
          </a:stretch>
        </p:blipFill>
        <p:spPr>
          <a:xfrm>
            <a:off x="5938682" y="1296363"/>
            <a:ext cx="5456905" cy="4583327"/>
          </a:xfrm>
          <a:prstGeom prst="rect">
            <a:avLst/>
          </a:prstGeom>
          <a:ln w="28575">
            <a:noFill/>
          </a:ln>
        </p:spPr>
      </p:pic>
    </p:spTree>
    <p:extLst>
      <p:ext uri="{BB962C8B-B14F-4D97-AF65-F5344CB8AC3E}">
        <p14:creationId xmlns:p14="http://schemas.microsoft.com/office/powerpoint/2010/main" val="17518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7AF84188-B663-5530-719A-8735F896BA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78F3B5-37F1-91EC-1E77-4132AF12F4FC}"/>
              </a:ext>
            </a:extLst>
          </p:cNvPr>
          <p:cNvSpPr>
            <a:spLocks noGrp="1"/>
          </p:cNvSpPr>
          <p:nvPr>
            <p:ph type="title"/>
          </p:nvPr>
        </p:nvSpPr>
        <p:spPr>
          <a:xfrm>
            <a:off x="838200" y="150470"/>
            <a:ext cx="7611319" cy="833377"/>
          </a:xfrm>
        </p:spPr>
        <p:txBody>
          <a:bodyPr>
            <a:normAutofit fontScale="90000"/>
          </a:bodyPr>
          <a:lstStyle/>
          <a:p>
            <a:r>
              <a:rPr lang="en-US" dirty="0"/>
              <a:t>Study Time VS  GPA and GradeClass</a:t>
            </a:r>
          </a:p>
        </p:txBody>
      </p:sp>
      <p:pic>
        <p:nvPicPr>
          <p:cNvPr id="7" name="Picture 6">
            <a:extLst>
              <a:ext uri="{FF2B5EF4-FFF2-40B4-BE49-F238E27FC236}">
                <a16:creationId xmlns:a16="http://schemas.microsoft.com/office/drawing/2014/main" id="{6ADF2B76-9A22-7AC6-772A-6F7FE6BC6ED8}"/>
              </a:ext>
            </a:extLst>
          </p:cNvPr>
          <p:cNvPicPr>
            <a:picLocks noChangeAspect="1"/>
          </p:cNvPicPr>
          <p:nvPr/>
        </p:nvPicPr>
        <p:blipFill>
          <a:blip r:embed="rId4"/>
          <a:srcRect/>
          <a:stretch/>
        </p:blipFill>
        <p:spPr>
          <a:xfrm>
            <a:off x="618361" y="1296362"/>
            <a:ext cx="4892681" cy="4880597"/>
          </a:xfrm>
          <a:prstGeom prst="rect">
            <a:avLst/>
          </a:prstGeom>
          <a:ln w="28575">
            <a:noFill/>
          </a:ln>
        </p:spPr>
      </p:pic>
      <p:pic>
        <p:nvPicPr>
          <p:cNvPr id="9" name="Picture 8">
            <a:extLst>
              <a:ext uri="{FF2B5EF4-FFF2-40B4-BE49-F238E27FC236}">
                <a16:creationId xmlns:a16="http://schemas.microsoft.com/office/drawing/2014/main" id="{96D59C03-2B94-0D3B-9D0B-1697C99E1A5F}"/>
              </a:ext>
            </a:extLst>
          </p:cNvPr>
          <p:cNvPicPr>
            <a:picLocks noChangeAspect="1"/>
          </p:cNvPicPr>
          <p:nvPr/>
        </p:nvPicPr>
        <p:blipFill>
          <a:blip r:embed="rId5"/>
          <a:srcRect l="1135"/>
          <a:stretch>
            <a:fillRect/>
          </a:stretch>
        </p:blipFill>
        <p:spPr>
          <a:xfrm>
            <a:off x="5840361" y="1296362"/>
            <a:ext cx="5537573" cy="4880597"/>
          </a:xfrm>
          <a:prstGeom prst="rect">
            <a:avLst/>
          </a:prstGeom>
          <a:ln w="28575">
            <a:noFill/>
          </a:ln>
        </p:spPr>
      </p:pic>
    </p:spTree>
    <p:extLst>
      <p:ext uri="{BB962C8B-B14F-4D97-AF65-F5344CB8AC3E}">
        <p14:creationId xmlns:p14="http://schemas.microsoft.com/office/powerpoint/2010/main" val="1706175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0C218C92-AB76-D9BA-F1F8-AC9F0C50A4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79D843-E833-5950-3CA0-EAF040B3915E}"/>
              </a:ext>
            </a:extLst>
          </p:cNvPr>
          <p:cNvSpPr>
            <a:spLocks noGrp="1"/>
          </p:cNvSpPr>
          <p:nvPr>
            <p:ph type="title"/>
          </p:nvPr>
        </p:nvSpPr>
        <p:spPr>
          <a:xfrm>
            <a:off x="838200" y="150470"/>
            <a:ext cx="7611319" cy="833377"/>
          </a:xfrm>
        </p:spPr>
        <p:txBody>
          <a:bodyPr>
            <a:normAutofit fontScale="90000"/>
          </a:bodyPr>
          <a:lstStyle/>
          <a:p>
            <a:r>
              <a:rPr lang="en-US" dirty="0"/>
              <a:t>Absences VS  GPA and GradeClass</a:t>
            </a:r>
          </a:p>
        </p:txBody>
      </p:sp>
      <p:pic>
        <p:nvPicPr>
          <p:cNvPr id="7" name="Picture 6">
            <a:extLst>
              <a:ext uri="{FF2B5EF4-FFF2-40B4-BE49-F238E27FC236}">
                <a16:creationId xmlns:a16="http://schemas.microsoft.com/office/drawing/2014/main" id="{AA092467-A0CB-0685-E1C1-D120E2502BD2}"/>
              </a:ext>
            </a:extLst>
          </p:cNvPr>
          <p:cNvPicPr>
            <a:picLocks noChangeAspect="1"/>
          </p:cNvPicPr>
          <p:nvPr/>
        </p:nvPicPr>
        <p:blipFill>
          <a:blip r:embed="rId4"/>
          <a:srcRect l="1227"/>
          <a:stretch>
            <a:fillRect/>
          </a:stretch>
        </p:blipFill>
        <p:spPr>
          <a:xfrm>
            <a:off x="609600" y="1296362"/>
            <a:ext cx="4958424" cy="4880597"/>
          </a:xfrm>
          <a:prstGeom prst="rect">
            <a:avLst/>
          </a:prstGeom>
          <a:ln w="28575">
            <a:noFill/>
          </a:ln>
        </p:spPr>
      </p:pic>
      <p:pic>
        <p:nvPicPr>
          <p:cNvPr id="9" name="Picture 8">
            <a:extLst>
              <a:ext uri="{FF2B5EF4-FFF2-40B4-BE49-F238E27FC236}">
                <a16:creationId xmlns:a16="http://schemas.microsoft.com/office/drawing/2014/main" id="{BD634378-E445-FC41-7B60-33D90997710A}"/>
              </a:ext>
            </a:extLst>
          </p:cNvPr>
          <p:cNvPicPr>
            <a:picLocks noChangeAspect="1"/>
          </p:cNvPicPr>
          <p:nvPr/>
        </p:nvPicPr>
        <p:blipFill>
          <a:blip r:embed="rId5"/>
          <a:srcRect l="1135"/>
          <a:stretch>
            <a:fillRect/>
          </a:stretch>
        </p:blipFill>
        <p:spPr>
          <a:xfrm>
            <a:off x="5919019" y="1296362"/>
            <a:ext cx="5537573" cy="4880597"/>
          </a:xfrm>
          <a:prstGeom prst="rect">
            <a:avLst/>
          </a:prstGeom>
          <a:ln w="28575">
            <a:noFill/>
          </a:ln>
        </p:spPr>
      </p:pic>
    </p:spTree>
    <p:extLst>
      <p:ext uri="{BB962C8B-B14F-4D97-AF65-F5344CB8AC3E}">
        <p14:creationId xmlns:p14="http://schemas.microsoft.com/office/powerpoint/2010/main" val="30007228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22CACD4F-4D86-22E5-D006-BBF8037B3D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DD35D-A009-6009-668D-531CED774F1A}"/>
              </a:ext>
            </a:extLst>
          </p:cNvPr>
          <p:cNvSpPr>
            <a:spLocks noGrp="1"/>
          </p:cNvSpPr>
          <p:nvPr>
            <p:ph type="title"/>
          </p:nvPr>
        </p:nvSpPr>
        <p:spPr>
          <a:xfrm>
            <a:off x="838200" y="150470"/>
            <a:ext cx="9302496" cy="833377"/>
          </a:xfrm>
        </p:spPr>
        <p:txBody>
          <a:bodyPr>
            <a:normAutofit/>
          </a:bodyPr>
          <a:lstStyle/>
          <a:p>
            <a:r>
              <a:rPr lang="en-US" sz="3500" dirty="0"/>
              <a:t>Sports Participation VS  GPA and GradeClass</a:t>
            </a:r>
          </a:p>
        </p:txBody>
      </p:sp>
      <p:pic>
        <p:nvPicPr>
          <p:cNvPr id="7" name="Picture 6">
            <a:extLst>
              <a:ext uri="{FF2B5EF4-FFF2-40B4-BE49-F238E27FC236}">
                <a16:creationId xmlns:a16="http://schemas.microsoft.com/office/drawing/2014/main" id="{47F1174D-CC37-4C1C-7EA8-7EDBDE69A80F}"/>
              </a:ext>
            </a:extLst>
          </p:cNvPr>
          <p:cNvPicPr>
            <a:picLocks noChangeAspect="1"/>
          </p:cNvPicPr>
          <p:nvPr/>
        </p:nvPicPr>
        <p:blipFill>
          <a:blip r:embed="rId4"/>
          <a:srcRect r="906"/>
          <a:stretch>
            <a:fillRect/>
          </a:stretch>
        </p:blipFill>
        <p:spPr>
          <a:xfrm>
            <a:off x="641074" y="1296362"/>
            <a:ext cx="4848374" cy="4880596"/>
          </a:xfrm>
          <a:prstGeom prst="rect">
            <a:avLst/>
          </a:prstGeom>
          <a:ln w="28575">
            <a:noFill/>
          </a:ln>
        </p:spPr>
      </p:pic>
      <p:pic>
        <p:nvPicPr>
          <p:cNvPr id="1026" name="Picture 2">
            <a:extLst>
              <a:ext uri="{FF2B5EF4-FFF2-40B4-BE49-F238E27FC236}">
                <a16:creationId xmlns:a16="http://schemas.microsoft.com/office/drawing/2014/main" id="{197DD51D-0A5F-785E-D181-D7AF47D367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8059" y="1531622"/>
            <a:ext cx="5534025" cy="4410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16567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0312CB50-A3D6-4E7E-A406-94DB042866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98080C-6DBC-53EF-2CAE-80E0B30AB5C0}"/>
              </a:ext>
            </a:extLst>
          </p:cNvPr>
          <p:cNvSpPr>
            <a:spLocks noGrp="1"/>
          </p:cNvSpPr>
          <p:nvPr>
            <p:ph type="title"/>
          </p:nvPr>
        </p:nvSpPr>
        <p:spPr>
          <a:xfrm>
            <a:off x="838200" y="150470"/>
            <a:ext cx="10207752" cy="833377"/>
          </a:xfrm>
        </p:spPr>
        <p:txBody>
          <a:bodyPr>
            <a:normAutofit/>
          </a:bodyPr>
          <a:lstStyle/>
          <a:p>
            <a:r>
              <a:rPr lang="en-US" sz="3200" dirty="0">
                <a:solidFill>
                  <a:srgbClr val="000000"/>
                </a:solidFill>
              </a:rPr>
              <a:t>Extracurricular activities</a:t>
            </a:r>
            <a:r>
              <a:rPr lang="en-US" sz="3200" dirty="0"/>
              <a:t> VS  GPA and GradeClass</a:t>
            </a:r>
          </a:p>
        </p:txBody>
      </p:sp>
      <p:pic>
        <p:nvPicPr>
          <p:cNvPr id="7" name="Picture 6">
            <a:extLst>
              <a:ext uri="{FF2B5EF4-FFF2-40B4-BE49-F238E27FC236}">
                <a16:creationId xmlns:a16="http://schemas.microsoft.com/office/drawing/2014/main" id="{C0E0E816-9C39-2F1C-4D4D-7C831B909831}"/>
              </a:ext>
            </a:extLst>
          </p:cNvPr>
          <p:cNvPicPr>
            <a:picLocks noChangeAspect="1"/>
          </p:cNvPicPr>
          <p:nvPr/>
        </p:nvPicPr>
        <p:blipFill>
          <a:blip r:embed="rId4"/>
          <a:srcRect/>
          <a:stretch/>
        </p:blipFill>
        <p:spPr>
          <a:xfrm>
            <a:off x="608528" y="1296361"/>
            <a:ext cx="4892681" cy="4880597"/>
          </a:xfrm>
          <a:prstGeom prst="rect">
            <a:avLst/>
          </a:prstGeom>
          <a:ln w="28575">
            <a:noFill/>
          </a:ln>
        </p:spPr>
      </p:pic>
      <p:pic>
        <p:nvPicPr>
          <p:cNvPr id="2050" name="Picture 2">
            <a:extLst>
              <a:ext uri="{FF2B5EF4-FFF2-40B4-BE49-F238E27FC236}">
                <a16:creationId xmlns:a16="http://schemas.microsoft.com/office/drawing/2014/main" id="{1492AE16-C3C4-3DF4-C37C-6C4E3A07ECF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8227" y="1410776"/>
            <a:ext cx="5534025" cy="4410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82343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61F0C4FA-1020-9847-B2BC-8D2E6C8866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0F0F26-7CE4-7EDA-C7EB-72CD0EDE085E}"/>
              </a:ext>
            </a:extLst>
          </p:cNvPr>
          <p:cNvSpPr>
            <a:spLocks noGrp="1"/>
          </p:cNvSpPr>
          <p:nvPr>
            <p:ph type="title"/>
          </p:nvPr>
        </p:nvSpPr>
        <p:spPr>
          <a:xfrm>
            <a:off x="838200" y="150470"/>
            <a:ext cx="7611319" cy="833377"/>
          </a:xfrm>
        </p:spPr>
        <p:txBody>
          <a:bodyPr>
            <a:normAutofit fontScale="90000"/>
          </a:bodyPr>
          <a:lstStyle/>
          <a:p>
            <a:r>
              <a:rPr lang="en-US" dirty="0"/>
              <a:t>Tutoring VS  GPA and GradeClass</a:t>
            </a:r>
          </a:p>
        </p:txBody>
      </p:sp>
      <p:pic>
        <p:nvPicPr>
          <p:cNvPr id="7" name="Picture 6">
            <a:extLst>
              <a:ext uri="{FF2B5EF4-FFF2-40B4-BE49-F238E27FC236}">
                <a16:creationId xmlns:a16="http://schemas.microsoft.com/office/drawing/2014/main" id="{1030DDEB-53BD-9C97-7F78-D15E6AEAD8E0}"/>
              </a:ext>
            </a:extLst>
          </p:cNvPr>
          <p:cNvPicPr>
            <a:picLocks noChangeAspect="1"/>
          </p:cNvPicPr>
          <p:nvPr/>
        </p:nvPicPr>
        <p:blipFill>
          <a:blip r:embed="rId4"/>
          <a:srcRect/>
          <a:stretch/>
        </p:blipFill>
        <p:spPr>
          <a:xfrm>
            <a:off x="638026" y="1296360"/>
            <a:ext cx="4892681" cy="4880597"/>
          </a:xfrm>
          <a:prstGeom prst="rect">
            <a:avLst/>
          </a:prstGeom>
          <a:ln w="28575">
            <a:noFill/>
          </a:ln>
        </p:spPr>
      </p:pic>
      <p:pic>
        <p:nvPicPr>
          <p:cNvPr id="3074" name="Picture 2">
            <a:extLst>
              <a:ext uri="{FF2B5EF4-FFF2-40B4-BE49-F238E27FC236}">
                <a16:creationId xmlns:a16="http://schemas.microsoft.com/office/drawing/2014/main" id="{DF811CFF-F8E9-D503-BCC6-E0945B30D3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82506" y="1531620"/>
            <a:ext cx="5534025" cy="4410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19455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E42E3AC6-5550-32A3-6D23-32035169E5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93E951-04B4-EB6C-48E7-BC0995C49E58}"/>
              </a:ext>
            </a:extLst>
          </p:cNvPr>
          <p:cNvSpPr>
            <a:spLocks noGrp="1"/>
          </p:cNvSpPr>
          <p:nvPr>
            <p:ph type="title"/>
          </p:nvPr>
        </p:nvSpPr>
        <p:spPr>
          <a:xfrm>
            <a:off x="838200" y="150470"/>
            <a:ext cx="8900160" cy="833377"/>
          </a:xfrm>
        </p:spPr>
        <p:txBody>
          <a:bodyPr>
            <a:noAutofit/>
          </a:bodyPr>
          <a:lstStyle/>
          <a:p>
            <a:r>
              <a:rPr lang="en-US" sz="3600" dirty="0"/>
              <a:t>Parental Support  VS  GPA and GradeClass</a:t>
            </a:r>
          </a:p>
        </p:txBody>
      </p:sp>
      <p:pic>
        <p:nvPicPr>
          <p:cNvPr id="7" name="Picture 6">
            <a:extLst>
              <a:ext uri="{FF2B5EF4-FFF2-40B4-BE49-F238E27FC236}">
                <a16:creationId xmlns:a16="http://schemas.microsoft.com/office/drawing/2014/main" id="{ED2CF3E2-76B4-C8F8-709E-0081B7101D64}"/>
              </a:ext>
            </a:extLst>
          </p:cNvPr>
          <p:cNvPicPr>
            <a:picLocks noChangeAspect="1"/>
          </p:cNvPicPr>
          <p:nvPr/>
        </p:nvPicPr>
        <p:blipFill>
          <a:blip r:embed="rId4"/>
          <a:srcRect t="1441"/>
          <a:stretch>
            <a:fillRect/>
          </a:stretch>
        </p:blipFill>
        <p:spPr>
          <a:xfrm>
            <a:off x="539703" y="1366684"/>
            <a:ext cx="4892681" cy="4810274"/>
          </a:xfrm>
          <a:prstGeom prst="rect">
            <a:avLst/>
          </a:prstGeom>
          <a:ln w="28575">
            <a:noFill/>
          </a:ln>
        </p:spPr>
      </p:pic>
      <p:pic>
        <p:nvPicPr>
          <p:cNvPr id="9" name="Picture 8">
            <a:extLst>
              <a:ext uri="{FF2B5EF4-FFF2-40B4-BE49-F238E27FC236}">
                <a16:creationId xmlns:a16="http://schemas.microsoft.com/office/drawing/2014/main" id="{A467EAD4-199E-6DA8-44F9-20527B0A7D2A}"/>
              </a:ext>
            </a:extLst>
          </p:cNvPr>
          <p:cNvPicPr>
            <a:picLocks noChangeAspect="1"/>
          </p:cNvPicPr>
          <p:nvPr/>
        </p:nvPicPr>
        <p:blipFill>
          <a:blip r:embed="rId5"/>
          <a:srcRect l="1310" t="1441" r="563"/>
          <a:stretch>
            <a:fillRect/>
          </a:stretch>
        </p:blipFill>
        <p:spPr>
          <a:xfrm>
            <a:off x="5722373" y="1366684"/>
            <a:ext cx="5496233" cy="4810274"/>
          </a:xfrm>
          <a:prstGeom prst="rect">
            <a:avLst/>
          </a:prstGeom>
          <a:ln w="28575">
            <a:noFill/>
          </a:ln>
        </p:spPr>
      </p:pic>
    </p:spTree>
    <p:extLst>
      <p:ext uri="{BB962C8B-B14F-4D97-AF65-F5344CB8AC3E}">
        <p14:creationId xmlns:p14="http://schemas.microsoft.com/office/powerpoint/2010/main" val="31867088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418353F0-9F13-4D2D-50E4-F47D105F076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2B8E51E-5305-AC31-8D6E-2F4FEE83AD4B}"/>
              </a:ext>
            </a:extLst>
          </p:cNvPr>
          <p:cNvSpPr txBox="1"/>
          <p:nvPr/>
        </p:nvSpPr>
        <p:spPr>
          <a:xfrm>
            <a:off x="1005840" y="128016"/>
            <a:ext cx="5090160" cy="769441"/>
          </a:xfrm>
          <a:prstGeom prst="rect">
            <a:avLst/>
          </a:prstGeom>
          <a:noFill/>
        </p:spPr>
        <p:txBody>
          <a:bodyPr wrap="square" rtlCol="0">
            <a:spAutoFit/>
          </a:bodyPr>
          <a:lstStyle/>
          <a:p>
            <a:r>
              <a:rPr kumimoji="0" lang="en-US" sz="44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Expected Outcome</a:t>
            </a:r>
            <a:endParaRPr lang="en-US" dirty="0"/>
          </a:p>
        </p:txBody>
      </p:sp>
      <p:sp>
        <p:nvSpPr>
          <p:cNvPr id="3" name="TextBox 2">
            <a:extLst>
              <a:ext uri="{FF2B5EF4-FFF2-40B4-BE49-F238E27FC236}">
                <a16:creationId xmlns:a16="http://schemas.microsoft.com/office/drawing/2014/main" id="{32318D79-F96C-B04F-FDC1-3A59CAD21285}"/>
              </a:ext>
            </a:extLst>
          </p:cNvPr>
          <p:cNvSpPr txBox="1"/>
          <p:nvPr/>
        </p:nvSpPr>
        <p:spPr>
          <a:xfrm>
            <a:off x="676656" y="1691640"/>
            <a:ext cx="9354312" cy="3923125"/>
          </a:xfrm>
          <a:prstGeom prst="rect">
            <a:avLst/>
          </a:prstGeom>
          <a:noFill/>
        </p:spPr>
        <p:txBody>
          <a:bodyPr wrap="square" rtlCol="0">
            <a:spAutoFit/>
          </a:bodyPr>
          <a:lstStyle/>
          <a:p>
            <a:pPr marL="457200" marR="0" lvl="0" indent="-342900" algn="l" defTabSz="914400" rtl="0" eaLnBrk="1" fontAlgn="auto" latinLnBrk="0" hangingPunct="1">
              <a:lnSpc>
                <a:spcPct val="90000"/>
              </a:lnSpc>
              <a:spcBef>
                <a:spcPts val="1000"/>
              </a:spcBef>
              <a:spcAft>
                <a:spcPts val="0"/>
              </a:spcAft>
              <a:buClr>
                <a:srgbClr val="000000"/>
              </a:buClr>
              <a:buSzPts val="1800"/>
              <a:buFont typeface="Arial" panose="020B0604020202020204"/>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The system will predict student academic performance using machine learning models and identify the key factors affecting student success.</a:t>
            </a:r>
          </a:p>
          <a:p>
            <a:pPr marL="457200" marR="0" lvl="0" indent="-342900" algn="l" defTabSz="914400" rtl="0" eaLnBrk="1" fontAlgn="auto" latinLnBrk="0" hangingPunct="1">
              <a:lnSpc>
                <a:spcPct val="90000"/>
              </a:lnSpc>
              <a:spcBef>
                <a:spcPts val="1000"/>
              </a:spcBef>
              <a:spcAft>
                <a:spcPts val="0"/>
              </a:spcAft>
              <a:buClr>
                <a:srgbClr val="000000"/>
              </a:buClr>
              <a:buSzPts val="1800"/>
              <a:buFont typeface="Arial" panose="020B0604020202020204"/>
              <a:buChar char="•"/>
              <a:tabLst/>
              <a:defRPr/>
            </a:pPr>
            <a:endParaRPr lang="en-US" sz="2800" dirty="0">
              <a:latin typeface="Calibri" panose="020F0502020204030204"/>
              <a:ea typeface="Calibri" panose="020F0502020204030204"/>
              <a:cs typeface="Calibri" panose="020F0502020204030204"/>
              <a:sym typeface="Calibri" panose="020F0502020204030204"/>
            </a:endParaRPr>
          </a:p>
          <a:p>
            <a:pPr marL="457200" marR="0" lvl="0" indent="-342900" algn="l" defTabSz="914400" rtl="0" eaLnBrk="1" fontAlgn="auto" latinLnBrk="0" hangingPunct="1">
              <a:lnSpc>
                <a:spcPct val="90000"/>
              </a:lnSpc>
              <a:spcBef>
                <a:spcPts val="1000"/>
              </a:spcBef>
              <a:spcAft>
                <a:spcPts val="0"/>
              </a:spcAft>
              <a:buClr>
                <a:srgbClr val="000000"/>
              </a:buClr>
              <a:buSzPts val="1800"/>
              <a:buFont typeface="Arial" panose="020B0604020202020204"/>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Model will </a:t>
            </a:r>
            <a:r>
              <a:rPr kumimoji="0" lang="en-US" sz="2800" b="0" i="0" u="none" strike="noStrike" kern="0" cap="none" spc="0" normalizeH="0" baseline="0" noProof="0" dirty="0" err="1">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predi</a:t>
            </a:r>
            <a:r>
              <a:rPr lang="en-US" sz="2800" dirty="0" err="1">
                <a:latin typeface="Calibri" panose="020F0502020204030204"/>
                <a:ea typeface="Calibri" panose="020F0502020204030204"/>
                <a:cs typeface="Calibri" panose="020F0502020204030204"/>
                <a:sym typeface="Calibri" panose="020F0502020204030204"/>
              </a:rPr>
              <a:t>ct</a:t>
            </a:r>
            <a:r>
              <a:rPr lang="en-US" sz="2800" dirty="0">
                <a:latin typeface="Calibri" panose="020F0502020204030204"/>
                <a:ea typeface="Calibri" panose="020F0502020204030204"/>
                <a:cs typeface="Calibri" panose="020F0502020204030204"/>
                <a:sym typeface="Calibri" panose="020F0502020204030204"/>
              </a:rPr>
              <a:t> the GPA and based on value of GPA we can apply condition and classify student in GradeClass</a:t>
            </a:r>
          </a:p>
          <a:p>
            <a:pPr marL="457200" marR="0" lvl="0" indent="-342900" algn="l" defTabSz="914400" rtl="0" eaLnBrk="1" fontAlgn="auto" latinLnBrk="0" hangingPunct="1">
              <a:lnSpc>
                <a:spcPct val="90000"/>
              </a:lnSpc>
              <a:spcBef>
                <a:spcPts val="1000"/>
              </a:spcBef>
              <a:spcAft>
                <a:spcPts val="0"/>
              </a:spcAft>
              <a:buClr>
                <a:srgbClr val="000000"/>
              </a:buClr>
              <a:buSzPts val="1800"/>
              <a:buFont typeface="Arial" panose="020B0604020202020204"/>
              <a:buChar char="•"/>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a:p>
            <a:pPr marL="457200" marR="0" lvl="0" indent="-342900" algn="l" defTabSz="914400" rtl="0" eaLnBrk="1" fontAlgn="auto" latinLnBrk="0" hangingPunct="1">
              <a:lnSpc>
                <a:spcPct val="90000"/>
              </a:lnSpc>
              <a:spcBef>
                <a:spcPts val="1000"/>
              </a:spcBef>
              <a:spcAft>
                <a:spcPts val="0"/>
              </a:spcAft>
              <a:buClr>
                <a:srgbClr val="000000"/>
              </a:buClr>
              <a:buSzPts val="1800"/>
              <a:buFont typeface="Arial" panose="020B0604020202020204"/>
              <a:buChar char="•"/>
              <a:tabLst/>
              <a:defRPr/>
            </a:pPr>
            <a:r>
              <a:rPr lang="en-US" sz="2800" dirty="0" err="1">
                <a:latin typeface="Calibri" panose="020F0502020204030204"/>
                <a:ea typeface="Calibri" panose="020F0502020204030204"/>
                <a:cs typeface="Calibri" panose="020F0502020204030204"/>
                <a:sym typeface="Calibri" panose="020F0502020204030204"/>
              </a:rPr>
              <a:t>Stuent_Performance_Data</a:t>
            </a:r>
            <a:r>
              <a:rPr lang="en-US" sz="2800" dirty="0">
                <a:latin typeface="Calibri" panose="020F0502020204030204"/>
                <a:ea typeface="Calibri" panose="020F0502020204030204"/>
                <a:cs typeface="Calibri" panose="020F0502020204030204"/>
                <a:sym typeface="Calibri" panose="020F0502020204030204"/>
              </a:rPr>
              <a:t> -&gt; GPA(predicted) -&gt; GradeClass</a:t>
            </a:r>
            <a:endParaRPr kumimoji="0" lang="en-US" sz="28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a:p>
            <a:endParaRPr lang="en-US" dirty="0"/>
          </a:p>
        </p:txBody>
      </p:sp>
    </p:spTree>
    <p:extLst>
      <p:ext uri="{BB962C8B-B14F-4D97-AF65-F5344CB8AC3E}">
        <p14:creationId xmlns:p14="http://schemas.microsoft.com/office/powerpoint/2010/main" val="14609352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C1E19036-8A17-3AC8-D4A7-ADD84BC719E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6F27569-3A14-AA11-C6C5-8142B931573F}"/>
              </a:ext>
            </a:extLst>
          </p:cNvPr>
          <p:cNvSpPr txBox="1"/>
          <p:nvPr/>
        </p:nvSpPr>
        <p:spPr>
          <a:xfrm>
            <a:off x="1005840" y="128016"/>
            <a:ext cx="5090160" cy="769441"/>
          </a:xfrm>
          <a:prstGeom prst="rect">
            <a:avLst/>
          </a:prstGeom>
          <a:noFill/>
        </p:spPr>
        <p:txBody>
          <a:bodyPr wrap="square" rtlCol="0">
            <a:spAutoFit/>
          </a:bodyPr>
          <a:lstStyle/>
          <a:p>
            <a:r>
              <a:rPr kumimoji="0" lang="en-US" sz="4400" b="0" i="0" u="none" strike="noStrike" kern="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Actual vs predicted </a:t>
            </a:r>
            <a:endParaRPr lang="en-US" dirty="0"/>
          </a:p>
        </p:txBody>
      </p:sp>
      <p:pic>
        <p:nvPicPr>
          <p:cNvPr id="5" name="Picture 4">
            <a:extLst>
              <a:ext uri="{FF2B5EF4-FFF2-40B4-BE49-F238E27FC236}">
                <a16:creationId xmlns:a16="http://schemas.microsoft.com/office/drawing/2014/main" id="{D4105CA3-BFBA-4CBB-F5E3-2B975432A72E}"/>
              </a:ext>
            </a:extLst>
          </p:cNvPr>
          <p:cNvPicPr>
            <a:picLocks noChangeAspect="1"/>
          </p:cNvPicPr>
          <p:nvPr/>
        </p:nvPicPr>
        <p:blipFill>
          <a:blip r:embed="rId4"/>
          <a:stretch>
            <a:fillRect/>
          </a:stretch>
        </p:blipFill>
        <p:spPr>
          <a:xfrm>
            <a:off x="222275" y="1302328"/>
            <a:ext cx="6080203" cy="5108305"/>
          </a:xfrm>
          <a:prstGeom prst="rect">
            <a:avLst/>
          </a:prstGeom>
        </p:spPr>
      </p:pic>
      <p:sp>
        <p:nvSpPr>
          <p:cNvPr id="7" name="TextBox 6">
            <a:extLst>
              <a:ext uri="{FF2B5EF4-FFF2-40B4-BE49-F238E27FC236}">
                <a16:creationId xmlns:a16="http://schemas.microsoft.com/office/drawing/2014/main" id="{54395F3B-44A1-159E-1B21-170003317417}"/>
              </a:ext>
            </a:extLst>
          </p:cNvPr>
          <p:cNvSpPr txBox="1"/>
          <p:nvPr/>
        </p:nvSpPr>
        <p:spPr>
          <a:xfrm>
            <a:off x="6440129" y="1607386"/>
            <a:ext cx="6096000" cy="3477875"/>
          </a:xfrm>
          <a:prstGeom prst="rect">
            <a:avLst/>
          </a:prstGeom>
          <a:noFill/>
        </p:spPr>
        <p:txBody>
          <a:bodyPr wrap="square">
            <a:spAutoFit/>
          </a:bodyPr>
          <a:lstStyle/>
          <a:p>
            <a:r>
              <a:rPr lang="en-US" sz="2000" dirty="0"/>
              <a:t>Testing Data Error</a:t>
            </a:r>
          </a:p>
          <a:p>
            <a:endParaRPr lang="en-US" sz="2000" dirty="0"/>
          </a:p>
          <a:p>
            <a:r>
              <a:rPr lang="en-US" dirty="0"/>
              <a:t>MSE: 0.03866144149454257</a:t>
            </a:r>
          </a:p>
          <a:p>
            <a:r>
              <a:rPr lang="en-US" dirty="0"/>
              <a:t>MAE: 0.15529483485748097</a:t>
            </a:r>
          </a:p>
          <a:p>
            <a:r>
              <a:rPr lang="en-US" dirty="0"/>
              <a:t>R2 Score: 0.9532471681022928</a:t>
            </a:r>
          </a:p>
          <a:p>
            <a:r>
              <a:rPr lang="en-US" dirty="0"/>
              <a:t>RMSE: 0.19662512935670906</a:t>
            </a:r>
          </a:p>
          <a:p>
            <a:endParaRPr lang="en-US" dirty="0"/>
          </a:p>
          <a:p>
            <a:endParaRPr lang="en-US" sz="2000" dirty="0"/>
          </a:p>
          <a:p>
            <a:r>
              <a:rPr lang="en-US" sz="2000" dirty="0"/>
              <a:t>Training Data Error</a:t>
            </a:r>
            <a:r>
              <a:rPr lang="en-US" dirty="0"/>
              <a:t> </a:t>
            </a:r>
          </a:p>
          <a:p>
            <a:endParaRPr lang="en-US" dirty="0"/>
          </a:p>
          <a:p>
            <a:r>
              <a:rPr lang="en-US" dirty="0"/>
              <a:t>MSE: 0.038497064610156735 </a:t>
            </a:r>
          </a:p>
          <a:p>
            <a:r>
              <a:rPr lang="en-US" dirty="0"/>
              <a:t>MAE: 0.15918013522226315 </a:t>
            </a:r>
          </a:p>
          <a:p>
            <a:r>
              <a:rPr lang="en-US" dirty="0"/>
              <a:t>R2 Score: 0.9541479286300485 </a:t>
            </a:r>
          </a:p>
          <a:p>
            <a:r>
              <a:rPr lang="en-US" dirty="0"/>
              <a:t>RMSE: 0.1962066884949561</a:t>
            </a:r>
          </a:p>
        </p:txBody>
      </p:sp>
    </p:spTree>
    <p:extLst>
      <p:ext uri="{BB962C8B-B14F-4D97-AF65-F5344CB8AC3E}">
        <p14:creationId xmlns:p14="http://schemas.microsoft.com/office/powerpoint/2010/main" val="42386810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DB70350D-2871-9F63-49A9-C0645AC8277C}"/>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636EB98C-3892-D65C-9592-D43C8176AAA1}"/>
              </a:ext>
            </a:extLst>
          </p:cNvPr>
          <p:cNvSpPr txBox="1">
            <a:spLocks noGrp="1"/>
          </p:cNvSpPr>
          <p:nvPr>
            <p:ph type="title"/>
          </p:nvPr>
        </p:nvSpPr>
        <p:spPr>
          <a:xfrm>
            <a:off x="3144441" y="2534281"/>
            <a:ext cx="5903117" cy="78226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sz="5000" b="1" dirty="0">
                <a:latin typeface="Proxima Nova" panose="02000506030000020004"/>
                <a:ea typeface="Proxima Nova" panose="02000506030000020004"/>
                <a:cs typeface="Proxima Nova" panose="02000506030000020004"/>
                <a:sym typeface="Proxima Nova" panose="02000506030000020004"/>
              </a:rPr>
              <a:t>Review 1 Complete </a:t>
            </a:r>
            <a:endParaRPr sz="5000" b="1" dirty="0">
              <a:latin typeface="Proxima Nova" panose="02000506030000020004"/>
              <a:ea typeface="Proxima Nova" panose="02000506030000020004"/>
              <a:cs typeface="Proxima Nova" panose="02000506030000020004"/>
              <a:sym typeface="Proxima Nova" panose="02000506030000020004"/>
            </a:endParaRPr>
          </a:p>
        </p:txBody>
      </p:sp>
    </p:spTree>
    <p:extLst>
      <p:ext uri="{BB962C8B-B14F-4D97-AF65-F5344CB8AC3E}">
        <p14:creationId xmlns:p14="http://schemas.microsoft.com/office/powerpoint/2010/main" val="35119833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58025934-B503-3B80-1457-316B432BCD26}"/>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02E85882-6251-7836-8782-67A4B35379A7}"/>
              </a:ext>
            </a:extLst>
          </p:cNvPr>
          <p:cNvSpPr txBox="1">
            <a:spLocks noGrp="1"/>
          </p:cNvSpPr>
          <p:nvPr>
            <p:ph type="title"/>
          </p:nvPr>
        </p:nvSpPr>
        <p:spPr>
          <a:xfrm>
            <a:off x="534259" y="309562"/>
            <a:ext cx="4863651"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sz="2400" b="1" dirty="0">
                <a:solidFill>
                  <a:srgbClr val="04A2B9"/>
                </a:solidFill>
                <a:latin typeface="+mj-lt"/>
                <a:ea typeface="Proxima Nova" panose="02000506030000020004"/>
                <a:cs typeface="Proxima Nova" panose="02000506030000020004"/>
                <a:sym typeface="Proxima Nova" panose="02000506030000020004"/>
              </a:rPr>
              <a:t>Comments of review 1</a:t>
            </a:r>
            <a:endParaRPr sz="2400" b="1" dirty="0">
              <a:latin typeface="+mj-lt"/>
              <a:ea typeface="Proxima Nova" panose="02000506030000020004"/>
              <a:cs typeface="Proxima Nova" panose="02000506030000020004"/>
              <a:sym typeface="Proxima Nova" panose="02000506030000020004"/>
            </a:endParaRPr>
          </a:p>
        </p:txBody>
      </p:sp>
      <p:sp>
        <p:nvSpPr>
          <p:cNvPr id="3" name="TextBox 2">
            <a:extLst>
              <a:ext uri="{FF2B5EF4-FFF2-40B4-BE49-F238E27FC236}">
                <a16:creationId xmlns:a16="http://schemas.microsoft.com/office/drawing/2014/main" id="{70F61A16-8018-D7E7-1FE8-88234885B7CA}"/>
              </a:ext>
            </a:extLst>
          </p:cNvPr>
          <p:cNvSpPr txBox="1"/>
          <p:nvPr/>
        </p:nvSpPr>
        <p:spPr>
          <a:xfrm>
            <a:off x="983225" y="1657412"/>
            <a:ext cx="6096000" cy="2677656"/>
          </a:xfrm>
          <a:prstGeom prst="rect">
            <a:avLst/>
          </a:prstGeom>
          <a:noFill/>
        </p:spPr>
        <p:txBody>
          <a:bodyPr wrap="square">
            <a:spAutoFit/>
          </a:bodyPr>
          <a:lstStyle/>
          <a:p>
            <a:pPr marL="342900" indent="-342900">
              <a:buFont typeface="Arial" panose="020B0604020202020204" pitchFamily="34" charset="0"/>
              <a:buChar char="•"/>
            </a:pPr>
            <a:r>
              <a:rPr lang="en-US" sz="2400" b="1" dirty="0">
                <a:latin typeface="Times New Roman" panose="02020603050405020304" pitchFamily="18" charset="0"/>
                <a:ea typeface="Proxima Nova" panose="02000506030000020004"/>
                <a:cs typeface="Times New Roman" panose="02020603050405020304" pitchFamily="18" charset="0"/>
                <a:sym typeface="Proxima Nova" panose="02000506030000020004"/>
              </a:rPr>
              <a:t>Balanced the dataset </a:t>
            </a:r>
            <a:br>
              <a:rPr lang="en-US" sz="2400" b="1" dirty="0">
                <a:latin typeface="Times New Roman" panose="02020603050405020304" pitchFamily="18" charset="0"/>
                <a:ea typeface="Proxima Nova" panose="02000506030000020004"/>
                <a:cs typeface="Times New Roman" panose="02020603050405020304" pitchFamily="18" charset="0"/>
                <a:sym typeface="Proxima Nova" panose="02000506030000020004"/>
              </a:rPr>
            </a:br>
            <a:r>
              <a:rPr lang="en-US" sz="2400" b="1" dirty="0">
                <a:latin typeface="Times New Roman" panose="02020603050405020304" pitchFamily="18" charset="0"/>
                <a:ea typeface="Proxima Nova" panose="02000506030000020004"/>
                <a:cs typeface="Times New Roman" panose="02020603050405020304" pitchFamily="18" charset="0"/>
                <a:sym typeface="Proxima Nova" panose="02000506030000020004"/>
              </a:rPr>
              <a:t>=&gt; Used Different models </a:t>
            </a:r>
            <a:br>
              <a:rPr lang="en-US" sz="2400" b="1" dirty="0">
                <a:latin typeface="Times New Roman" panose="02020603050405020304" pitchFamily="18" charset="0"/>
                <a:ea typeface="Proxima Nova" panose="02000506030000020004"/>
                <a:cs typeface="Times New Roman" panose="02020603050405020304" pitchFamily="18" charset="0"/>
                <a:sym typeface="Proxima Nova" panose="02000506030000020004"/>
              </a:rPr>
            </a:br>
            <a:r>
              <a:rPr lang="en-US" sz="2400" b="1" dirty="0">
                <a:latin typeface="Times New Roman" panose="02020603050405020304" pitchFamily="18" charset="0"/>
                <a:ea typeface="Proxima Nova" panose="02000506030000020004"/>
                <a:cs typeface="Times New Roman" panose="02020603050405020304" pitchFamily="18" charset="0"/>
                <a:sym typeface="Proxima Nova" panose="02000506030000020004"/>
              </a:rPr>
              <a:t>	1) Random forest regressor </a:t>
            </a:r>
            <a:br>
              <a:rPr lang="en-US" sz="2400" b="1" dirty="0">
                <a:latin typeface="Times New Roman" panose="02020603050405020304" pitchFamily="18" charset="0"/>
                <a:ea typeface="Proxima Nova" panose="02000506030000020004"/>
                <a:cs typeface="Times New Roman" panose="02020603050405020304" pitchFamily="18" charset="0"/>
                <a:sym typeface="Proxima Nova" panose="02000506030000020004"/>
              </a:rPr>
            </a:br>
            <a:r>
              <a:rPr lang="en-US" sz="2400" b="1" dirty="0">
                <a:latin typeface="Times New Roman" panose="02020603050405020304" pitchFamily="18" charset="0"/>
                <a:ea typeface="Proxima Nova" panose="02000506030000020004"/>
                <a:cs typeface="Times New Roman" panose="02020603050405020304" pitchFamily="18" charset="0"/>
                <a:sym typeface="Proxima Nova" panose="02000506030000020004"/>
              </a:rPr>
              <a:t>	2) Decision tree regressor </a:t>
            </a:r>
          </a:p>
          <a:p>
            <a:pPr marL="342900" indent="-342900">
              <a:buFont typeface="Arial" panose="020B0604020202020204" pitchFamily="34" charset="0"/>
              <a:buChar char="•"/>
            </a:pPr>
            <a:br>
              <a:rPr lang="en-US" sz="2400" b="1" dirty="0">
                <a:latin typeface="Times New Roman" panose="02020603050405020304" pitchFamily="18" charset="0"/>
                <a:ea typeface="Proxima Nova" panose="02000506030000020004"/>
                <a:cs typeface="Times New Roman" panose="02020603050405020304" pitchFamily="18" charset="0"/>
                <a:sym typeface="Proxima Nova" panose="02000506030000020004"/>
              </a:rPr>
            </a:br>
            <a:r>
              <a:rPr lang="en-US" sz="2400" b="1" dirty="0">
                <a:latin typeface="Times New Roman" panose="02020603050405020304" pitchFamily="18" charset="0"/>
                <a:ea typeface="Proxima Nova" panose="02000506030000020004"/>
                <a:cs typeface="Times New Roman" panose="02020603050405020304" pitchFamily="18" charset="0"/>
                <a:sym typeface="Proxima Nova" panose="02000506030000020004"/>
              </a:rPr>
              <a:t>Compared the accuracy between models to find the best one </a:t>
            </a:r>
            <a:endParaRPr lang="en-US" sz="2400" dirty="0"/>
          </a:p>
        </p:txBody>
      </p:sp>
    </p:spTree>
    <p:extLst>
      <p:ext uri="{BB962C8B-B14F-4D97-AF65-F5344CB8AC3E}">
        <p14:creationId xmlns:p14="http://schemas.microsoft.com/office/powerpoint/2010/main" val="12436961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A30A1F38-7845-5972-7ED8-B3D6E6E012DA}"/>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4F69FEDE-C823-BB8A-889A-F8CC266DBDA4}"/>
              </a:ext>
            </a:extLst>
          </p:cNvPr>
          <p:cNvSpPr txBox="1">
            <a:spLocks noGrp="1"/>
          </p:cNvSpPr>
          <p:nvPr>
            <p:ph type="title"/>
          </p:nvPr>
        </p:nvSpPr>
        <p:spPr>
          <a:xfrm>
            <a:off x="3144441" y="2534281"/>
            <a:ext cx="5903117" cy="782265"/>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rgbClr val="04A2B9"/>
              </a:buClr>
              <a:buSzPts val="2400"/>
              <a:buFont typeface="Proxima Nova" panose="02000506030000020004"/>
              <a:buNone/>
            </a:pPr>
            <a:r>
              <a:rPr lang="en-US" sz="5000" b="1" dirty="0">
                <a:latin typeface="Proxima Nova" panose="02000506030000020004"/>
                <a:ea typeface="Proxima Nova" panose="02000506030000020004"/>
                <a:cs typeface="Proxima Nova" panose="02000506030000020004"/>
                <a:sym typeface="Proxima Nova" panose="02000506030000020004"/>
              </a:rPr>
              <a:t>Review 2</a:t>
            </a:r>
            <a:endParaRPr sz="5000" b="1" dirty="0">
              <a:latin typeface="Proxima Nova" panose="02000506030000020004"/>
              <a:ea typeface="Proxima Nova" panose="02000506030000020004"/>
              <a:cs typeface="Proxima Nova" panose="02000506030000020004"/>
              <a:sym typeface="Proxima Nova" panose="02000506030000020004"/>
            </a:endParaRPr>
          </a:p>
        </p:txBody>
      </p:sp>
    </p:spTree>
    <p:extLst>
      <p:ext uri="{BB962C8B-B14F-4D97-AF65-F5344CB8AC3E}">
        <p14:creationId xmlns:p14="http://schemas.microsoft.com/office/powerpoint/2010/main" val="14075136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82184A46-6E13-8F67-D5DA-92A19D5AF3AD}"/>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48DBE487-7B3B-892E-26FA-3E18D878FCB7}"/>
              </a:ext>
            </a:extLst>
          </p:cNvPr>
          <p:cNvSpPr txBox="1">
            <a:spLocks noGrp="1"/>
          </p:cNvSpPr>
          <p:nvPr>
            <p:ph type="title"/>
          </p:nvPr>
        </p:nvSpPr>
        <p:spPr>
          <a:xfrm>
            <a:off x="603774" y="244709"/>
            <a:ext cx="5628797"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panose="02000506030000020004"/>
                <a:ea typeface="Proxima Nova" panose="02000506030000020004"/>
                <a:cs typeface="Times New Roman" panose="02020603050405020304" pitchFamily="18" charset="0"/>
                <a:sym typeface="Proxima Nova" panose="02000506030000020004"/>
              </a:rPr>
              <a:t>Method used for balancing dataset</a:t>
            </a:r>
            <a:endParaRPr sz="2400" b="1" dirty="0">
              <a:latin typeface="Times New Roman" panose="02020603050405020304" pitchFamily="18" charset="0"/>
              <a:ea typeface="Proxima Nova" panose="02000506030000020004"/>
              <a:cs typeface="Times New Roman" panose="02020603050405020304" pitchFamily="18" charset="0"/>
              <a:sym typeface="Proxima Nova" panose="02000506030000020004"/>
            </a:endParaRPr>
          </a:p>
        </p:txBody>
      </p:sp>
      <p:sp>
        <p:nvSpPr>
          <p:cNvPr id="2" name="TextBox 1">
            <a:extLst>
              <a:ext uri="{FF2B5EF4-FFF2-40B4-BE49-F238E27FC236}">
                <a16:creationId xmlns:a16="http://schemas.microsoft.com/office/drawing/2014/main" id="{24597EF9-E67A-D478-4DDA-B7788B165EEF}"/>
              </a:ext>
            </a:extLst>
          </p:cNvPr>
          <p:cNvSpPr txBox="1"/>
          <p:nvPr/>
        </p:nvSpPr>
        <p:spPr>
          <a:xfrm>
            <a:off x="776747" y="1366684"/>
            <a:ext cx="11130117"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err="1"/>
              <a:t>Sinse</a:t>
            </a:r>
            <a:r>
              <a:rPr lang="en-US" sz="1600" dirty="0"/>
              <a:t> the GPA is continuous variable , this problem was treated as a regression problem. So instead of oversampling or </a:t>
            </a:r>
            <a:r>
              <a:rPr lang="en-US" sz="1600" dirty="0" err="1"/>
              <a:t>undersampling</a:t>
            </a:r>
            <a:r>
              <a:rPr lang="en-US" sz="1600" dirty="0"/>
              <a:t> a “weighted balancing approach” was used.</a:t>
            </a:r>
          </a:p>
        </p:txBody>
      </p:sp>
      <p:sp>
        <p:nvSpPr>
          <p:cNvPr id="3" name="TextBox 2">
            <a:extLst>
              <a:ext uri="{FF2B5EF4-FFF2-40B4-BE49-F238E27FC236}">
                <a16:creationId xmlns:a16="http://schemas.microsoft.com/office/drawing/2014/main" id="{28A0CBFC-0700-9B66-B5A8-415020656BB8}"/>
              </a:ext>
            </a:extLst>
          </p:cNvPr>
          <p:cNvSpPr txBox="1"/>
          <p:nvPr/>
        </p:nvSpPr>
        <p:spPr>
          <a:xfrm>
            <a:off x="875071" y="2340077"/>
            <a:ext cx="10913806"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t>This method assigns higher importance to underrepresented GPA groups and lower importance to overrepresented GPA groups during model training.</a:t>
            </a:r>
          </a:p>
        </p:txBody>
      </p:sp>
      <p:sp>
        <p:nvSpPr>
          <p:cNvPr id="5" name="TextBox 4">
            <a:extLst>
              <a:ext uri="{FF2B5EF4-FFF2-40B4-BE49-F238E27FC236}">
                <a16:creationId xmlns:a16="http://schemas.microsoft.com/office/drawing/2014/main" id="{E20F4436-B10D-0FE4-63CB-C33A0783A261}"/>
              </a:ext>
            </a:extLst>
          </p:cNvPr>
          <p:cNvSpPr txBox="1"/>
          <p:nvPr/>
        </p:nvSpPr>
        <p:spPr>
          <a:xfrm>
            <a:off x="875071" y="3293807"/>
            <a:ext cx="3362632" cy="338554"/>
          </a:xfrm>
          <a:prstGeom prst="rect">
            <a:avLst/>
          </a:prstGeom>
          <a:noFill/>
        </p:spPr>
        <p:txBody>
          <a:bodyPr wrap="square" rtlCol="0">
            <a:spAutoFit/>
          </a:bodyPr>
          <a:lstStyle/>
          <a:p>
            <a:pPr marL="285750" indent="-285750">
              <a:buFont typeface="Arial" panose="020B0604020202020204" pitchFamily="34" charset="0"/>
              <a:buChar char="•"/>
            </a:pPr>
            <a:r>
              <a:rPr lang="en-US" sz="1600" dirty="0"/>
              <a:t>Steps to balance dataset : </a:t>
            </a:r>
          </a:p>
        </p:txBody>
      </p:sp>
      <p:sp>
        <p:nvSpPr>
          <p:cNvPr id="6" name="TextBox 5">
            <a:extLst>
              <a:ext uri="{FF2B5EF4-FFF2-40B4-BE49-F238E27FC236}">
                <a16:creationId xmlns:a16="http://schemas.microsoft.com/office/drawing/2014/main" id="{3E11A89C-B365-F83A-7A74-37D6B3BDC41F}"/>
              </a:ext>
            </a:extLst>
          </p:cNvPr>
          <p:cNvSpPr txBox="1"/>
          <p:nvPr/>
        </p:nvSpPr>
        <p:spPr>
          <a:xfrm>
            <a:off x="963561" y="3933149"/>
            <a:ext cx="6548284" cy="1815882"/>
          </a:xfrm>
          <a:prstGeom prst="rect">
            <a:avLst/>
          </a:prstGeom>
          <a:noFill/>
        </p:spPr>
        <p:txBody>
          <a:bodyPr wrap="square" rtlCol="0">
            <a:spAutoFit/>
          </a:bodyPr>
          <a:lstStyle/>
          <a:p>
            <a:r>
              <a:rPr lang="en-US" sz="1600" b="1" dirty="0"/>
              <a:t>Step 1</a:t>
            </a:r>
            <a:r>
              <a:rPr lang="en-US" sz="1600" dirty="0"/>
              <a:t>: Convert GPA into Categories</a:t>
            </a:r>
          </a:p>
          <a:p>
            <a:r>
              <a:rPr lang="en-US" sz="1600" dirty="0"/>
              <a:t>To balance the target distribution, GPA was grouped into 3 categories:</a:t>
            </a:r>
          </a:p>
          <a:p>
            <a:r>
              <a:rPr lang="en-US" sz="1600" dirty="0"/>
              <a:t>Low → GPA &lt; 2.0 </a:t>
            </a:r>
          </a:p>
          <a:p>
            <a:r>
              <a:rPr lang="en-US" sz="1600" dirty="0"/>
              <a:t>Medium → 2.0 ≤ GPA &lt; 3.0 </a:t>
            </a:r>
          </a:p>
          <a:p>
            <a:r>
              <a:rPr lang="en-US" sz="1600" dirty="0"/>
              <a:t>High → GPA ≥ 3.0 </a:t>
            </a:r>
          </a:p>
          <a:p>
            <a:r>
              <a:rPr lang="en-US" sz="1600" dirty="0"/>
              <a:t>This created a new column: “</a:t>
            </a:r>
            <a:r>
              <a:rPr lang="en-US" sz="1600" dirty="0" err="1"/>
              <a:t>GPA_Category</a:t>
            </a:r>
            <a:r>
              <a:rPr lang="en-US" sz="1600" dirty="0"/>
              <a:t>”</a:t>
            </a:r>
          </a:p>
          <a:p>
            <a:endParaRPr lang="en-US" sz="1600" dirty="0"/>
          </a:p>
        </p:txBody>
      </p:sp>
    </p:spTree>
    <p:extLst>
      <p:ext uri="{BB962C8B-B14F-4D97-AF65-F5344CB8AC3E}">
        <p14:creationId xmlns:p14="http://schemas.microsoft.com/office/powerpoint/2010/main" val="25359014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8749C8FE-D304-5FB9-9D73-2793C4AA2CE6}"/>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94046DF5-6DC6-A24F-DFD8-950B217A7E84}"/>
              </a:ext>
            </a:extLst>
          </p:cNvPr>
          <p:cNvSpPr txBox="1">
            <a:spLocks noGrp="1"/>
          </p:cNvSpPr>
          <p:nvPr>
            <p:ph type="title"/>
          </p:nvPr>
        </p:nvSpPr>
        <p:spPr>
          <a:xfrm>
            <a:off x="603774" y="244709"/>
            <a:ext cx="5628797"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panose="02000506030000020004"/>
                <a:ea typeface="Proxima Nova" panose="02000506030000020004"/>
                <a:cs typeface="Times New Roman" panose="02020603050405020304" pitchFamily="18" charset="0"/>
                <a:sym typeface="Proxima Nova" panose="02000506030000020004"/>
              </a:rPr>
              <a:t>Method used for balancing dataset</a:t>
            </a:r>
            <a:endParaRPr sz="2400" b="1" dirty="0">
              <a:latin typeface="Times New Roman" panose="02020603050405020304" pitchFamily="18" charset="0"/>
              <a:ea typeface="Proxima Nova" panose="02000506030000020004"/>
              <a:cs typeface="Times New Roman" panose="02020603050405020304" pitchFamily="18" charset="0"/>
              <a:sym typeface="Proxima Nova" panose="02000506030000020004"/>
            </a:endParaRPr>
          </a:p>
        </p:txBody>
      </p:sp>
      <p:sp>
        <p:nvSpPr>
          <p:cNvPr id="2" name="TextBox 1">
            <a:extLst>
              <a:ext uri="{FF2B5EF4-FFF2-40B4-BE49-F238E27FC236}">
                <a16:creationId xmlns:a16="http://schemas.microsoft.com/office/drawing/2014/main" id="{3D766BA8-DC8F-0BE0-BB85-E089270C1302}"/>
              </a:ext>
            </a:extLst>
          </p:cNvPr>
          <p:cNvSpPr txBox="1"/>
          <p:nvPr/>
        </p:nvSpPr>
        <p:spPr>
          <a:xfrm>
            <a:off x="776748" y="1613118"/>
            <a:ext cx="9566787" cy="1815882"/>
          </a:xfrm>
          <a:prstGeom prst="rect">
            <a:avLst/>
          </a:prstGeom>
          <a:noFill/>
        </p:spPr>
        <p:txBody>
          <a:bodyPr wrap="square" rtlCol="0">
            <a:spAutoFit/>
          </a:bodyPr>
          <a:lstStyle/>
          <a:p>
            <a:r>
              <a:rPr lang="en-US" sz="1600" b="1" dirty="0"/>
              <a:t>Step 2</a:t>
            </a:r>
            <a:r>
              <a:rPr lang="en-US" sz="1600" dirty="0"/>
              <a:t>: Count Students in Each Category</a:t>
            </a:r>
          </a:p>
          <a:p>
            <a:r>
              <a:rPr lang="en-US" sz="1600" dirty="0"/>
              <a:t>Example category distribution:</a:t>
            </a:r>
          </a:p>
          <a:p>
            <a:r>
              <a:rPr lang="en-US" sz="1600" dirty="0"/>
              <a:t>high → 292 students </a:t>
            </a:r>
          </a:p>
          <a:p>
            <a:r>
              <a:rPr lang="en-US" sz="1600" dirty="0"/>
              <a:t>Medium → 900 students </a:t>
            </a:r>
          </a:p>
          <a:p>
            <a:r>
              <a:rPr lang="en-US" sz="1600" dirty="0"/>
              <a:t>low → 1200 students </a:t>
            </a:r>
          </a:p>
          <a:p>
            <a:r>
              <a:rPr lang="en-US" sz="1600" dirty="0"/>
              <a:t>This shows that High GPA students are more frequent, while Low GPA students are fewer</a:t>
            </a:r>
          </a:p>
          <a:p>
            <a:pPr marL="285750" indent="-285750">
              <a:buFont typeface="Arial" panose="020B0604020202020204" pitchFamily="34" charset="0"/>
              <a:buChar char="•"/>
            </a:pPr>
            <a:endParaRPr lang="en-US" sz="1600" dirty="0"/>
          </a:p>
        </p:txBody>
      </p:sp>
      <p:sp>
        <p:nvSpPr>
          <p:cNvPr id="4" name="TextBox 3">
            <a:extLst>
              <a:ext uri="{FF2B5EF4-FFF2-40B4-BE49-F238E27FC236}">
                <a16:creationId xmlns:a16="http://schemas.microsoft.com/office/drawing/2014/main" id="{21AEA9EA-5EF7-3D0F-5DB8-8A952242126F}"/>
              </a:ext>
            </a:extLst>
          </p:cNvPr>
          <p:cNvSpPr txBox="1"/>
          <p:nvPr/>
        </p:nvSpPr>
        <p:spPr>
          <a:xfrm>
            <a:off x="776748" y="3675434"/>
            <a:ext cx="6312310" cy="1785104"/>
          </a:xfrm>
          <a:prstGeom prst="rect">
            <a:avLst/>
          </a:prstGeom>
          <a:noFill/>
        </p:spPr>
        <p:txBody>
          <a:bodyPr wrap="square" rtlCol="0">
            <a:spAutoFit/>
          </a:bodyPr>
          <a:lstStyle/>
          <a:p>
            <a:r>
              <a:rPr lang="en-US" sz="1600" b="1" dirty="0"/>
              <a:t>Step 3</a:t>
            </a:r>
            <a:r>
              <a:rPr lang="en-US" sz="1600" dirty="0"/>
              <a:t>: Assign Sample Weights</a:t>
            </a:r>
          </a:p>
          <a:p>
            <a:r>
              <a:rPr lang="en-US" sz="1600" dirty="0"/>
              <a:t>Weights were assigned using inverse frequency weighting:</a:t>
            </a:r>
          </a:p>
          <a:p>
            <a:r>
              <a:rPr lang="en-US" sz="1600" dirty="0"/>
              <a:t>Weight = 1 / Number of students in that GPA category</a:t>
            </a:r>
          </a:p>
          <a:p>
            <a:r>
              <a:rPr lang="en-US" sz="1600" dirty="0"/>
              <a:t>This means:</a:t>
            </a:r>
          </a:p>
          <a:p>
            <a:r>
              <a:rPr lang="en-US" sz="1600" dirty="0"/>
              <a:t>More students in category → lower weight </a:t>
            </a:r>
          </a:p>
          <a:p>
            <a:r>
              <a:rPr lang="en-US" sz="1600" dirty="0"/>
              <a:t>Fewer students in category → higher weight</a:t>
            </a:r>
          </a:p>
          <a:p>
            <a:endParaRPr lang="en-US" dirty="0"/>
          </a:p>
        </p:txBody>
      </p:sp>
    </p:spTree>
    <p:extLst>
      <p:ext uri="{BB962C8B-B14F-4D97-AF65-F5344CB8AC3E}">
        <p14:creationId xmlns:p14="http://schemas.microsoft.com/office/powerpoint/2010/main" val="7077226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6FFFC7A5-A73E-80F2-1B78-179110D828FA}"/>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E1B64F60-A56E-F2C9-F6A0-BF9BFC69FC20}"/>
              </a:ext>
            </a:extLst>
          </p:cNvPr>
          <p:cNvSpPr txBox="1">
            <a:spLocks noGrp="1"/>
          </p:cNvSpPr>
          <p:nvPr>
            <p:ph type="title"/>
          </p:nvPr>
        </p:nvSpPr>
        <p:spPr>
          <a:xfrm>
            <a:off x="603774" y="244709"/>
            <a:ext cx="5628797"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panose="02000506030000020004"/>
                <a:ea typeface="Proxima Nova" panose="02000506030000020004"/>
                <a:cs typeface="Times New Roman" panose="02020603050405020304" pitchFamily="18" charset="0"/>
                <a:sym typeface="Proxima Nova" panose="02000506030000020004"/>
              </a:rPr>
              <a:t>Method used for balancing dataset</a:t>
            </a:r>
            <a:endParaRPr sz="2400" b="1" dirty="0">
              <a:latin typeface="Times New Roman" panose="02020603050405020304" pitchFamily="18" charset="0"/>
              <a:ea typeface="Proxima Nova" panose="02000506030000020004"/>
              <a:cs typeface="Times New Roman" panose="02020603050405020304" pitchFamily="18" charset="0"/>
              <a:sym typeface="Proxima Nova" panose="02000506030000020004"/>
            </a:endParaRPr>
          </a:p>
        </p:txBody>
      </p:sp>
      <p:sp>
        <p:nvSpPr>
          <p:cNvPr id="2" name="TextBox 1">
            <a:extLst>
              <a:ext uri="{FF2B5EF4-FFF2-40B4-BE49-F238E27FC236}">
                <a16:creationId xmlns:a16="http://schemas.microsoft.com/office/drawing/2014/main" id="{54E58A82-1C2B-6CB0-97B5-9D1F545DD8A5}"/>
              </a:ext>
            </a:extLst>
          </p:cNvPr>
          <p:cNvSpPr txBox="1"/>
          <p:nvPr/>
        </p:nvSpPr>
        <p:spPr>
          <a:xfrm>
            <a:off x="776748" y="1366684"/>
            <a:ext cx="9566787" cy="3785652"/>
          </a:xfrm>
          <a:prstGeom prst="rect">
            <a:avLst/>
          </a:prstGeom>
          <a:noFill/>
        </p:spPr>
        <p:txBody>
          <a:bodyPr wrap="square" rtlCol="0">
            <a:spAutoFit/>
          </a:bodyPr>
          <a:lstStyle/>
          <a:p>
            <a:pPr marL="285750" indent="-285750">
              <a:buFont typeface="Arial" panose="020B0604020202020204" pitchFamily="34" charset="0"/>
              <a:buChar char="•"/>
            </a:pPr>
            <a:r>
              <a:rPr lang="en-US" sz="1600" b="1" dirty="0"/>
              <a:t>Example from Dataset</a:t>
            </a:r>
          </a:p>
          <a:p>
            <a:pPr lvl="6"/>
            <a:r>
              <a:rPr lang="en-US" sz="1600" dirty="0"/>
              <a:t>	Suppose a student has:</a:t>
            </a:r>
          </a:p>
          <a:p>
            <a:pPr lvl="6"/>
            <a:r>
              <a:rPr lang="en-US" sz="1600" dirty="0"/>
              <a:t>	StudentID: 1003 </a:t>
            </a:r>
          </a:p>
          <a:p>
            <a:pPr lvl="6"/>
            <a:r>
              <a:rPr lang="en-US" sz="1600" dirty="0"/>
              <a:t>	GPA: 0.112602 </a:t>
            </a:r>
          </a:p>
          <a:p>
            <a:pPr lvl="6"/>
            <a:r>
              <a:rPr lang="en-US" sz="1600" dirty="0"/>
              <a:t>	Since GPA &lt; 2.0, this student belongs to:</a:t>
            </a:r>
          </a:p>
          <a:p>
            <a:pPr lvl="6"/>
            <a:r>
              <a:rPr lang="en-US" sz="1600" dirty="0"/>
              <a:t>	Low GPA Category</a:t>
            </a:r>
          </a:p>
          <a:p>
            <a:pPr lvl="6"/>
            <a:endParaRPr lang="en-US" sz="1600" dirty="0"/>
          </a:p>
          <a:p>
            <a:pPr lvl="6"/>
            <a:r>
              <a:rPr lang="en-US" sz="1600" dirty="0"/>
              <a:t>	If:</a:t>
            </a:r>
          </a:p>
          <a:p>
            <a:pPr lvl="6"/>
            <a:r>
              <a:rPr lang="en-US" sz="1600" dirty="0"/>
              <a:t>	Low GPA students = 292 </a:t>
            </a:r>
          </a:p>
          <a:p>
            <a:pPr lvl="6"/>
            <a:r>
              <a:rPr lang="en-US" sz="1600" dirty="0"/>
              <a:t>	Then the weight becomes:</a:t>
            </a:r>
          </a:p>
          <a:p>
            <a:pPr lvl="6"/>
            <a:r>
              <a:rPr lang="en-US" sz="1600" dirty="0"/>
              <a:t>	Weight = 1 / 292 = 0.00342</a:t>
            </a:r>
          </a:p>
          <a:p>
            <a:pPr lvl="6"/>
            <a:endParaRPr lang="en-US" sz="1600" dirty="0"/>
          </a:p>
          <a:p>
            <a:pPr lvl="5"/>
            <a:r>
              <a:rPr lang="en-US" sz="1600" dirty="0"/>
              <a:t>After normalization, this weight becomes relatively higher than average, so this student gets more importance during model training.</a:t>
            </a:r>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val="13885960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E1914BC1-E028-8931-A91A-B63FA7F90BDB}"/>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174CA043-B1F6-B4E1-18F2-2F3B7CBB1723}"/>
              </a:ext>
            </a:extLst>
          </p:cNvPr>
          <p:cNvSpPr txBox="1">
            <a:spLocks noGrp="1"/>
          </p:cNvSpPr>
          <p:nvPr>
            <p:ph type="title"/>
          </p:nvPr>
        </p:nvSpPr>
        <p:spPr>
          <a:xfrm>
            <a:off x="603774" y="244709"/>
            <a:ext cx="5628797"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panose="02000506030000020004"/>
                <a:ea typeface="Proxima Nova" panose="02000506030000020004"/>
                <a:cs typeface="Times New Roman" panose="02020603050405020304" pitchFamily="18" charset="0"/>
                <a:sym typeface="Proxima Nova" panose="02000506030000020004"/>
              </a:rPr>
              <a:t>Balanced dataset</a:t>
            </a:r>
            <a:endParaRPr sz="2400" b="1" dirty="0">
              <a:latin typeface="Times New Roman" panose="02020603050405020304" pitchFamily="18" charset="0"/>
              <a:ea typeface="Proxima Nova" panose="02000506030000020004"/>
              <a:cs typeface="Times New Roman" panose="02020603050405020304" pitchFamily="18" charset="0"/>
              <a:sym typeface="Proxima Nova" panose="02000506030000020004"/>
            </a:endParaRPr>
          </a:p>
        </p:txBody>
      </p:sp>
      <p:graphicFrame>
        <p:nvGraphicFramePr>
          <p:cNvPr id="4" name="Table 3">
            <a:extLst>
              <a:ext uri="{FF2B5EF4-FFF2-40B4-BE49-F238E27FC236}">
                <a16:creationId xmlns:a16="http://schemas.microsoft.com/office/drawing/2014/main" id="{CD1C6BE5-B59D-CD35-D742-E881E59A8F31}"/>
              </a:ext>
            </a:extLst>
          </p:cNvPr>
          <p:cNvGraphicFramePr>
            <a:graphicFrameLocks noGrp="1"/>
          </p:cNvGraphicFramePr>
          <p:nvPr>
            <p:extLst>
              <p:ext uri="{D42A27DB-BD31-4B8C-83A1-F6EECF244321}">
                <p14:modId xmlns:p14="http://schemas.microsoft.com/office/powerpoint/2010/main" val="2689657847"/>
              </p:ext>
            </p:extLst>
          </p:nvPr>
        </p:nvGraphicFramePr>
        <p:xfrm>
          <a:off x="383458" y="1914834"/>
          <a:ext cx="11425084" cy="3028332"/>
        </p:xfrm>
        <a:graphic>
          <a:graphicData uri="http://schemas.openxmlformats.org/drawingml/2006/table">
            <a:tbl>
              <a:tblPr>
                <a:tableStyleId>{5C22544A-7EE6-4342-B048-85BDC9FD1C3A}</a:tableStyleId>
              </a:tblPr>
              <a:tblGrid>
                <a:gridCol w="509196">
                  <a:extLst>
                    <a:ext uri="{9D8B030D-6E8A-4147-A177-3AD203B41FA5}">
                      <a16:colId xmlns:a16="http://schemas.microsoft.com/office/drawing/2014/main" val="3417417230"/>
                    </a:ext>
                  </a:extLst>
                </a:gridCol>
                <a:gridCol w="509196">
                  <a:extLst>
                    <a:ext uri="{9D8B030D-6E8A-4147-A177-3AD203B41FA5}">
                      <a16:colId xmlns:a16="http://schemas.microsoft.com/office/drawing/2014/main" val="796832693"/>
                    </a:ext>
                  </a:extLst>
                </a:gridCol>
                <a:gridCol w="509196">
                  <a:extLst>
                    <a:ext uri="{9D8B030D-6E8A-4147-A177-3AD203B41FA5}">
                      <a16:colId xmlns:a16="http://schemas.microsoft.com/office/drawing/2014/main" val="1762483816"/>
                    </a:ext>
                  </a:extLst>
                </a:gridCol>
                <a:gridCol w="1029001">
                  <a:extLst>
                    <a:ext uri="{9D8B030D-6E8A-4147-A177-3AD203B41FA5}">
                      <a16:colId xmlns:a16="http://schemas.microsoft.com/office/drawing/2014/main" val="888127764"/>
                    </a:ext>
                  </a:extLst>
                </a:gridCol>
                <a:gridCol w="838051">
                  <a:extLst>
                    <a:ext uri="{9D8B030D-6E8A-4147-A177-3AD203B41FA5}">
                      <a16:colId xmlns:a16="http://schemas.microsoft.com/office/drawing/2014/main" val="3259712137"/>
                    </a:ext>
                  </a:extLst>
                </a:gridCol>
                <a:gridCol w="625886">
                  <a:extLst>
                    <a:ext uri="{9D8B030D-6E8A-4147-A177-3AD203B41FA5}">
                      <a16:colId xmlns:a16="http://schemas.microsoft.com/office/drawing/2014/main" val="3185913769"/>
                    </a:ext>
                  </a:extLst>
                </a:gridCol>
                <a:gridCol w="763794">
                  <a:extLst>
                    <a:ext uri="{9D8B030D-6E8A-4147-A177-3AD203B41FA5}">
                      <a16:colId xmlns:a16="http://schemas.microsoft.com/office/drawing/2014/main" val="515583475"/>
                    </a:ext>
                  </a:extLst>
                </a:gridCol>
                <a:gridCol w="859269">
                  <a:extLst>
                    <a:ext uri="{9D8B030D-6E8A-4147-A177-3AD203B41FA5}">
                      <a16:colId xmlns:a16="http://schemas.microsoft.com/office/drawing/2014/main" val="3718160419"/>
                    </a:ext>
                  </a:extLst>
                </a:gridCol>
                <a:gridCol w="678928">
                  <a:extLst>
                    <a:ext uri="{9D8B030D-6E8A-4147-A177-3AD203B41FA5}">
                      <a16:colId xmlns:a16="http://schemas.microsoft.com/office/drawing/2014/main" val="1419899180"/>
                    </a:ext>
                  </a:extLst>
                </a:gridCol>
                <a:gridCol w="668320">
                  <a:extLst>
                    <a:ext uri="{9D8B030D-6E8A-4147-A177-3AD203B41FA5}">
                      <a16:colId xmlns:a16="http://schemas.microsoft.com/office/drawing/2014/main" val="604545154"/>
                    </a:ext>
                  </a:extLst>
                </a:gridCol>
                <a:gridCol w="785010">
                  <a:extLst>
                    <a:ext uri="{9D8B030D-6E8A-4147-A177-3AD203B41FA5}">
                      <a16:colId xmlns:a16="http://schemas.microsoft.com/office/drawing/2014/main" val="3627827034"/>
                    </a:ext>
                  </a:extLst>
                </a:gridCol>
                <a:gridCol w="625886">
                  <a:extLst>
                    <a:ext uri="{9D8B030D-6E8A-4147-A177-3AD203B41FA5}">
                      <a16:colId xmlns:a16="http://schemas.microsoft.com/office/drawing/2014/main" val="4190684460"/>
                    </a:ext>
                  </a:extLst>
                </a:gridCol>
                <a:gridCol w="710753">
                  <a:extLst>
                    <a:ext uri="{9D8B030D-6E8A-4147-A177-3AD203B41FA5}">
                      <a16:colId xmlns:a16="http://schemas.microsoft.com/office/drawing/2014/main" val="2131018937"/>
                    </a:ext>
                  </a:extLst>
                </a:gridCol>
                <a:gridCol w="678928">
                  <a:extLst>
                    <a:ext uri="{9D8B030D-6E8A-4147-A177-3AD203B41FA5}">
                      <a16:colId xmlns:a16="http://schemas.microsoft.com/office/drawing/2014/main" val="1943117179"/>
                    </a:ext>
                  </a:extLst>
                </a:gridCol>
                <a:gridCol w="731968">
                  <a:extLst>
                    <a:ext uri="{9D8B030D-6E8A-4147-A177-3AD203B41FA5}">
                      <a16:colId xmlns:a16="http://schemas.microsoft.com/office/drawing/2014/main" val="2646792801"/>
                    </a:ext>
                  </a:extLst>
                </a:gridCol>
                <a:gridCol w="901702">
                  <a:extLst>
                    <a:ext uri="{9D8B030D-6E8A-4147-A177-3AD203B41FA5}">
                      <a16:colId xmlns:a16="http://schemas.microsoft.com/office/drawing/2014/main" val="2358503082"/>
                    </a:ext>
                  </a:extLst>
                </a:gridCol>
              </a:tblGrid>
              <a:tr h="504722">
                <a:tc>
                  <a:txBody>
                    <a:bodyPr/>
                    <a:lstStyle/>
                    <a:p>
                      <a:pPr algn="ctr" fontAlgn="ctr">
                        <a:buNone/>
                      </a:pPr>
                      <a:r>
                        <a:rPr lang="en-US" sz="1000" u="none" strike="noStrike" dirty="0">
                          <a:effectLst/>
                        </a:rPr>
                        <a:t>Age</a:t>
                      </a:r>
                      <a:endParaRPr lang="en-US" sz="1000" b="1" i="0" u="none" strike="noStrike" dirty="0">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000" u="none" strike="noStrike" dirty="0">
                          <a:effectLst/>
                        </a:rPr>
                        <a:t>Gender</a:t>
                      </a:r>
                      <a:endParaRPr lang="en-US" sz="1000" b="1" i="0" u="none" strike="noStrike" dirty="0">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000" u="none" strike="noStrike" dirty="0">
                          <a:effectLst/>
                        </a:rPr>
                        <a:t>Ethnicity</a:t>
                      </a:r>
                      <a:endParaRPr lang="en-US" sz="1000" b="1" i="0" u="none" strike="noStrike" dirty="0">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000" u="none" strike="noStrike" dirty="0" err="1">
                          <a:effectLst/>
                        </a:rPr>
                        <a:t>ParentalEducation</a:t>
                      </a:r>
                      <a:endParaRPr lang="en-US" sz="1000" b="1" i="0" u="none" strike="noStrike" dirty="0">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000" u="none" strike="noStrike" dirty="0">
                          <a:effectLst/>
                        </a:rPr>
                        <a:t>StudyTimeWeekly</a:t>
                      </a:r>
                      <a:endParaRPr lang="en-US" sz="1000" b="1" i="0" u="none" strike="noStrike" dirty="0">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000" u="none" strike="noStrike" dirty="0">
                          <a:effectLst/>
                        </a:rPr>
                        <a:t>Absences</a:t>
                      </a:r>
                      <a:endParaRPr lang="en-US" sz="1000" b="1" i="0" u="none" strike="noStrike" dirty="0">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000" u="none" strike="noStrike" dirty="0">
                          <a:effectLst/>
                        </a:rPr>
                        <a:t>Tutoring</a:t>
                      </a:r>
                      <a:endParaRPr lang="en-US" sz="1000" b="1" i="0" u="none" strike="noStrike" dirty="0">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000" u="none" strike="noStrike" dirty="0" err="1">
                          <a:effectLst/>
                        </a:rPr>
                        <a:t>ParentalSupport</a:t>
                      </a:r>
                      <a:endParaRPr lang="en-US" sz="1000" b="1" i="0" u="none" strike="noStrike" dirty="0">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000" u="none" strike="noStrike" dirty="0">
                          <a:effectLst/>
                        </a:rPr>
                        <a:t>Extracurricular</a:t>
                      </a:r>
                      <a:endParaRPr lang="en-US" sz="1000" b="1" i="0" u="none" strike="noStrike" dirty="0">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000" u="none" strike="noStrike">
                          <a:effectLst/>
                        </a:rPr>
                        <a:t>Sports</a:t>
                      </a:r>
                      <a:endParaRPr lang="en-US" sz="1000" b="1"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000" u="none" strike="noStrike" dirty="0">
                          <a:effectLst/>
                        </a:rPr>
                        <a:t>Music</a:t>
                      </a:r>
                      <a:endParaRPr lang="en-US" sz="1000" b="1" i="0" u="none" strike="noStrike" dirty="0">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000" u="none" strike="noStrike" dirty="0">
                          <a:effectLst/>
                        </a:rPr>
                        <a:t>Volunteering</a:t>
                      </a:r>
                      <a:endParaRPr lang="en-US" sz="1000" b="1" i="0" u="none" strike="noStrike" dirty="0">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000" u="none" strike="noStrike" dirty="0">
                          <a:effectLst/>
                        </a:rPr>
                        <a:t>GPA</a:t>
                      </a:r>
                      <a:endParaRPr lang="en-US" sz="1000" b="1" i="0" u="none" strike="noStrike" dirty="0">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000" u="none" strike="noStrike">
                          <a:effectLst/>
                        </a:rPr>
                        <a:t>GradeClass</a:t>
                      </a:r>
                      <a:endParaRPr lang="en-US" sz="1000" b="1"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000" u="none" strike="noStrike" dirty="0" err="1">
                          <a:effectLst/>
                        </a:rPr>
                        <a:t>GPA_Category</a:t>
                      </a:r>
                      <a:endParaRPr lang="en-US" sz="1000" b="1" i="0" u="none" strike="noStrike" dirty="0">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000" u="none" strike="noStrike" dirty="0" err="1">
                          <a:effectLst/>
                        </a:rPr>
                        <a:t>sample_weight</a:t>
                      </a:r>
                      <a:endParaRPr lang="en-US" sz="1000" b="1" i="0" u="none" strike="noStrike" dirty="0">
                        <a:solidFill>
                          <a:srgbClr val="1F1F1F"/>
                        </a:solidFill>
                        <a:effectLst/>
                        <a:latin typeface="Arial" panose="020B0604020202020204" pitchFamily="34" charset="0"/>
                      </a:endParaRPr>
                    </a:p>
                  </a:txBody>
                  <a:tcPr marL="5858" marR="5858" marT="5858" marB="0" anchor="ctr"/>
                </a:tc>
                <a:extLst>
                  <a:ext uri="{0D108BD9-81ED-4DB2-BD59-A6C34878D82A}">
                    <a16:rowId xmlns:a16="http://schemas.microsoft.com/office/drawing/2014/main" val="851959183"/>
                  </a:ext>
                </a:extLst>
              </a:tr>
              <a:tr h="504722">
                <a:tc>
                  <a:txBody>
                    <a:bodyPr/>
                    <a:lstStyle/>
                    <a:p>
                      <a:pPr algn="ctr" fontAlgn="ctr">
                        <a:buNone/>
                      </a:pPr>
                      <a:r>
                        <a:rPr lang="en-US" sz="1200" u="none" strike="noStrike" dirty="0">
                          <a:effectLst/>
                        </a:rPr>
                        <a:t>17</a:t>
                      </a:r>
                      <a:endParaRPr lang="en-US" sz="1200" b="0" i="0" u="none" strike="noStrike" dirty="0">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1</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2</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19.833723</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7</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1</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2</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1</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2.929196</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2</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Medium</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1.000418</a:t>
                      </a:r>
                      <a:endParaRPr lang="en-US" sz="1200" b="0" i="0" u="none" strike="noStrike">
                        <a:solidFill>
                          <a:srgbClr val="1F1F1F"/>
                        </a:solidFill>
                        <a:effectLst/>
                        <a:latin typeface="Arial" panose="020B0604020202020204" pitchFamily="34" charset="0"/>
                      </a:endParaRPr>
                    </a:p>
                  </a:txBody>
                  <a:tcPr marL="5858" marR="5858" marT="5858" marB="0" anchor="ctr"/>
                </a:tc>
                <a:extLst>
                  <a:ext uri="{0D108BD9-81ED-4DB2-BD59-A6C34878D82A}">
                    <a16:rowId xmlns:a16="http://schemas.microsoft.com/office/drawing/2014/main" val="454042533"/>
                  </a:ext>
                </a:extLst>
              </a:tr>
              <a:tr h="504722">
                <a:tc>
                  <a:txBody>
                    <a:bodyPr/>
                    <a:lstStyle/>
                    <a:p>
                      <a:pPr algn="ctr" fontAlgn="ctr">
                        <a:buNone/>
                      </a:pPr>
                      <a:r>
                        <a:rPr lang="en-US" sz="1200" u="none" strike="noStrike">
                          <a:effectLst/>
                        </a:rPr>
                        <a:t>18</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1</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15.408756</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1</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3.042915</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1</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High</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2.483904</a:t>
                      </a:r>
                      <a:endParaRPr lang="en-US" sz="1200" b="0" i="0" u="none" strike="noStrike">
                        <a:solidFill>
                          <a:srgbClr val="1F1F1F"/>
                        </a:solidFill>
                        <a:effectLst/>
                        <a:latin typeface="Arial" panose="020B0604020202020204" pitchFamily="34" charset="0"/>
                      </a:endParaRPr>
                    </a:p>
                  </a:txBody>
                  <a:tcPr marL="5858" marR="5858" marT="5858" marB="0" anchor="ctr"/>
                </a:tc>
                <a:extLst>
                  <a:ext uri="{0D108BD9-81ED-4DB2-BD59-A6C34878D82A}">
                    <a16:rowId xmlns:a16="http://schemas.microsoft.com/office/drawing/2014/main" val="3679624896"/>
                  </a:ext>
                </a:extLst>
              </a:tr>
              <a:tr h="504722">
                <a:tc>
                  <a:txBody>
                    <a:bodyPr/>
                    <a:lstStyle/>
                    <a:p>
                      <a:pPr algn="ctr" fontAlgn="ctr">
                        <a:buNone/>
                      </a:pPr>
                      <a:r>
                        <a:rPr lang="en-US" sz="1200" u="none" strike="noStrike">
                          <a:effectLst/>
                        </a:rPr>
                        <a:t>15</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2</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3</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4.21057</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26</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2</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0.112602</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4</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Low</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0.62585</a:t>
                      </a:r>
                      <a:endParaRPr lang="en-US" sz="1200" b="0" i="0" u="none" strike="noStrike">
                        <a:solidFill>
                          <a:srgbClr val="1F1F1F"/>
                        </a:solidFill>
                        <a:effectLst/>
                        <a:latin typeface="Arial" panose="020B0604020202020204" pitchFamily="34" charset="0"/>
                      </a:endParaRPr>
                    </a:p>
                  </a:txBody>
                  <a:tcPr marL="5858" marR="5858" marT="5858" marB="0" anchor="ctr"/>
                </a:tc>
                <a:extLst>
                  <a:ext uri="{0D108BD9-81ED-4DB2-BD59-A6C34878D82A}">
                    <a16:rowId xmlns:a16="http://schemas.microsoft.com/office/drawing/2014/main" val="323981953"/>
                  </a:ext>
                </a:extLst>
              </a:tr>
              <a:tr h="504722">
                <a:tc>
                  <a:txBody>
                    <a:bodyPr/>
                    <a:lstStyle/>
                    <a:p>
                      <a:pPr algn="ctr" fontAlgn="ctr">
                        <a:buNone/>
                      </a:pPr>
                      <a:r>
                        <a:rPr lang="en-US" sz="1200" u="none" strike="noStrike">
                          <a:effectLst/>
                        </a:rPr>
                        <a:t>17</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1</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3</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10.028829</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14</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3</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1</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2.054218</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3</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Medium</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1.000418</a:t>
                      </a:r>
                      <a:endParaRPr lang="en-US" sz="1200" b="0" i="0" u="none" strike="noStrike">
                        <a:solidFill>
                          <a:srgbClr val="1F1F1F"/>
                        </a:solidFill>
                        <a:effectLst/>
                        <a:latin typeface="Arial" panose="020B0604020202020204" pitchFamily="34" charset="0"/>
                      </a:endParaRPr>
                    </a:p>
                  </a:txBody>
                  <a:tcPr marL="5858" marR="5858" marT="5858" marB="0" anchor="ctr"/>
                </a:tc>
                <a:extLst>
                  <a:ext uri="{0D108BD9-81ED-4DB2-BD59-A6C34878D82A}">
                    <a16:rowId xmlns:a16="http://schemas.microsoft.com/office/drawing/2014/main" val="3865223045"/>
                  </a:ext>
                </a:extLst>
              </a:tr>
              <a:tr h="504722">
                <a:tc>
                  <a:txBody>
                    <a:bodyPr/>
                    <a:lstStyle/>
                    <a:p>
                      <a:pPr algn="ctr" fontAlgn="ctr">
                        <a:buNone/>
                      </a:pPr>
                      <a:r>
                        <a:rPr lang="en-US" sz="1200" u="none" strike="noStrike">
                          <a:effectLst/>
                        </a:rPr>
                        <a:t>17</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1</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2</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4.672495</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17</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1</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3</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0</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1.288061</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4</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a:effectLst/>
                        </a:rPr>
                        <a:t>Low</a:t>
                      </a:r>
                      <a:endParaRPr lang="en-US" sz="1200" b="0" i="0" u="none" strike="noStrike">
                        <a:solidFill>
                          <a:srgbClr val="1F1F1F"/>
                        </a:solidFill>
                        <a:effectLst/>
                        <a:latin typeface="Arial" panose="020B0604020202020204" pitchFamily="34" charset="0"/>
                      </a:endParaRPr>
                    </a:p>
                  </a:txBody>
                  <a:tcPr marL="5858" marR="5858" marT="5858" marB="0" anchor="ctr"/>
                </a:tc>
                <a:tc>
                  <a:txBody>
                    <a:bodyPr/>
                    <a:lstStyle/>
                    <a:p>
                      <a:pPr algn="ctr" fontAlgn="ctr">
                        <a:buNone/>
                      </a:pPr>
                      <a:r>
                        <a:rPr lang="en-US" sz="1200" u="none" strike="noStrike" dirty="0">
                          <a:effectLst/>
                        </a:rPr>
                        <a:t>0.62585</a:t>
                      </a:r>
                      <a:endParaRPr lang="en-US" sz="1200" b="0" i="0" u="none" strike="noStrike" dirty="0">
                        <a:solidFill>
                          <a:srgbClr val="1F1F1F"/>
                        </a:solidFill>
                        <a:effectLst/>
                        <a:latin typeface="Arial" panose="020B0604020202020204" pitchFamily="34" charset="0"/>
                      </a:endParaRPr>
                    </a:p>
                  </a:txBody>
                  <a:tcPr marL="5858" marR="5858" marT="5858" marB="0" anchor="ctr"/>
                </a:tc>
                <a:extLst>
                  <a:ext uri="{0D108BD9-81ED-4DB2-BD59-A6C34878D82A}">
                    <a16:rowId xmlns:a16="http://schemas.microsoft.com/office/drawing/2014/main" val="156204395"/>
                  </a:ext>
                </a:extLst>
              </a:tr>
            </a:tbl>
          </a:graphicData>
        </a:graphic>
      </p:graphicFrame>
      <p:sp>
        <p:nvSpPr>
          <p:cNvPr id="2" name="TextBox 1">
            <a:extLst>
              <a:ext uri="{FF2B5EF4-FFF2-40B4-BE49-F238E27FC236}">
                <a16:creationId xmlns:a16="http://schemas.microsoft.com/office/drawing/2014/main" id="{028B1F28-615C-772B-6B78-1B98754126AA}"/>
              </a:ext>
            </a:extLst>
          </p:cNvPr>
          <p:cNvSpPr txBox="1"/>
          <p:nvPr/>
        </p:nvSpPr>
        <p:spPr>
          <a:xfrm>
            <a:off x="678426" y="1352579"/>
            <a:ext cx="7629832" cy="338554"/>
          </a:xfrm>
          <a:prstGeom prst="rect">
            <a:avLst/>
          </a:prstGeom>
          <a:noFill/>
        </p:spPr>
        <p:txBody>
          <a:bodyPr wrap="square" rtlCol="0">
            <a:spAutoFit/>
          </a:bodyPr>
          <a:lstStyle/>
          <a:p>
            <a:pPr marL="285750" indent="-285750">
              <a:buFont typeface="Arial" panose="020B0604020202020204" pitchFamily="34" charset="0"/>
              <a:buChar char="•"/>
            </a:pPr>
            <a:r>
              <a:rPr lang="en-US" sz="1600" dirty="0"/>
              <a:t>Dataset after applying balancing approach</a:t>
            </a:r>
          </a:p>
        </p:txBody>
      </p:sp>
      <p:sp>
        <p:nvSpPr>
          <p:cNvPr id="3" name="TextBox 2">
            <a:extLst>
              <a:ext uri="{FF2B5EF4-FFF2-40B4-BE49-F238E27FC236}">
                <a16:creationId xmlns:a16="http://schemas.microsoft.com/office/drawing/2014/main" id="{328B320A-9580-1044-CCB4-D62F04EE95E9}"/>
              </a:ext>
            </a:extLst>
          </p:cNvPr>
          <p:cNvSpPr txBox="1"/>
          <p:nvPr/>
        </p:nvSpPr>
        <p:spPr>
          <a:xfrm>
            <a:off x="603774" y="5166867"/>
            <a:ext cx="8337755" cy="830997"/>
          </a:xfrm>
          <a:prstGeom prst="rect">
            <a:avLst/>
          </a:prstGeom>
          <a:noFill/>
        </p:spPr>
        <p:txBody>
          <a:bodyPr wrap="square" rtlCol="0">
            <a:spAutoFit/>
          </a:bodyPr>
          <a:lstStyle/>
          <a:p>
            <a:endParaRPr lang="en-US" sz="1600" dirty="0"/>
          </a:p>
          <a:p>
            <a:pPr marL="285750" indent="-285750">
              <a:buFont typeface="Arial" panose="020B0604020202020204" pitchFamily="34" charset="0"/>
              <a:buChar char="•"/>
            </a:pPr>
            <a:r>
              <a:rPr lang="en-US" sz="1600" dirty="0"/>
              <a:t>We have not removed any column or data nor changed any data in the dataset</a:t>
            </a:r>
          </a:p>
          <a:p>
            <a:pPr marL="285750" indent="-285750">
              <a:buFont typeface="Arial" panose="020B0604020202020204" pitchFamily="34" charset="0"/>
              <a:buChar char="•"/>
            </a:pPr>
            <a:r>
              <a:rPr lang="en-US" sz="1600" dirty="0"/>
              <a:t>We have Added a new column at last “</a:t>
            </a:r>
            <a:r>
              <a:rPr lang="en-US" sz="1600" dirty="0" err="1"/>
              <a:t>sample_weights</a:t>
            </a:r>
            <a:r>
              <a:rPr lang="en-US" sz="1600" dirty="0"/>
              <a:t>” based on target variable GPA</a:t>
            </a:r>
          </a:p>
        </p:txBody>
      </p:sp>
    </p:spTree>
    <p:extLst>
      <p:ext uri="{BB962C8B-B14F-4D97-AF65-F5344CB8AC3E}">
        <p14:creationId xmlns:p14="http://schemas.microsoft.com/office/powerpoint/2010/main" val="2338256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9DE7C2CE-0430-E30B-2529-C559B71C5819}"/>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F4334B0F-0C6F-93A5-AD0F-C2DAABF2DC7B}"/>
              </a:ext>
            </a:extLst>
          </p:cNvPr>
          <p:cNvSpPr txBox="1">
            <a:spLocks noGrp="1"/>
          </p:cNvSpPr>
          <p:nvPr>
            <p:ph type="title"/>
          </p:nvPr>
        </p:nvSpPr>
        <p:spPr>
          <a:xfrm>
            <a:off x="603774" y="244709"/>
            <a:ext cx="5628797"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panose="02000506030000020004"/>
                <a:ea typeface="Proxima Nova" panose="02000506030000020004"/>
                <a:cs typeface="Times New Roman" panose="02020603050405020304" pitchFamily="18" charset="0"/>
                <a:sym typeface="Proxima Nova" panose="02000506030000020004"/>
              </a:rPr>
              <a:t>Distribution </a:t>
            </a:r>
            <a:endParaRPr sz="2400" b="1" dirty="0">
              <a:latin typeface="Times New Roman" panose="02020603050405020304" pitchFamily="18" charset="0"/>
              <a:ea typeface="Proxima Nova" panose="02000506030000020004"/>
              <a:cs typeface="Times New Roman" panose="02020603050405020304" pitchFamily="18" charset="0"/>
              <a:sym typeface="Proxima Nova" panose="02000506030000020004"/>
            </a:endParaRPr>
          </a:p>
        </p:txBody>
      </p:sp>
      <p:pic>
        <p:nvPicPr>
          <p:cNvPr id="3" name="Picture 2">
            <a:extLst>
              <a:ext uri="{FF2B5EF4-FFF2-40B4-BE49-F238E27FC236}">
                <a16:creationId xmlns:a16="http://schemas.microsoft.com/office/drawing/2014/main" id="{AEE5BF6A-AE1A-8220-158C-9806D802CF73}"/>
              </a:ext>
            </a:extLst>
          </p:cNvPr>
          <p:cNvPicPr>
            <a:picLocks noChangeAspect="1"/>
          </p:cNvPicPr>
          <p:nvPr/>
        </p:nvPicPr>
        <p:blipFill>
          <a:blip r:embed="rId4"/>
          <a:srcRect b="17350"/>
          <a:stretch>
            <a:fillRect/>
          </a:stretch>
        </p:blipFill>
        <p:spPr>
          <a:xfrm>
            <a:off x="405310" y="1831815"/>
            <a:ext cx="5827261" cy="3816909"/>
          </a:xfrm>
          <a:prstGeom prst="rect">
            <a:avLst/>
          </a:prstGeom>
        </p:spPr>
      </p:pic>
      <p:pic>
        <p:nvPicPr>
          <p:cNvPr id="6" name="Picture 5">
            <a:extLst>
              <a:ext uri="{FF2B5EF4-FFF2-40B4-BE49-F238E27FC236}">
                <a16:creationId xmlns:a16="http://schemas.microsoft.com/office/drawing/2014/main" id="{8B1E8467-CC35-1F98-C1E9-B1866AF7A51B}"/>
              </a:ext>
            </a:extLst>
          </p:cNvPr>
          <p:cNvPicPr>
            <a:picLocks noChangeAspect="1"/>
          </p:cNvPicPr>
          <p:nvPr/>
        </p:nvPicPr>
        <p:blipFill>
          <a:blip r:embed="rId5"/>
          <a:stretch>
            <a:fillRect/>
          </a:stretch>
        </p:blipFill>
        <p:spPr>
          <a:xfrm>
            <a:off x="6096000" y="1982661"/>
            <a:ext cx="5515745" cy="3515216"/>
          </a:xfrm>
          <a:prstGeom prst="rect">
            <a:avLst/>
          </a:prstGeom>
        </p:spPr>
      </p:pic>
    </p:spTree>
    <p:extLst>
      <p:ext uri="{BB962C8B-B14F-4D97-AF65-F5344CB8AC3E}">
        <p14:creationId xmlns:p14="http://schemas.microsoft.com/office/powerpoint/2010/main" val="12913193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C985AAA1-5277-6366-907B-B9978E9E6BA4}"/>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EA81B365-9819-3F54-C39E-732ABA64AA00}"/>
              </a:ext>
            </a:extLst>
          </p:cNvPr>
          <p:cNvSpPr txBox="1">
            <a:spLocks noGrp="1"/>
          </p:cNvSpPr>
          <p:nvPr>
            <p:ph type="title"/>
          </p:nvPr>
        </p:nvSpPr>
        <p:spPr>
          <a:xfrm>
            <a:off x="603774" y="244709"/>
            <a:ext cx="5628797"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panose="02000506030000020004"/>
                <a:ea typeface="Proxima Nova" panose="02000506030000020004"/>
                <a:cs typeface="Times New Roman" panose="02020603050405020304" pitchFamily="18" charset="0"/>
                <a:sym typeface="Proxima Nova" panose="02000506030000020004"/>
              </a:rPr>
              <a:t>Distribution </a:t>
            </a:r>
            <a:endParaRPr sz="2400" b="1" dirty="0">
              <a:latin typeface="Times New Roman" panose="02020603050405020304" pitchFamily="18" charset="0"/>
              <a:ea typeface="Proxima Nova" panose="02000506030000020004"/>
              <a:cs typeface="Times New Roman" panose="02020603050405020304" pitchFamily="18" charset="0"/>
              <a:sym typeface="Proxima Nova" panose="02000506030000020004"/>
            </a:endParaRPr>
          </a:p>
        </p:txBody>
      </p:sp>
      <p:pic>
        <p:nvPicPr>
          <p:cNvPr id="4" name="Picture 3">
            <a:extLst>
              <a:ext uri="{FF2B5EF4-FFF2-40B4-BE49-F238E27FC236}">
                <a16:creationId xmlns:a16="http://schemas.microsoft.com/office/drawing/2014/main" id="{FA563EB5-166F-2C78-E31F-609E044C8411}"/>
              </a:ext>
            </a:extLst>
          </p:cNvPr>
          <p:cNvPicPr>
            <a:picLocks noChangeAspect="1"/>
          </p:cNvPicPr>
          <p:nvPr/>
        </p:nvPicPr>
        <p:blipFill>
          <a:blip r:embed="rId4"/>
          <a:stretch>
            <a:fillRect/>
          </a:stretch>
        </p:blipFill>
        <p:spPr>
          <a:xfrm>
            <a:off x="1360854" y="2181615"/>
            <a:ext cx="2693703" cy="1407159"/>
          </a:xfrm>
          <a:prstGeom prst="rect">
            <a:avLst/>
          </a:prstGeom>
        </p:spPr>
      </p:pic>
      <p:pic>
        <p:nvPicPr>
          <p:cNvPr id="7" name="Picture 6">
            <a:extLst>
              <a:ext uri="{FF2B5EF4-FFF2-40B4-BE49-F238E27FC236}">
                <a16:creationId xmlns:a16="http://schemas.microsoft.com/office/drawing/2014/main" id="{DE8823AC-509B-2411-0A9F-44FACA0267C4}"/>
              </a:ext>
            </a:extLst>
          </p:cNvPr>
          <p:cNvPicPr>
            <a:picLocks noChangeAspect="1"/>
          </p:cNvPicPr>
          <p:nvPr/>
        </p:nvPicPr>
        <p:blipFill>
          <a:blip r:embed="rId5"/>
          <a:stretch>
            <a:fillRect/>
          </a:stretch>
        </p:blipFill>
        <p:spPr>
          <a:xfrm>
            <a:off x="6096000" y="1525297"/>
            <a:ext cx="4467513" cy="3807405"/>
          </a:xfrm>
          <a:prstGeom prst="rect">
            <a:avLst/>
          </a:prstGeom>
        </p:spPr>
      </p:pic>
    </p:spTree>
    <p:extLst>
      <p:ext uri="{BB962C8B-B14F-4D97-AF65-F5344CB8AC3E}">
        <p14:creationId xmlns:p14="http://schemas.microsoft.com/office/powerpoint/2010/main" val="33876277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765683E5-EB8D-A28D-A46C-41546AFF4134}"/>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C63ACF6C-3552-F762-75F6-996BF55A95FB}"/>
              </a:ext>
            </a:extLst>
          </p:cNvPr>
          <p:cNvSpPr txBox="1">
            <a:spLocks noGrp="1"/>
          </p:cNvSpPr>
          <p:nvPr>
            <p:ph type="title"/>
          </p:nvPr>
        </p:nvSpPr>
        <p:spPr>
          <a:xfrm>
            <a:off x="603774" y="244709"/>
            <a:ext cx="5628797"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panose="02000506030000020004"/>
                <a:ea typeface="Proxima Nova" panose="02000506030000020004"/>
                <a:cs typeface="Times New Roman" panose="02020603050405020304" pitchFamily="18" charset="0"/>
                <a:sym typeface="Proxima Nova" panose="02000506030000020004"/>
              </a:rPr>
              <a:t>R2 score based comparison</a:t>
            </a:r>
            <a:endParaRPr sz="2400" b="1" dirty="0">
              <a:latin typeface="Times New Roman" panose="02020603050405020304" pitchFamily="18" charset="0"/>
              <a:ea typeface="Proxima Nova" panose="02000506030000020004"/>
              <a:cs typeface="Times New Roman" panose="02020603050405020304" pitchFamily="18" charset="0"/>
              <a:sym typeface="Proxima Nova" panose="02000506030000020004"/>
            </a:endParaRPr>
          </a:p>
        </p:txBody>
      </p:sp>
      <p:pic>
        <p:nvPicPr>
          <p:cNvPr id="5122" name="Picture 2">
            <a:extLst>
              <a:ext uri="{FF2B5EF4-FFF2-40B4-BE49-F238E27FC236}">
                <a16:creationId xmlns:a16="http://schemas.microsoft.com/office/drawing/2014/main" id="{705C82BA-45BC-ED52-5B18-E2C4FEFCDE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2326" y="1534754"/>
            <a:ext cx="6581775" cy="447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23160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667D8E01-0D9E-9ECB-D2F6-3911832D18AA}"/>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3243CE1D-CADA-09A7-0AFC-C324D24590DD}"/>
              </a:ext>
            </a:extLst>
          </p:cNvPr>
          <p:cNvSpPr txBox="1">
            <a:spLocks noGrp="1"/>
          </p:cNvSpPr>
          <p:nvPr>
            <p:ph type="title"/>
          </p:nvPr>
        </p:nvSpPr>
        <p:spPr>
          <a:xfrm>
            <a:off x="603774" y="244709"/>
            <a:ext cx="5628797"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panose="02000506030000020004"/>
                <a:ea typeface="Proxima Nova" panose="02000506030000020004"/>
                <a:cs typeface="Times New Roman" panose="02020603050405020304" pitchFamily="18" charset="0"/>
                <a:sym typeface="Proxima Nova" panose="02000506030000020004"/>
              </a:rPr>
              <a:t>Results</a:t>
            </a:r>
            <a:endParaRPr sz="2400" b="1" dirty="0">
              <a:latin typeface="Times New Roman" panose="02020603050405020304" pitchFamily="18" charset="0"/>
              <a:ea typeface="Proxima Nova" panose="02000506030000020004"/>
              <a:cs typeface="Times New Roman" panose="02020603050405020304" pitchFamily="18" charset="0"/>
              <a:sym typeface="Proxima Nova" panose="02000506030000020004"/>
            </a:endParaRPr>
          </a:p>
        </p:txBody>
      </p:sp>
      <p:sp>
        <p:nvSpPr>
          <p:cNvPr id="2" name="TextBox 1">
            <a:extLst>
              <a:ext uri="{FF2B5EF4-FFF2-40B4-BE49-F238E27FC236}">
                <a16:creationId xmlns:a16="http://schemas.microsoft.com/office/drawing/2014/main" id="{C9565D7D-E6A3-F612-129E-947079FFE655}"/>
              </a:ext>
            </a:extLst>
          </p:cNvPr>
          <p:cNvSpPr txBox="1"/>
          <p:nvPr/>
        </p:nvSpPr>
        <p:spPr>
          <a:xfrm>
            <a:off x="835740" y="1404273"/>
            <a:ext cx="5928853" cy="338554"/>
          </a:xfrm>
          <a:prstGeom prst="rect">
            <a:avLst/>
          </a:prstGeom>
          <a:noFill/>
        </p:spPr>
        <p:txBody>
          <a:bodyPr wrap="square" rtlCol="0">
            <a:spAutoFit/>
          </a:bodyPr>
          <a:lstStyle/>
          <a:p>
            <a:pPr marL="285750" indent="-285750">
              <a:buFont typeface="Arial" panose="020B0604020202020204" pitchFamily="34" charset="0"/>
              <a:buChar char="•"/>
            </a:pPr>
            <a:r>
              <a:rPr lang="en-US" sz="1600" dirty="0"/>
              <a:t>Results after applying models to balanced dataset </a:t>
            </a:r>
          </a:p>
        </p:txBody>
      </p:sp>
      <p:pic>
        <p:nvPicPr>
          <p:cNvPr id="5" name="Picture 4">
            <a:extLst>
              <a:ext uri="{FF2B5EF4-FFF2-40B4-BE49-F238E27FC236}">
                <a16:creationId xmlns:a16="http://schemas.microsoft.com/office/drawing/2014/main" id="{C3AF2BEF-E6E0-6A6B-3B76-5AE9D56C214A}"/>
              </a:ext>
            </a:extLst>
          </p:cNvPr>
          <p:cNvPicPr>
            <a:picLocks noChangeAspect="1"/>
          </p:cNvPicPr>
          <p:nvPr/>
        </p:nvPicPr>
        <p:blipFill>
          <a:blip r:embed="rId4"/>
          <a:stretch>
            <a:fillRect/>
          </a:stretch>
        </p:blipFill>
        <p:spPr>
          <a:xfrm>
            <a:off x="951506" y="1909919"/>
            <a:ext cx="4166414" cy="2396609"/>
          </a:xfrm>
          <a:prstGeom prst="rect">
            <a:avLst/>
          </a:prstGeom>
        </p:spPr>
      </p:pic>
      <p:pic>
        <p:nvPicPr>
          <p:cNvPr id="7" name="Picture 6">
            <a:extLst>
              <a:ext uri="{FF2B5EF4-FFF2-40B4-BE49-F238E27FC236}">
                <a16:creationId xmlns:a16="http://schemas.microsoft.com/office/drawing/2014/main" id="{FA48502C-6E12-8397-4021-FAE828F13B10}"/>
              </a:ext>
            </a:extLst>
          </p:cNvPr>
          <p:cNvPicPr>
            <a:picLocks noChangeAspect="1"/>
          </p:cNvPicPr>
          <p:nvPr/>
        </p:nvPicPr>
        <p:blipFill>
          <a:blip r:embed="rId5"/>
          <a:stretch>
            <a:fillRect/>
          </a:stretch>
        </p:blipFill>
        <p:spPr>
          <a:xfrm>
            <a:off x="951506" y="4306528"/>
            <a:ext cx="6165537" cy="2231925"/>
          </a:xfrm>
          <a:prstGeom prst="rect">
            <a:avLst/>
          </a:prstGeom>
        </p:spPr>
      </p:pic>
    </p:spTree>
    <p:extLst>
      <p:ext uri="{BB962C8B-B14F-4D97-AF65-F5344CB8AC3E}">
        <p14:creationId xmlns:p14="http://schemas.microsoft.com/office/powerpoint/2010/main" val="7258715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D271787C-E10E-6007-66D4-436A13E3509F}"/>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527E8282-D3CB-A54F-3569-65FC7786AB94}"/>
              </a:ext>
            </a:extLst>
          </p:cNvPr>
          <p:cNvSpPr txBox="1">
            <a:spLocks noGrp="1"/>
          </p:cNvSpPr>
          <p:nvPr>
            <p:ph type="title"/>
          </p:nvPr>
        </p:nvSpPr>
        <p:spPr>
          <a:xfrm>
            <a:off x="603774" y="244709"/>
            <a:ext cx="5628797"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panose="02000506030000020004"/>
                <a:ea typeface="Proxima Nova" panose="02000506030000020004"/>
                <a:cs typeface="Times New Roman" panose="02020603050405020304" pitchFamily="18" charset="0"/>
                <a:sym typeface="Proxima Nova" panose="02000506030000020004"/>
              </a:rPr>
              <a:t>conclusion</a:t>
            </a:r>
            <a:endParaRPr sz="2400" b="1" dirty="0">
              <a:latin typeface="Times New Roman" panose="02020603050405020304" pitchFamily="18" charset="0"/>
              <a:ea typeface="Proxima Nova" panose="02000506030000020004"/>
              <a:cs typeface="Times New Roman" panose="02020603050405020304" pitchFamily="18" charset="0"/>
              <a:sym typeface="Proxima Nova" panose="02000506030000020004"/>
            </a:endParaRPr>
          </a:p>
        </p:txBody>
      </p:sp>
      <p:sp>
        <p:nvSpPr>
          <p:cNvPr id="2" name="TextBox 1">
            <a:extLst>
              <a:ext uri="{FF2B5EF4-FFF2-40B4-BE49-F238E27FC236}">
                <a16:creationId xmlns:a16="http://schemas.microsoft.com/office/drawing/2014/main" id="{8CCE781A-F01B-9DE1-08A0-183F8C8D4C3F}"/>
              </a:ext>
            </a:extLst>
          </p:cNvPr>
          <p:cNvSpPr txBox="1"/>
          <p:nvPr/>
        </p:nvSpPr>
        <p:spPr>
          <a:xfrm>
            <a:off x="835740" y="1404273"/>
            <a:ext cx="10805654" cy="2862322"/>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t>Since the GPA column of our dataset is continuous , absence and GPA columns having strong negative correlation with value -0.92, linear regression is working fine and it is best model for our project and dataset while other two models were not performing as expected because of nature of the data so we can now use linear regression  model to predict student data.</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Now we can finally say that our model is properly configured to predict the exact outcome for specific inputs to identify which student need the academic support and for those who are already performing well, we can plan accordingly for their future enhancements </a:t>
            </a:r>
          </a:p>
        </p:txBody>
      </p:sp>
      <p:sp>
        <p:nvSpPr>
          <p:cNvPr id="4" name="TextBox 3">
            <a:extLst>
              <a:ext uri="{FF2B5EF4-FFF2-40B4-BE49-F238E27FC236}">
                <a16:creationId xmlns:a16="http://schemas.microsoft.com/office/drawing/2014/main" id="{22D92478-6742-7617-3D81-83EC3DD6D7DC}"/>
              </a:ext>
            </a:extLst>
          </p:cNvPr>
          <p:cNvSpPr txBox="1"/>
          <p:nvPr/>
        </p:nvSpPr>
        <p:spPr>
          <a:xfrm>
            <a:off x="835740" y="3985168"/>
            <a:ext cx="6096000" cy="338554"/>
          </a:xfrm>
          <a:prstGeom prst="rect">
            <a:avLst/>
          </a:prstGeom>
          <a:noFill/>
        </p:spPr>
        <p:txBody>
          <a:bodyPr wrap="square">
            <a:spAutoFit/>
          </a:bodyPr>
          <a:lstStyle/>
          <a:p>
            <a:pPr marL="285750" indent="-285750" algn="just">
              <a:buFont typeface="Arial" panose="020B0604020202020204" pitchFamily="34" charset="0"/>
              <a:buChar char="•"/>
            </a:pPr>
            <a:endParaRPr lang="en-US" sz="1600" dirty="0"/>
          </a:p>
        </p:txBody>
      </p:sp>
    </p:spTree>
    <p:extLst>
      <p:ext uri="{BB962C8B-B14F-4D97-AF65-F5344CB8AC3E}">
        <p14:creationId xmlns:p14="http://schemas.microsoft.com/office/powerpoint/2010/main" val="29973672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68D262B9-FB2D-225C-AF69-FBC06E8339AE}"/>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C77B44B2-C01E-40DC-E142-C764A788C527}"/>
              </a:ext>
            </a:extLst>
          </p:cNvPr>
          <p:cNvSpPr txBox="1">
            <a:spLocks noGrp="1"/>
          </p:cNvSpPr>
          <p:nvPr>
            <p:ph type="title"/>
          </p:nvPr>
        </p:nvSpPr>
        <p:spPr>
          <a:xfrm>
            <a:off x="603774" y="244709"/>
            <a:ext cx="5628797"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panose="02000506030000020004"/>
                <a:ea typeface="Proxima Nova" panose="02000506030000020004"/>
                <a:cs typeface="Times New Roman" panose="02020603050405020304" pitchFamily="18" charset="0"/>
                <a:sym typeface="Proxima Nova" panose="02000506030000020004"/>
              </a:rPr>
              <a:t>Future Enhancement </a:t>
            </a:r>
            <a:endParaRPr lang="en-US" sz="2400" b="1" dirty="0">
              <a:latin typeface="Times New Roman" panose="02020603050405020304" pitchFamily="18" charset="0"/>
              <a:ea typeface="Proxima Nova" panose="02000506030000020004"/>
              <a:cs typeface="Times New Roman" panose="02020603050405020304" pitchFamily="18" charset="0"/>
              <a:sym typeface="Proxima Nova" panose="02000506030000020004"/>
            </a:endParaRPr>
          </a:p>
        </p:txBody>
      </p:sp>
      <p:sp>
        <p:nvSpPr>
          <p:cNvPr id="2" name="TextBox 1">
            <a:extLst>
              <a:ext uri="{FF2B5EF4-FFF2-40B4-BE49-F238E27FC236}">
                <a16:creationId xmlns:a16="http://schemas.microsoft.com/office/drawing/2014/main" id="{0D6167D9-A25B-9C3F-F4CD-92F28B102089}"/>
              </a:ext>
            </a:extLst>
          </p:cNvPr>
          <p:cNvSpPr txBox="1"/>
          <p:nvPr/>
        </p:nvSpPr>
        <p:spPr>
          <a:xfrm>
            <a:off x="835740" y="1404273"/>
            <a:ext cx="10805654" cy="3170099"/>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t>For Future enhancement we can do as follows -:</a:t>
            </a:r>
          </a:p>
          <a:p>
            <a:pPr marL="285750" indent="-285750" algn="just">
              <a:buFont typeface="Arial" panose="020B0604020202020204" pitchFamily="34" charset="0"/>
              <a:buChar char="•"/>
            </a:pPr>
            <a:endParaRPr lang="en-US" sz="2000" dirty="0"/>
          </a:p>
          <a:p>
            <a:pPr marL="342900" indent="-342900" algn="just">
              <a:buFont typeface="Wingdings" panose="05000000000000000000" pitchFamily="2" charset="2"/>
              <a:buChar char="Ø"/>
            </a:pPr>
            <a:r>
              <a:rPr lang="en-US" sz="2000" dirty="0"/>
              <a:t>Deploy model in web </a:t>
            </a:r>
          </a:p>
          <a:p>
            <a:pPr marL="285750" lvl="2" indent="-285750" algn="just">
              <a:buFont typeface="Arial" panose="020B0604020202020204" pitchFamily="34" charset="0"/>
              <a:buChar char="•"/>
            </a:pPr>
            <a:endParaRPr lang="en-US" sz="2000" dirty="0"/>
          </a:p>
          <a:p>
            <a:pPr marL="457200" lvl="3" indent="-457200" algn="just">
              <a:buFont typeface="+mj-lt"/>
              <a:buAutoNum type="arabicPeriod"/>
            </a:pPr>
            <a:r>
              <a:rPr lang="en-US" sz="2000" dirty="0"/>
              <a:t>We can add container for users to input values according to our dataset and then the model will predict and display the output in the same container.</a:t>
            </a:r>
          </a:p>
          <a:p>
            <a:pPr marL="457200" lvl="3" indent="-457200" algn="just">
              <a:buFont typeface="+mj-lt"/>
              <a:buAutoNum type="arabicPeriod"/>
            </a:pPr>
            <a:endParaRPr lang="en-US" sz="2000" dirty="0"/>
          </a:p>
          <a:p>
            <a:pPr marL="457200" lvl="3" indent="-457200" algn="just">
              <a:buFont typeface="+mj-lt"/>
              <a:buAutoNum type="arabicPeriod"/>
            </a:pPr>
            <a:r>
              <a:rPr lang="en-US" sz="2000" dirty="0"/>
              <a:t>Take .csv or .xlsx file as input and generate the prediction report in output </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endParaRPr lang="en-US" sz="2000" dirty="0"/>
          </a:p>
        </p:txBody>
      </p:sp>
      <p:sp>
        <p:nvSpPr>
          <p:cNvPr id="4" name="TextBox 3">
            <a:extLst>
              <a:ext uri="{FF2B5EF4-FFF2-40B4-BE49-F238E27FC236}">
                <a16:creationId xmlns:a16="http://schemas.microsoft.com/office/drawing/2014/main" id="{AE19AA5D-6E35-B778-4C16-E8EB4AD74495}"/>
              </a:ext>
            </a:extLst>
          </p:cNvPr>
          <p:cNvSpPr txBox="1"/>
          <p:nvPr/>
        </p:nvSpPr>
        <p:spPr>
          <a:xfrm>
            <a:off x="835740" y="3985168"/>
            <a:ext cx="6096000" cy="338554"/>
          </a:xfrm>
          <a:prstGeom prst="rect">
            <a:avLst/>
          </a:prstGeom>
          <a:noFill/>
        </p:spPr>
        <p:txBody>
          <a:bodyPr wrap="square">
            <a:spAutoFit/>
          </a:bodyPr>
          <a:lstStyle/>
          <a:p>
            <a:pPr marL="285750" indent="-285750" algn="just">
              <a:buFont typeface="Arial" panose="020B0604020202020204" pitchFamily="34" charset="0"/>
              <a:buChar char="•"/>
            </a:pPr>
            <a:endParaRPr lang="en-US" sz="1600" dirty="0"/>
          </a:p>
        </p:txBody>
      </p:sp>
    </p:spTree>
    <p:extLst>
      <p:ext uri="{BB962C8B-B14F-4D97-AF65-F5344CB8AC3E}">
        <p14:creationId xmlns:p14="http://schemas.microsoft.com/office/powerpoint/2010/main" val="311655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References</a:t>
            </a:r>
            <a:endParaRPr sz="2400" b="1" dirty="0">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646113" y="1124744"/>
            <a:ext cx="10582326" cy="5786169"/>
          </a:xfrm>
          <a:prstGeom prst="rect">
            <a:avLst/>
          </a:prstGeom>
          <a:noFill/>
          <a:ln>
            <a:noFill/>
          </a:ln>
        </p:spPr>
        <p:txBody>
          <a:bodyPr spcFirstLastPara="1" wrap="square" lIns="91425" tIns="91425" rIns="91425" bIns="91425" anchor="t" anchorCtr="0">
            <a:spAutoFit/>
          </a:bodyPr>
          <a:lstStyle/>
          <a:p>
            <a:pPr lvl="0">
              <a:buSzPts val="1700"/>
            </a:pPr>
            <a:r>
              <a:rPr lang="en-US" dirty="0">
                <a:hlinkClick r:id="rId4" action="ppaction://hlinksldjump"/>
              </a:rPr>
              <a:t>[1] </a:t>
            </a:r>
            <a:r>
              <a:rPr lang="en-US" dirty="0"/>
              <a:t>X. Zhu, “Prediction and Analysis of University Student Performance Based on Machine Learning,” *Academic Journal of Computing &amp; Information Science*, vol. 7, no. 8, pp. 74–78, 2024. [Online]. Available: </a:t>
            </a:r>
            <a:r>
              <a:rPr lang="en-US" dirty="0">
                <a:hlinkClick r:id="rId5"/>
              </a:rPr>
              <a:t>https://www.francis-press.com/index.php/papers/16850</a:t>
            </a:r>
            <a:r>
              <a:rPr lang="en-US" dirty="0"/>
              <a:t> :</a:t>
            </a:r>
            <a:r>
              <a:rPr lang="en-US" dirty="0" err="1"/>
              <a:t>contentReference</a:t>
            </a:r>
            <a:r>
              <a:rPr lang="en-US" dirty="0"/>
              <a:t>[oaicite:0]{index=0}</a:t>
            </a:r>
          </a:p>
          <a:p>
            <a:pPr lvl="0">
              <a:buSzPts val="1700"/>
            </a:pPr>
            <a:endParaRPr lang="en-US" dirty="0"/>
          </a:p>
          <a:p>
            <a:pPr lvl="0">
              <a:buSzPts val="1700"/>
            </a:pPr>
            <a:r>
              <a:rPr lang="en-US" dirty="0">
                <a:hlinkClick r:id="rId4" action="ppaction://hlinksldjump"/>
              </a:rPr>
              <a:t>[2] </a:t>
            </a:r>
            <a:r>
              <a:rPr lang="en-US" dirty="0"/>
              <a:t>V. Vijayalakshmi and K. </a:t>
            </a:r>
            <a:r>
              <a:rPr lang="en-US" dirty="0" err="1"/>
              <a:t>Venkatachalapathy</a:t>
            </a:r>
            <a:r>
              <a:rPr lang="en-US" dirty="0"/>
              <a:t>, “Comparison of Predicting Student’s Performance using Machine Learning Algorithms,” *Int. J. </a:t>
            </a:r>
            <a:r>
              <a:rPr lang="en-US" dirty="0" err="1"/>
              <a:t>Innov</a:t>
            </a:r>
            <a:r>
              <a:rPr lang="en-US" dirty="0"/>
              <a:t>. Sci. Adv. Technol.*, vol. 11, no. 12, pp. (if available), 2019. [Online]. Available: </a:t>
            </a:r>
            <a:r>
              <a:rPr lang="en-US" dirty="0">
                <a:hlinkClick r:id="rId6"/>
              </a:rPr>
              <a:t>https://www.mecs-press.org/ijisa/ijisa-v11-n12/v11n12-4.html</a:t>
            </a:r>
            <a:endParaRPr lang="en-US" dirty="0"/>
          </a:p>
          <a:p>
            <a:pPr lvl="0">
              <a:buSzPts val="1700"/>
            </a:pPr>
            <a:endParaRPr lang="en-US" dirty="0"/>
          </a:p>
          <a:p>
            <a:pPr lvl="0">
              <a:buSzPts val="1700"/>
            </a:pPr>
            <a:r>
              <a:rPr lang="en-US" dirty="0">
                <a:hlinkClick r:id="rId4" action="ppaction://hlinksldjump"/>
              </a:rPr>
              <a:t>[3] </a:t>
            </a:r>
            <a:r>
              <a:rPr lang="en-US" dirty="0"/>
              <a:t>E. A. </a:t>
            </a:r>
            <a:r>
              <a:rPr lang="en-US" dirty="0" err="1"/>
              <a:t>Yekun</a:t>
            </a:r>
            <a:r>
              <a:rPr lang="en-US" dirty="0"/>
              <a:t> and A. Teklay, “Student Performance Prediction with Optimum Multilabel Ensemble Model,” *</a:t>
            </a:r>
            <a:r>
              <a:rPr lang="en-US" dirty="0" err="1"/>
              <a:t>arXiv</a:t>
            </a:r>
            <a:r>
              <a:rPr lang="en-US" dirty="0"/>
              <a:t>*, 2019. [Online]. Available: </a:t>
            </a:r>
            <a:r>
              <a:rPr lang="en-US" dirty="0">
                <a:hlinkClick r:id="rId7"/>
              </a:rPr>
              <a:t>https://arxiv.org/abs/1909.07444</a:t>
            </a:r>
            <a:endParaRPr lang="en-US" dirty="0"/>
          </a:p>
          <a:p>
            <a:pPr lvl="0">
              <a:buSzPts val="1700"/>
            </a:pPr>
            <a:endParaRPr lang="en-US" dirty="0"/>
          </a:p>
          <a:p>
            <a:pPr lvl="0">
              <a:buSzPts val="1700"/>
            </a:pPr>
            <a:r>
              <a:rPr lang="en-US" dirty="0">
                <a:hlinkClick r:id="rId4" action="ppaction://hlinksldjump"/>
              </a:rPr>
              <a:t>[4] </a:t>
            </a:r>
            <a:r>
              <a:rPr lang="en-US" dirty="0"/>
              <a:t>S. Sukanya and D. William Albert, “A Novel Approach to Predict Students Performance through Machine Learning,” *Int. J. Eng. Technol. Manag. Sci.*, vol. 7, no. 5, pp. (if available), 2023. [Online]. Available: </a:t>
            </a:r>
            <a:r>
              <a:rPr lang="en-US" dirty="0">
                <a:hlinkClick r:id="rId8"/>
              </a:rPr>
              <a:t>https://ijetms.in/Vol-7-issue-5/Vol-7-Issue-5-32.html</a:t>
            </a:r>
            <a:endParaRPr lang="en-US" dirty="0"/>
          </a:p>
          <a:p>
            <a:pPr lvl="0">
              <a:buSzPts val="1700"/>
            </a:pPr>
            <a:endParaRPr lang="en-US" dirty="0"/>
          </a:p>
          <a:p>
            <a:pPr lvl="0">
              <a:buSzPts val="1700"/>
            </a:pPr>
            <a:r>
              <a:rPr lang="en-US" dirty="0">
                <a:hlinkClick r:id="rId4" action="ppaction://hlinksldjump"/>
              </a:rPr>
              <a:t>[5] </a:t>
            </a:r>
            <a:r>
              <a:rPr lang="en-US" dirty="0"/>
              <a:t>S. Lyu, “Student’s Academic Performance Prediction Based on Machine Learning Regression Models,” in *Proc. 2023 Int. Conf. on Image, Algorithms and Artificial Intelligence (ICIAAI 2023)*, Advances in Computer Science Research, Atlantis Press, pp. 293–299, 2023. </a:t>
            </a:r>
            <a:r>
              <a:rPr lang="en-US" dirty="0" err="1"/>
              <a:t>doi</a:t>
            </a:r>
            <a:r>
              <a:rPr lang="en-US" dirty="0"/>
              <a:t>: 10.2991/978-94-6463-300-9_29. [Online]. Available: </a:t>
            </a:r>
            <a:r>
              <a:rPr lang="en-US" dirty="0">
                <a:hlinkClick r:id="rId9"/>
              </a:rPr>
              <a:t>https://www.atlantis-press.com/proceedings/iciaai-23/125994553</a:t>
            </a:r>
            <a:r>
              <a:rPr lang="en-US" dirty="0"/>
              <a:t> :</a:t>
            </a:r>
            <a:r>
              <a:rPr lang="en-US" dirty="0" err="1"/>
              <a:t>contentReference</a:t>
            </a:r>
            <a:r>
              <a:rPr lang="en-US" dirty="0"/>
              <a:t>[oaicite:1]{index=1}</a:t>
            </a:r>
          </a:p>
          <a:p>
            <a:pPr lvl="0">
              <a:buSzPts val="1700"/>
            </a:pPr>
            <a:endParaRPr lang="en-US" dirty="0"/>
          </a:p>
          <a:p>
            <a:pPr lvl="0">
              <a:buSzPts val="1700"/>
            </a:pPr>
            <a:r>
              <a:rPr lang="en-US" dirty="0">
                <a:hlinkClick r:id="rId10" action="ppaction://hlinksldjump"/>
              </a:rPr>
              <a:t>[6] </a:t>
            </a:r>
            <a:r>
              <a:rPr lang="en-US" dirty="0"/>
              <a:t>A. Cortez and A. M. Silva, “Using Data Mining to Predict Secondary School Student Performance,” UCI Machine Learning Repository (Dataset). [Online]. Available: </a:t>
            </a:r>
            <a:r>
              <a:rPr lang="en-US" dirty="0">
                <a:hlinkClick r:id="rId11"/>
              </a:rPr>
              <a:t>https://archive.ics.uci.edu/ml/datasets/student+performance</a:t>
            </a:r>
            <a:endParaRPr lang="en-US" dirty="0"/>
          </a:p>
          <a:p>
            <a:pPr lvl="0">
              <a:buSzPts val="1700"/>
            </a:pPr>
            <a:endParaRPr lang="en-US" dirty="0"/>
          </a:p>
          <a:p>
            <a:pPr lvl="0">
              <a:buSzPts val="1700"/>
            </a:pPr>
            <a:r>
              <a:rPr lang="en-US" dirty="0">
                <a:hlinkClick r:id="rId10" action="ppaction://hlinksldjump"/>
              </a:rPr>
              <a:t>[7] </a:t>
            </a:r>
            <a:r>
              <a:rPr lang="en-US" dirty="0"/>
              <a:t>C. Romero and S. Ventura, “Educational Data Mining: A Review of the State of the Art,” *Computers &amp; Education*, vol. 53, no. 3, pp. 601–618, 2010. [Online]. Available: </a:t>
            </a:r>
            <a:r>
              <a:rPr lang="en-US" dirty="0">
                <a:hlinkClick r:id="rId12"/>
              </a:rPr>
              <a:t>https://www.sciencedirect.com/science/article/pii/S0360131509002688</a:t>
            </a:r>
            <a:endParaRPr lang="en-US" dirty="0"/>
          </a:p>
          <a:p>
            <a:pPr lvl="0">
              <a:buSzPts val="1700"/>
            </a:pP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FBF53202-1779-035A-A371-1B33FCB11305}"/>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AE912595-3B48-8100-DFF4-7914A1D65C39}"/>
              </a:ext>
            </a:extLst>
          </p:cNvPr>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References</a:t>
            </a:r>
            <a:endParaRPr sz="2400" b="1" dirty="0">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a:extLst>
              <a:ext uri="{FF2B5EF4-FFF2-40B4-BE49-F238E27FC236}">
                <a16:creationId xmlns:a16="http://schemas.microsoft.com/office/drawing/2014/main" id="{11097256-DA8A-F796-3777-61C7BC7D272E}"/>
              </a:ext>
            </a:extLst>
          </p:cNvPr>
          <p:cNvSpPr txBox="1"/>
          <p:nvPr/>
        </p:nvSpPr>
        <p:spPr>
          <a:xfrm>
            <a:off x="646113" y="1124744"/>
            <a:ext cx="10582326" cy="2123628"/>
          </a:xfrm>
          <a:prstGeom prst="rect">
            <a:avLst/>
          </a:prstGeom>
          <a:noFill/>
          <a:ln>
            <a:noFill/>
          </a:ln>
        </p:spPr>
        <p:txBody>
          <a:bodyPr spcFirstLastPara="1" wrap="square" lIns="91425" tIns="91425" rIns="91425" bIns="91425" anchor="t" anchorCtr="0">
            <a:spAutoFit/>
          </a:bodyPr>
          <a:lstStyle/>
          <a:p>
            <a:pPr lvl="0">
              <a:buSzPts val="1700"/>
            </a:pPr>
            <a:r>
              <a:rPr lang="en-US" dirty="0">
                <a:hlinkClick r:id="rId4" action="ppaction://hlinksldjump"/>
              </a:rPr>
              <a:t>[8] </a:t>
            </a:r>
            <a:r>
              <a:rPr lang="en-US" dirty="0"/>
              <a:t>U. K. Pandey and S. Pal, “A Data Mining View on Classroom Teaching Language,” in *Proc. IEEE Int. Conf. on Education and e-Learning Innovations*, 2011. [Online]. Available: </a:t>
            </a:r>
            <a:r>
              <a:rPr lang="en-US" dirty="0">
                <a:hlinkClick r:id="rId5"/>
              </a:rPr>
              <a:t>https://ieeexplore.ieee.org/document/5942358</a:t>
            </a:r>
            <a:endParaRPr lang="en-US" dirty="0"/>
          </a:p>
          <a:p>
            <a:pPr lvl="0">
              <a:buSzPts val="1700"/>
            </a:pPr>
            <a:endParaRPr lang="en-US" dirty="0"/>
          </a:p>
          <a:p>
            <a:pPr lvl="0">
              <a:buSzPts val="1700"/>
            </a:pPr>
            <a:r>
              <a:rPr lang="en-US" dirty="0">
                <a:hlinkClick r:id="rId4" action="ppaction://hlinksldjump"/>
              </a:rPr>
              <a:t>[9] </a:t>
            </a:r>
            <a:r>
              <a:rPr lang="en-US" dirty="0"/>
              <a:t>M. Hussain, W. Zhu, W. Zhang, and S. Abidi, “Student Academic Performance Prediction Using Supervised Machine Learning,” *Applied Computing and Informatics*, vol. 14, no. 1, pp. 27–36, 2018. [Online]. Available: </a:t>
            </a:r>
            <a:r>
              <a:rPr lang="en-US" dirty="0">
                <a:hlinkClick r:id="rId6"/>
              </a:rPr>
              <a:t>https://doi.org/10.1016/j.aci.2018.05.001</a:t>
            </a:r>
            <a:endParaRPr lang="en-US" dirty="0"/>
          </a:p>
          <a:p>
            <a:pPr lvl="0">
              <a:buSzPts val="1700"/>
            </a:pPr>
            <a:endParaRPr lang="en-US" dirty="0"/>
          </a:p>
          <a:p>
            <a:pPr lvl="0">
              <a:buSzPts val="1700"/>
            </a:pPr>
            <a:r>
              <a:rPr lang="en-US" dirty="0">
                <a:hlinkClick r:id="rId4" action="ppaction://hlinksldjump"/>
              </a:rPr>
              <a:t>[10] </a:t>
            </a:r>
            <a:r>
              <a:rPr lang="en-US" dirty="0"/>
              <a:t>A. Abu Saa, “Educational Data Mining &amp; Students Performance Prediction,” 2016. [Online]. Available: </a:t>
            </a:r>
            <a:r>
              <a:rPr lang="en-US" dirty="0">
                <a:hlinkClick r:id="rId7"/>
              </a:rPr>
              <a:t>https://www.researchgate.net/publication/307987164</a:t>
            </a:r>
            <a:endParaRPr lang="en-US"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SzPts val="1700"/>
              <a:buFont typeface="Arial" panose="020B0604020202020204"/>
              <a:buChar char="•"/>
            </a:pPr>
            <a:endParaRPr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337925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106" name="Google Shape;106;p4"/>
          <p:cNvSpPr txBox="1"/>
          <p:nvPr/>
        </p:nvSpPr>
        <p:spPr>
          <a:xfrm>
            <a:off x="4595812" y="2967350"/>
            <a:ext cx="3000375" cy="923299"/>
          </a:xfrm>
          <a:prstGeom prst="rect">
            <a:avLst/>
          </a:prstGeom>
          <a:noFill/>
          <a:ln>
            <a:noFill/>
          </a:ln>
        </p:spPr>
        <p:txBody>
          <a:bodyPr spcFirstLastPara="1" wrap="square" lIns="91425" tIns="91425" rIns="91425" bIns="91425" anchor="t" anchorCtr="0">
            <a:spAutoFit/>
          </a:bodyPr>
          <a:lstStyle/>
          <a:p>
            <a:pPr marR="0" lvl="0" algn="ctr" rtl="0">
              <a:spcBef>
                <a:spcPts val="0"/>
              </a:spcBef>
              <a:spcAft>
                <a:spcPts val="0"/>
              </a:spcAft>
              <a:buClr>
                <a:srgbClr val="000000"/>
              </a:buClr>
              <a:buSzPts val="1700"/>
            </a:pPr>
            <a:r>
              <a:rPr lang="en-IN" sz="4800" b="1" dirty="0">
                <a:solidFill>
                  <a:schemeClr val="tx1"/>
                </a:solidFill>
              </a:rPr>
              <a:t>Q&amp;A</a:t>
            </a:r>
            <a:endParaRPr sz="4800" b="1" dirty="0">
              <a:solidFill>
                <a:schemeClr val="tx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10"/>
        <p:cNvGrpSpPr/>
        <p:nvPr/>
      </p:nvGrpSpPr>
      <p:grpSpPr>
        <a:xfrm>
          <a:off x="0" y="0"/>
          <a:ext cx="0" cy="0"/>
          <a:chOff x="0" y="0"/>
          <a:chExt cx="0" cy="0"/>
        </a:xfrm>
      </p:grpSpPr>
      <p:sp>
        <p:nvSpPr>
          <p:cNvPr id="2" name="Title 1">
            <a:extLst>
              <a:ext uri="{FF2B5EF4-FFF2-40B4-BE49-F238E27FC236}">
                <a16:creationId xmlns:a16="http://schemas.microsoft.com/office/drawing/2014/main" id="{46158913-5DF4-42DB-3FEC-4239CDA8FD58}"/>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F2608246-C0CF-B444-7546-61871F31D292}"/>
              </a:ext>
            </a:extLst>
          </p:cNvPr>
          <p:cNvSpPr>
            <a:spLocks noGrp="1"/>
          </p:cNvSpPr>
          <p:nvPr>
            <p:ph type="body" idx="1"/>
          </p:nvPr>
        </p:nvSpPr>
        <p:spPr/>
        <p:txBody>
          <a:bodyPr/>
          <a:lstStyle/>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447</TotalTime>
  <Words>2376</Words>
  <Application>Microsoft Office PowerPoint</Application>
  <PresentationFormat>Widescreen</PresentationFormat>
  <Paragraphs>496</Paragraphs>
  <Slides>42</Slides>
  <Notes>42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Proxima Nova</vt:lpstr>
      <vt:lpstr>Times New Roman</vt:lpstr>
      <vt:lpstr>Wingdings</vt:lpstr>
      <vt:lpstr>Calibri</vt:lpstr>
      <vt:lpstr>Office Theme</vt:lpstr>
      <vt:lpstr>PowerPoint Presentation</vt:lpstr>
      <vt:lpstr>PowerPoint Presentation</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EDA</vt:lpstr>
      <vt:lpstr>PowerPoint Presentation</vt:lpstr>
      <vt:lpstr>Distribution of GPA and GradeClass</vt:lpstr>
      <vt:lpstr>Study Time VS  GPA and GradeClass</vt:lpstr>
      <vt:lpstr>Absences VS  GPA and GradeClass</vt:lpstr>
      <vt:lpstr>Sports Participation VS  GPA and GradeClass</vt:lpstr>
      <vt:lpstr>Extracurricular activities VS  GPA and GradeClass</vt:lpstr>
      <vt:lpstr>Tutoring VS  GPA and GradeClass</vt:lpstr>
      <vt:lpstr>Parental Support  VS  GPA and GradeClass</vt:lpstr>
      <vt:lpstr>PowerPoint Presentation</vt:lpstr>
      <vt:lpstr>PowerPoint Presentation</vt:lpstr>
      <vt:lpstr>Review 1 Complete </vt:lpstr>
      <vt:lpstr>Comments of review 1</vt:lpstr>
      <vt:lpstr>Review 2</vt:lpstr>
      <vt:lpstr>Method used for balancing dataset</vt:lpstr>
      <vt:lpstr>Method used for balancing dataset</vt:lpstr>
      <vt:lpstr>Method used for balancing dataset</vt:lpstr>
      <vt:lpstr>Balanced dataset</vt:lpstr>
      <vt:lpstr>Distribution </vt:lpstr>
      <vt:lpstr>Distribution </vt:lpstr>
      <vt:lpstr>R2 score based comparison</vt:lpstr>
      <vt:lpstr>Results</vt:lpstr>
      <vt:lpstr>conclusion</vt:lpstr>
      <vt:lpstr>Future Enhancement </vt:lpstr>
      <vt:lpstr>References</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Harsh Vadgama</cp:lastModifiedBy>
  <cp:revision>46</cp:revision>
  <dcterms:created xsi:type="dcterms:W3CDTF">2023-12-05T07:58:00Z</dcterms:created>
  <dcterms:modified xsi:type="dcterms:W3CDTF">2026-04-11T05:29:52Z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2024-01-10T05:57:01Z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bdeac77a-6f2d-4eed-8d0b-c87a56de673f</vt:lpwstr>
  </property>
  <property fmtid="{D5CDD505-2E9C-101B-9397-08002B2CF9AE}" pid="7" name="MSIP_Label_defa4170-0d19-0005-0004-bc88714345d2_ActionId">
    <vt:lpwstr>2a20089b-7995-43de-aaf1-a4eb65220026</vt:lpwstr>
  </property>
  <property fmtid="{D5CDD505-2E9C-101B-9397-08002B2CF9AE}" pid="8" name="MSIP_Label_defa4170-0d19-0005-0004-bc88714345d2_ContentBits">
    <vt:lpwstr>0</vt:lpwstr>
  </property>
  <property fmtid="{D5CDD505-2E9C-101B-9397-08002B2CF9AE}" pid="9" name="ICV">
    <vt:lpwstr>64191B4E558B4A0A9654A2ABC4C501E4_12</vt:lpwstr>
  </property>
  <property fmtid="{D5CDD505-2E9C-101B-9397-08002B2CF9AE}" pid="10" name="KSOProductBuildVer">
    <vt:lpwstr>1033-12.2.0.23196</vt:lpwstr>
  </property>
</Properties>
</file>